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457200" cy="320040"/>
          </a:xfrm>
          <a:prstGeom prst="rect">
            <a:avLst/>
          </a:prstGeom>
          <a:solidFill>
            <a:srgbClr val="F7C600"/>
          </a:solidFill>
          <a:ln w="12700">
            <a:solidFill>
              <a:srgbClr val="F7C600"/>
            </a:solidFill>
            <a:prstDash val="solid"/>
          </a:ln>
        </p:spPr>
      </p:sp>
      <p:sp>
        <p:nvSpPr>
          <p:cNvPr id="3" name="Shape 1"/>
          <p:cNvSpPr/>
          <p:nvPr/>
        </p:nvSpPr>
        <p:spPr>
          <a:xfrm>
            <a:off x="457200" y="0"/>
            <a:ext cx="457200" cy="320040"/>
          </a:xfrm>
          <a:prstGeom prst="rect">
            <a:avLst/>
          </a:prstGeom>
          <a:solidFill>
            <a:srgbClr val="1A1A1A"/>
          </a:solidFill>
          <a:ln w="12700">
            <a:solidFill>
              <a:srgbClr val="1A1A1A"/>
            </a:solidFill>
            <a:prstDash val="solid"/>
          </a:ln>
        </p:spPr>
      </p:sp>
      <p:sp>
        <p:nvSpPr>
          <p:cNvPr id="4" name="Shape 2"/>
          <p:cNvSpPr/>
          <p:nvPr/>
        </p:nvSpPr>
        <p:spPr>
          <a:xfrm>
            <a:off x="914400" y="0"/>
            <a:ext cx="457200" cy="320040"/>
          </a:xfrm>
          <a:prstGeom prst="rect">
            <a:avLst/>
          </a:prstGeom>
          <a:solidFill>
            <a:srgbClr val="F7C600"/>
          </a:solidFill>
          <a:ln w="12700">
            <a:solidFill>
              <a:srgbClr val="F7C600"/>
            </a:solidFill>
            <a:prstDash val="solid"/>
          </a:ln>
        </p:spPr>
      </p:sp>
      <p:sp>
        <p:nvSpPr>
          <p:cNvPr id="5" name="Shape 3"/>
          <p:cNvSpPr/>
          <p:nvPr/>
        </p:nvSpPr>
        <p:spPr>
          <a:xfrm>
            <a:off x="1371600" y="0"/>
            <a:ext cx="457200" cy="320040"/>
          </a:xfrm>
          <a:prstGeom prst="rect">
            <a:avLst/>
          </a:prstGeom>
          <a:solidFill>
            <a:srgbClr val="1A1A1A"/>
          </a:solidFill>
          <a:ln w="12700">
            <a:solidFill>
              <a:srgbClr val="1A1A1A"/>
            </a:solidFill>
            <a:prstDash val="solid"/>
          </a:ln>
        </p:spPr>
      </p:sp>
      <p:sp>
        <p:nvSpPr>
          <p:cNvPr id="6" name="Shape 4"/>
          <p:cNvSpPr/>
          <p:nvPr/>
        </p:nvSpPr>
        <p:spPr>
          <a:xfrm>
            <a:off x="1828800" y="0"/>
            <a:ext cx="457200" cy="320040"/>
          </a:xfrm>
          <a:prstGeom prst="rect">
            <a:avLst/>
          </a:prstGeom>
          <a:solidFill>
            <a:srgbClr val="F7C600"/>
          </a:solidFill>
          <a:ln w="12700">
            <a:solidFill>
              <a:srgbClr val="F7C600"/>
            </a:solidFill>
            <a:prstDash val="solid"/>
          </a:ln>
        </p:spPr>
      </p:sp>
      <p:sp>
        <p:nvSpPr>
          <p:cNvPr id="7" name="Shape 5"/>
          <p:cNvSpPr/>
          <p:nvPr/>
        </p:nvSpPr>
        <p:spPr>
          <a:xfrm>
            <a:off x="2286000" y="0"/>
            <a:ext cx="457200" cy="320040"/>
          </a:xfrm>
          <a:prstGeom prst="rect">
            <a:avLst/>
          </a:prstGeom>
          <a:solidFill>
            <a:srgbClr val="1A1A1A"/>
          </a:solidFill>
          <a:ln w="12700">
            <a:solidFill>
              <a:srgbClr val="1A1A1A"/>
            </a:solidFill>
            <a:prstDash val="solid"/>
          </a:ln>
        </p:spPr>
      </p:sp>
      <p:sp>
        <p:nvSpPr>
          <p:cNvPr id="8" name="Shape 6"/>
          <p:cNvSpPr/>
          <p:nvPr/>
        </p:nvSpPr>
        <p:spPr>
          <a:xfrm>
            <a:off x="2743200" y="0"/>
            <a:ext cx="457200" cy="320040"/>
          </a:xfrm>
          <a:prstGeom prst="rect">
            <a:avLst/>
          </a:prstGeom>
          <a:solidFill>
            <a:srgbClr val="F7C600"/>
          </a:solidFill>
          <a:ln w="12700">
            <a:solidFill>
              <a:srgbClr val="F7C600"/>
            </a:solidFill>
            <a:prstDash val="solid"/>
          </a:ln>
        </p:spPr>
      </p:sp>
      <p:sp>
        <p:nvSpPr>
          <p:cNvPr id="9" name="Shape 7"/>
          <p:cNvSpPr/>
          <p:nvPr/>
        </p:nvSpPr>
        <p:spPr>
          <a:xfrm>
            <a:off x="3200400" y="0"/>
            <a:ext cx="457200" cy="320040"/>
          </a:xfrm>
          <a:prstGeom prst="rect">
            <a:avLst/>
          </a:prstGeom>
          <a:solidFill>
            <a:srgbClr val="1A1A1A"/>
          </a:solidFill>
          <a:ln w="12700">
            <a:solidFill>
              <a:srgbClr val="1A1A1A"/>
            </a:solidFill>
            <a:prstDash val="solid"/>
          </a:ln>
        </p:spPr>
      </p:sp>
      <p:sp>
        <p:nvSpPr>
          <p:cNvPr id="10" name="Shape 8"/>
          <p:cNvSpPr/>
          <p:nvPr/>
        </p:nvSpPr>
        <p:spPr>
          <a:xfrm>
            <a:off x="3657600" y="0"/>
            <a:ext cx="457200" cy="320040"/>
          </a:xfrm>
          <a:prstGeom prst="rect">
            <a:avLst/>
          </a:prstGeom>
          <a:solidFill>
            <a:srgbClr val="F7C600"/>
          </a:solidFill>
          <a:ln w="12700">
            <a:solidFill>
              <a:srgbClr val="F7C600"/>
            </a:solidFill>
            <a:prstDash val="solid"/>
          </a:ln>
        </p:spPr>
      </p:sp>
      <p:sp>
        <p:nvSpPr>
          <p:cNvPr id="11" name="Shape 9"/>
          <p:cNvSpPr/>
          <p:nvPr/>
        </p:nvSpPr>
        <p:spPr>
          <a:xfrm>
            <a:off x="4114800" y="0"/>
            <a:ext cx="457200" cy="320040"/>
          </a:xfrm>
          <a:prstGeom prst="rect">
            <a:avLst/>
          </a:prstGeom>
          <a:solidFill>
            <a:srgbClr val="1A1A1A"/>
          </a:solidFill>
          <a:ln w="12700">
            <a:solidFill>
              <a:srgbClr val="1A1A1A"/>
            </a:solidFill>
            <a:prstDash val="solid"/>
          </a:ln>
        </p:spPr>
      </p:sp>
      <p:sp>
        <p:nvSpPr>
          <p:cNvPr id="12" name="Shape 10"/>
          <p:cNvSpPr/>
          <p:nvPr/>
        </p:nvSpPr>
        <p:spPr>
          <a:xfrm>
            <a:off x="4572000" y="0"/>
            <a:ext cx="457200" cy="320040"/>
          </a:xfrm>
          <a:prstGeom prst="rect">
            <a:avLst/>
          </a:prstGeom>
          <a:solidFill>
            <a:srgbClr val="F7C600"/>
          </a:solidFill>
          <a:ln w="12700">
            <a:solidFill>
              <a:srgbClr val="F7C600"/>
            </a:solidFill>
            <a:prstDash val="solid"/>
          </a:ln>
        </p:spPr>
      </p:sp>
      <p:sp>
        <p:nvSpPr>
          <p:cNvPr id="13" name="Shape 11"/>
          <p:cNvSpPr/>
          <p:nvPr/>
        </p:nvSpPr>
        <p:spPr>
          <a:xfrm>
            <a:off x="5029200" y="0"/>
            <a:ext cx="457200" cy="320040"/>
          </a:xfrm>
          <a:prstGeom prst="rect">
            <a:avLst/>
          </a:prstGeom>
          <a:solidFill>
            <a:srgbClr val="1A1A1A"/>
          </a:solidFill>
          <a:ln w="12700">
            <a:solidFill>
              <a:srgbClr val="1A1A1A"/>
            </a:solidFill>
            <a:prstDash val="solid"/>
          </a:ln>
        </p:spPr>
      </p:sp>
      <p:sp>
        <p:nvSpPr>
          <p:cNvPr id="14" name="Shape 12"/>
          <p:cNvSpPr/>
          <p:nvPr/>
        </p:nvSpPr>
        <p:spPr>
          <a:xfrm>
            <a:off x="5486400" y="0"/>
            <a:ext cx="457200" cy="320040"/>
          </a:xfrm>
          <a:prstGeom prst="rect">
            <a:avLst/>
          </a:prstGeom>
          <a:solidFill>
            <a:srgbClr val="F7C600"/>
          </a:solidFill>
          <a:ln w="12700">
            <a:solidFill>
              <a:srgbClr val="F7C600"/>
            </a:solidFill>
            <a:prstDash val="solid"/>
          </a:ln>
        </p:spPr>
      </p:sp>
      <p:sp>
        <p:nvSpPr>
          <p:cNvPr id="15" name="Shape 13"/>
          <p:cNvSpPr/>
          <p:nvPr/>
        </p:nvSpPr>
        <p:spPr>
          <a:xfrm>
            <a:off x="5943600" y="0"/>
            <a:ext cx="457200" cy="320040"/>
          </a:xfrm>
          <a:prstGeom prst="rect">
            <a:avLst/>
          </a:prstGeom>
          <a:solidFill>
            <a:srgbClr val="1A1A1A"/>
          </a:solidFill>
          <a:ln w="12700">
            <a:solidFill>
              <a:srgbClr val="1A1A1A"/>
            </a:solidFill>
            <a:prstDash val="solid"/>
          </a:ln>
        </p:spPr>
      </p:sp>
      <p:sp>
        <p:nvSpPr>
          <p:cNvPr id="16" name="Shape 14"/>
          <p:cNvSpPr/>
          <p:nvPr/>
        </p:nvSpPr>
        <p:spPr>
          <a:xfrm>
            <a:off x="6400800" y="0"/>
            <a:ext cx="457200" cy="320040"/>
          </a:xfrm>
          <a:prstGeom prst="rect">
            <a:avLst/>
          </a:prstGeom>
          <a:solidFill>
            <a:srgbClr val="F7C600"/>
          </a:solidFill>
          <a:ln w="12700">
            <a:solidFill>
              <a:srgbClr val="F7C600"/>
            </a:solidFill>
            <a:prstDash val="solid"/>
          </a:ln>
        </p:spPr>
      </p:sp>
      <p:sp>
        <p:nvSpPr>
          <p:cNvPr id="17" name="Shape 15"/>
          <p:cNvSpPr/>
          <p:nvPr/>
        </p:nvSpPr>
        <p:spPr>
          <a:xfrm>
            <a:off x="6858000" y="0"/>
            <a:ext cx="457200" cy="320040"/>
          </a:xfrm>
          <a:prstGeom prst="rect">
            <a:avLst/>
          </a:prstGeom>
          <a:solidFill>
            <a:srgbClr val="1A1A1A"/>
          </a:solidFill>
          <a:ln w="12700">
            <a:solidFill>
              <a:srgbClr val="1A1A1A"/>
            </a:solidFill>
            <a:prstDash val="solid"/>
          </a:ln>
        </p:spPr>
      </p:sp>
      <p:sp>
        <p:nvSpPr>
          <p:cNvPr id="18" name="Shape 16"/>
          <p:cNvSpPr/>
          <p:nvPr/>
        </p:nvSpPr>
        <p:spPr>
          <a:xfrm>
            <a:off x="7315200" y="0"/>
            <a:ext cx="457200" cy="320040"/>
          </a:xfrm>
          <a:prstGeom prst="rect">
            <a:avLst/>
          </a:prstGeom>
          <a:solidFill>
            <a:srgbClr val="F7C600"/>
          </a:solidFill>
          <a:ln w="12700">
            <a:solidFill>
              <a:srgbClr val="F7C600"/>
            </a:solidFill>
            <a:prstDash val="solid"/>
          </a:ln>
        </p:spPr>
      </p:sp>
      <p:sp>
        <p:nvSpPr>
          <p:cNvPr id="19" name="Shape 17"/>
          <p:cNvSpPr/>
          <p:nvPr/>
        </p:nvSpPr>
        <p:spPr>
          <a:xfrm>
            <a:off x="7772400" y="0"/>
            <a:ext cx="457200" cy="320040"/>
          </a:xfrm>
          <a:prstGeom prst="rect">
            <a:avLst/>
          </a:prstGeom>
          <a:solidFill>
            <a:srgbClr val="1A1A1A"/>
          </a:solidFill>
          <a:ln w="12700">
            <a:solidFill>
              <a:srgbClr val="1A1A1A"/>
            </a:solidFill>
            <a:prstDash val="solid"/>
          </a:ln>
        </p:spPr>
      </p:sp>
      <p:sp>
        <p:nvSpPr>
          <p:cNvPr id="20" name="Shape 18"/>
          <p:cNvSpPr/>
          <p:nvPr/>
        </p:nvSpPr>
        <p:spPr>
          <a:xfrm>
            <a:off x="8229600" y="0"/>
            <a:ext cx="457200" cy="320040"/>
          </a:xfrm>
          <a:prstGeom prst="rect">
            <a:avLst/>
          </a:prstGeom>
          <a:solidFill>
            <a:srgbClr val="F7C600"/>
          </a:solidFill>
          <a:ln w="12700">
            <a:solidFill>
              <a:srgbClr val="F7C600"/>
            </a:solidFill>
            <a:prstDash val="solid"/>
          </a:ln>
        </p:spPr>
      </p:sp>
      <p:sp>
        <p:nvSpPr>
          <p:cNvPr id="21" name="Shape 19"/>
          <p:cNvSpPr/>
          <p:nvPr/>
        </p:nvSpPr>
        <p:spPr>
          <a:xfrm>
            <a:off x="8686800" y="0"/>
            <a:ext cx="457200" cy="320040"/>
          </a:xfrm>
          <a:prstGeom prst="rect">
            <a:avLst/>
          </a:prstGeom>
          <a:solidFill>
            <a:srgbClr val="1A1A1A"/>
          </a:solidFill>
          <a:ln w="12700">
            <a:solidFill>
              <a:srgbClr val="1A1A1A"/>
            </a:solidFill>
            <a:prstDash val="solid"/>
          </a:ln>
        </p:spPr>
      </p:sp>
      <p:sp>
        <p:nvSpPr>
          <p:cNvPr id="22" name="Shape 20"/>
          <p:cNvSpPr/>
          <p:nvPr/>
        </p:nvSpPr>
        <p:spPr>
          <a:xfrm>
            <a:off x="0" y="4823460"/>
            <a:ext cx="457200" cy="320040"/>
          </a:xfrm>
          <a:prstGeom prst="rect">
            <a:avLst/>
          </a:prstGeom>
          <a:solidFill>
            <a:srgbClr val="1A1A1A"/>
          </a:solidFill>
          <a:ln w="12700">
            <a:solidFill>
              <a:srgbClr val="1A1A1A"/>
            </a:solidFill>
            <a:prstDash val="solid"/>
          </a:ln>
        </p:spPr>
      </p:sp>
      <p:sp>
        <p:nvSpPr>
          <p:cNvPr id="23" name="Shape 21"/>
          <p:cNvSpPr/>
          <p:nvPr/>
        </p:nvSpPr>
        <p:spPr>
          <a:xfrm>
            <a:off x="457200" y="4823460"/>
            <a:ext cx="457200" cy="320040"/>
          </a:xfrm>
          <a:prstGeom prst="rect">
            <a:avLst/>
          </a:prstGeom>
          <a:solidFill>
            <a:srgbClr val="F7C600"/>
          </a:solidFill>
          <a:ln w="12700">
            <a:solidFill>
              <a:srgbClr val="F7C600"/>
            </a:solidFill>
            <a:prstDash val="solid"/>
          </a:ln>
        </p:spPr>
      </p:sp>
      <p:sp>
        <p:nvSpPr>
          <p:cNvPr id="24" name="Shape 22"/>
          <p:cNvSpPr/>
          <p:nvPr/>
        </p:nvSpPr>
        <p:spPr>
          <a:xfrm>
            <a:off x="914400" y="4823460"/>
            <a:ext cx="457200" cy="320040"/>
          </a:xfrm>
          <a:prstGeom prst="rect">
            <a:avLst/>
          </a:prstGeom>
          <a:solidFill>
            <a:srgbClr val="1A1A1A"/>
          </a:solidFill>
          <a:ln w="12700">
            <a:solidFill>
              <a:srgbClr val="1A1A1A"/>
            </a:solidFill>
            <a:prstDash val="solid"/>
          </a:ln>
        </p:spPr>
      </p:sp>
      <p:sp>
        <p:nvSpPr>
          <p:cNvPr id="25" name="Shape 23"/>
          <p:cNvSpPr/>
          <p:nvPr/>
        </p:nvSpPr>
        <p:spPr>
          <a:xfrm>
            <a:off x="1371600" y="4823460"/>
            <a:ext cx="457200" cy="320040"/>
          </a:xfrm>
          <a:prstGeom prst="rect">
            <a:avLst/>
          </a:prstGeom>
          <a:solidFill>
            <a:srgbClr val="F7C600"/>
          </a:solidFill>
          <a:ln w="12700">
            <a:solidFill>
              <a:srgbClr val="F7C600"/>
            </a:solidFill>
            <a:prstDash val="solid"/>
          </a:ln>
        </p:spPr>
      </p:sp>
      <p:sp>
        <p:nvSpPr>
          <p:cNvPr id="26" name="Shape 24"/>
          <p:cNvSpPr/>
          <p:nvPr/>
        </p:nvSpPr>
        <p:spPr>
          <a:xfrm>
            <a:off x="1828800" y="4823460"/>
            <a:ext cx="457200" cy="320040"/>
          </a:xfrm>
          <a:prstGeom prst="rect">
            <a:avLst/>
          </a:prstGeom>
          <a:solidFill>
            <a:srgbClr val="1A1A1A"/>
          </a:solidFill>
          <a:ln w="12700">
            <a:solidFill>
              <a:srgbClr val="1A1A1A"/>
            </a:solidFill>
            <a:prstDash val="solid"/>
          </a:ln>
        </p:spPr>
      </p:sp>
      <p:sp>
        <p:nvSpPr>
          <p:cNvPr id="27" name="Shape 25"/>
          <p:cNvSpPr/>
          <p:nvPr/>
        </p:nvSpPr>
        <p:spPr>
          <a:xfrm>
            <a:off x="2286000" y="4823460"/>
            <a:ext cx="457200" cy="320040"/>
          </a:xfrm>
          <a:prstGeom prst="rect">
            <a:avLst/>
          </a:prstGeom>
          <a:solidFill>
            <a:srgbClr val="F7C600"/>
          </a:solidFill>
          <a:ln w="12700">
            <a:solidFill>
              <a:srgbClr val="F7C600"/>
            </a:solidFill>
            <a:prstDash val="solid"/>
          </a:ln>
        </p:spPr>
      </p:sp>
      <p:sp>
        <p:nvSpPr>
          <p:cNvPr id="28" name="Shape 26"/>
          <p:cNvSpPr/>
          <p:nvPr/>
        </p:nvSpPr>
        <p:spPr>
          <a:xfrm>
            <a:off x="2743200" y="4823460"/>
            <a:ext cx="457200" cy="320040"/>
          </a:xfrm>
          <a:prstGeom prst="rect">
            <a:avLst/>
          </a:prstGeom>
          <a:solidFill>
            <a:srgbClr val="1A1A1A"/>
          </a:solidFill>
          <a:ln w="12700">
            <a:solidFill>
              <a:srgbClr val="1A1A1A"/>
            </a:solidFill>
            <a:prstDash val="solid"/>
          </a:ln>
        </p:spPr>
      </p:sp>
      <p:sp>
        <p:nvSpPr>
          <p:cNvPr id="29" name="Shape 27"/>
          <p:cNvSpPr/>
          <p:nvPr/>
        </p:nvSpPr>
        <p:spPr>
          <a:xfrm>
            <a:off x="3200400" y="4823460"/>
            <a:ext cx="457200" cy="320040"/>
          </a:xfrm>
          <a:prstGeom prst="rect">
            <a:avLst/>
          </a:prstGeom>
          <a:solidFill>
            <a:srgbClr val="F7C600"/>
          </a:solidFill>
          <a:ln w="12700">
            <a:solidFill>
              <a:srgbClr val="F7C600"/>
            </a:solidFill>
            <a:prstDash val="solid"/>
          </a:ln>
        </p:spPr>
      </p:sp>
      <p:sp>
        <p:nvSpPr>
          <p:cNvPr id="30" name="Shape 28"/>
          <p:cNvSpPr/>
          <p:nvPr/>
        </p:nvSpPr>
        <p:spPr>
          <a:xfrm>
            <a:off x="3657600" y="4823460"/>
            <a:ext cx="457200" cy="320040"/>
          </a:xfrm>
          <a:prstGeom prst="rect">
            <a:avLst/>
          </a:prstGeom>
          <a:solidFill>
            <a:srgbClr val="1A1A1A"/>
          </a:solidFill>
          <a:ln w="12700">
            <a:solidFill>
              <a:srgbClr val="1A1A1A"/>
            </a:solidFill>
            <a:prstDash val="solid"/>
          </a:ln>
        </p:spPr>
      </p:sp>
      <p:sp>
        <p:nvSpPr>
          <p:cNvPr id="31" name="Shape 29"/>
          <p:cNvSpPr/>
          <p:nvPr/>
        </p:nvSpPr>
        <p:spPr>
          <a:xfrm>
            <a:off x="4114800" y="4823460"/>
            <a:ext cx="457200" cy="320040"/>
          </a:xfrm>
          <a:prstGeom prst="rect">
            <a:avLst/>
          </a:prstGeom>
          <a:solidFill>
            <a:srgbClr val="F7C600"/>
          </a:solidFill>
          <a:ln w="12700">
            <a:solidFill>
              <a:srgbClr val="F7C600"/>
            </a:solidFill>
            <a:prstDash val="solid"/>
          </a:ln>
        </p:spPr>
      </p:sp>
      <p:sp>
        <p:nvSpPr>
          <p:cNvPr id="32" name="Shape 30"/>
          <p:cNvSpPr/>
          <p:nvPr/>
        </p:nvSpPr>
        <p:spPr>
          <a:xfrm>
            <a:off x="4572000" y="4823460"/>
            <a:ext cx="457200" cy="320040"/>
          </a:xfrm>
          <a:prstGeom prst="rect">
            <a:avLst/>
          </a:prstGeom>
          <a:solidFill>
            <a:srgbClr val="1A1A1A"/>
          </a:solidFill>
          <a:ln w="12700">
            <a:solidFill>
              <a:srgbClr val="1A1A1A"/>
            </a:solidFill>
            <a:prstDash val="solid"/>
          </a:ln>
        </p:spPr>
      </p:sp>
      <p:sp>
        <p:nvSpPr>
          <p:cNvPr id="33" name="Shape 31"/>
          <p:cNvSpPr/>
          <p:nvPr/>
        </p:nvSpPr>
        <p:spPr>
          <a:xfrm>
            <a:off x="5029200" y="4823460"/>
            <a:ext cx="457200" cy="320040"/>
          </a:xfrm>
          <a:prstGeom prst="rect">
            <a:avLst/>
          </a:prstGeom>
          <a:solidFill>
            <a:srgbClr val="F7C600"/>
          </a:solidFill>
          <a:ln w="12700">
            <a:solidFill>
              <a:srgbClr val="F7C600"/>
            </a:solidFill>
            <a:prstDash val="solid"/>
          </a:ln>
        </p:spPr>
      </p:sp>
      <p:sp>
        <p:nvSpPr>
          <p:cNvPr id="34" name="Shape 32"/>
          <p:cNvSpPr/>
          <p:nvPr/>
        </p:nvSpPr>
        <p:spPr>
          <a:xfrm>
            <a:off x="5486400" y="4823460"/>
            <a:ext cx="457200" cy="320040"/>
          </a:xfrm>
          <a:prstGeom prst="rect">
            <a:avLst/>
          </a:prstGeom>
          <a:solidFill>
            <a:srgbClr val="1A1A1A"/>
          </a:solidFill>
          <a:ln w="12700">
            <a:solidFill>
              <a:srgbClr val="1A1A1A"/>
            </a:solidFill>
            <a:prstDash val="solid"/>
          </a:ln>
        </p:spPr>
      </p:sp>
      <p:sp>
        <p:nvSpPr>
          <p:cNvPr id="35" name="Shape 33"/>
          <p:cNvSpPr/>
          <p:nvPr/>
        </p:nvSpPr>
        <p:spPr>
          <a:xfrm>
            <a:off x="5943600" y="4823460"/>
            <a:ext cx="457200" cy="320040"/>
          </a:xfrm>
          <a:prstGeom prst="rect">
            <a:avLst/>
          </a:prstGeom>
          <a:solidFill>
            <a:srgbClr val="F7C600"/>
          </a:solidFill>
          <a:ln w="12700">
            <a:solidFill>
              <a:srgbClr val="F7C600"/>
            </a:solidFill>
            <a:prstDash val="solid"/>
          </a:ln>
        </p:spPr>
      </p:sp>
      <p:sp>
        <p:nvSpPr>
          <p:cNvPr id="36" name="Shape 34"/>
          <p:cNvSpPr/>
          <p:nvPr/>
        </p:nvSpPr>
        <p:spPr>
          <a:xfrm>
            <a:off x="6400800" y="4823460"/>
            <a:ext cx="457200" cy="320040"/>
          </a:xfrm>
          <a:prstGeom prst="rect">
            <a:avLst/>
          </a:prstGeom>
          <a:solidFill>
            <a:srgbClr val="1A1A1A"/>
          </a:solidFill>
          <a:ln w="12700">
            <a:solidFill>
              <a:srgbClr val="1A1A1A"/>
            </a:solidFill>
            <a:prstDash val="solid"/>
          </a:ln>
        </p:spPr>
      </p:sp>
      <p:sp>
        <p:nvSpPr>
          <p:cNvPr id="37" name="Shape 35"/>
          <p:cNvSpPr/>
          <p:nvPr/>
        </p:nvSpPr>
        <p:spPr>
          <a:xfrm>
            <a:off x="6858000" y="4823460"/>
            <a:ext cx="457200" cy="320040"/>
          </a:xfrm>
          <a:prstGeom prst="rect">
            <a:avLst/>
          </a:prstGeom>
          <a:solidFill>
            <a:srgbClr val="F7C600"/>
          </a:solidFill>
          <a:ln w="12700">
            <a:solidFill>
              <a:srgbClr val="F7C600"/>
            </a:solidFill>
            <a:prstDash val="solid"/>
          </a:ln>
        </p:spPr>
      </p:sp>
      <p:sp>
        <p:nvSpPr>
          <p:cNvPr id="38" name="Shape 36"/>
          <p:cNvSpPr/>
          <p:nvPr/>
        </p:nvSpPr>
        <p:spPr>
          <a:xfrm>
            <a:off x="7315200" y="4823460"/>
            <a:ext cx="457200" cy="320040"/>
          </a:xfrm>
          <a:prstGeom prst="rect">
            <a:avLst/>
          </a:prstGeom>
          <a:solidFill>
            <a:srgbClr val="1A1A1A"/>
          </a:solidFill>
          <a:ln w="12700">
            <a:solidFill>
              <a:srgbClr val="1A1A1A"/>
            </a:solidFill>
            <a:prstDash val="solid"/>
          </a:ln>
        </p:spPr>
      </p:sp>
      <p:sp>
        <p:nvSpPr>
          <p:cNvPr id="39" name="Shape 37"/>
          <p:cNvSpPr/>
          <p:nvPr/>
        </p:nvSpPr>
        <p:spPr>
          <a:xfrm>
            <a:off x="7772400" y="4823460"/>
            <a:ext cx="457200" cy="320040"/>
          </a:xfrm>
          <a:prstGeom prst="rect">
            <a:avLst/>
          </a:prstGeom>
          <a:solidFill>
            <a:srgbClr val="F7C600"/>
          </a:solidFill>
          <a:ln w="12700">
            <a:solidFill>
              <a:srgbClr val="F7C600"/>
            </a:solidFill>
            <a:prstDash val="solid"/>
          </a:ln>
        </p:spPr>
      </p:sp>
      <p:sp>
        <p:nvSpPr>
          <p:cNvPr id="40" name="Shape 38"/>
          <p:cNvSpPr/>
          <p:nvPr/>
        </p:nvSpPr>
        <p:spPr>
          <a:xfrm>
            <a:off x="8229600" y="4823460"/>
            <a:ext cx="457200" cy="320040"/>
          </a:xfrm>
          <a:prstGeom prst="rect">
            <a:avLst/>
          </a:prstGeom>
          <a:solidFill>
            <a:srgbClr val="1A1A1A"/>
          </a:solidFill>
          <a:ln w="12700">
            <a:solidFill>
              <a:srgbClr val="1A1A1A"/>
            </a:solidFill>
            <a:prstDash val="solid"/>
          </a:ln>
        </p:spPr>
      </p:sp>
      <p:sp>
        <p:nvSpPr>
          <p:cNvPr id="41" name="Shape 39"/>
          <p:cNvSpPr/>
          <p:nvPr/>
        </p:nvSpPr>
        <p:spPr>
          <a:xfrm>
            <a:off x="8686800" y="4823460"/>
            <a:ext cx="457200" cy="320040"/>
          </a:xfrm>
          <a:prstGeom prst="rect">
            <a:avLst/>
          </a:prstGeom>
          <a:solidFill>
            <a:srgbClr val="F7C600"/>
          </a:solidFill>
          <a:ln w="12700">
            <a:solidFill>
              <a:srgbClr val="F7C600"/>
            </a:solidFill>
            <a:prstDash val="solid"/>
          </a:ln>
        </p:spPr>
      </p:sp>
      <p:sp>
        <p:nvSpPr>
          <p:cNvPr id="42" name="Shape 40"/>
          <p:cNvSpPr/>
          <p:nvPr/>
        </p:nvSpPr>
        <p:spPr>
          <a:xfrm>
            <a:off x="3200400" y="502920"/>
            <a:ext cx="2743200" cy="457200"/>
          </a:xfrm>
          <a:prstGeom prst="rect">
            <a:avLst>
              <a:gd name="adj" fmla="val 10000"/>
            </a:avLst>
          </a:prstGeom>
          <a:solidFill>
            <a:srgbClr val="F7C600"/>
          </a:solidFill>
          <a:ln w="12700">
            <a:solidFill>
              <a:srgbClr val="F7C600"/>
            </a:solidFill>
            <a:prstDash val="solid"/>
          </a:ln>
        </p:spPr>
      </p:sp>
      <p:sp>
        <p:nvSpPr>
          <p:cNvPr id="43" name="Text 41"/>
          <p:cNvSpPr/>
          <p:nvPr/>
        </p:nvSpPr>
        <p:spPr>
          <a:xfrm>
            <a:off x="3200400" y="502920"/>
            <a:ext cx="2743200" cy="457200"/>
          </a:xfrm>
          <a:prstGeom prst="rect">
            <a:avLst/>
          </a:prstGeom>
          <a:noFill/>
          <a:ln/>
        </p:spPr>
        <p:txBody>
          <a:bodyPr wrap="square" rtlCol="0" anchor="ctr"/>
          <a:lstStyle/>
          <a:p>
            <a:pPr algn="ctr" indent="0" marL="0">
              <a:buNone/>
            </a:pPr>
            <a:r>
              <a:rPr lang="en-US" sz="1800" b="1" dirty="0">
                <a:solidFill>
                  <a:srgbClr val="1A1A1A"/>
                </a:solidFill>
                <a:latin typeface="Arial Black" pitchFamily="34" charset="0"/>
                <a:ea typeface="Arial Black" pitchFamily="34" charset="-122"/>
                <a:cs typeface="Arial Black" pitchFamily="34" charset="-120"/>
              </a:rPr>
              <a:t>🚖  NYC TAXI</a:t>
            </a:r>
            <a:endParaRPr lang="en-US" sz="1800" dirty="0"/>
          </a:p>
        </p:txBody>
      </p:sp>
      <p:sp>
        <p:nvSpPr>
          <p:cNvPr id="44" name="Text 42"/>
          <p:cNvSpPr/>
          <p:nvPr/>
        </p:nvSpPr>
        <p:spPr>
          <a:xfrm>
            <a:off x="548640" y="1097280"/>
            <a:ext cx="8046720" cy="1188720"/>
          </a:xfrm>
          <a:prstGeom prst="rect">
            <a:avLst/>
          </a:prstGeom>
          <a:noFill/>
          <a:ln/>
        </p:spPr>
        <p:txBody>
          <a:bodyPr wrap="square" rtlCol="0" anchor="ctr"/>
          <a:lstStyle/>
          <a:p>
            <a:pPr algn="ctr" indent="0" marL="0">
              <a:buNone/>
            </a:pPr>
            <a:r>
              <a:rPr lang="en-US" sz="5200" b="1" dirty="0">
                <a:solidFill>
                  <a:srgbClr val="F7C600"/>
                </a:solidFill>
                <a:latin typeface="Arial Black" pitchFamily="34" charset="0"/>
                <a:ea typeface="Arial Black" pitchFamily="34" charset="-122"/>
                <a:cs typeface="Arial Black" pitchFamily="34" charset="-120"/>
              </a:rPr>
              <a:t>NYC Taxi BI Analysis</a:t>
            </a:r>
            <a:endParaRPr lang="en-US" sz="5200" dirty="0"/>
          </a:p>
        </p:txBody>
      </p:sp>
      <p:sp>
        <p:nvSpPr>
          <p:cNvPr id="45" name="Text 43"/>
          <p:cNvSpPr/>
          <p:nvPr/>
        </p:nvSpPr>
        <p:spPr>
          <a:xfrm>
            <a:off x="548640" y="2286000"/>
            <a:ext cx="8046720" cy="594360"/>
          </a:xfrm>
          <a:prstGeom prst="rect">
            <a:avLst/>
          </a:prstGeom>
          <a:noFill/>
          <a:ln/>
        </p:spPr>
        <p:txBody>
          <a:bodyPr wrap="square" rtlCol="0" anchor="ctr"/>
          <a:lstStyle/>
          <a:p>
            <a:pPr algn="ctr" indent="0" marL="0">
              <a:buNone/>
            </a:pPr>
            <a:r>
              <a:rPr lang="en-US" sz="2400" i="1" dirty="0">
                <a:solidFill>
                  <a:srgbClr val="FFFFFF"/>
                </a:solidFill>
                <a:latin typeface="Calibri Light" pitchFamily="34" charset="0"/>
                <a:ea typeface="Calibri Light" pitchFamily="34" charset="-122"/>
                <a:cs typeface="Calibri Light" pitchFamily="34" charset="-120"/>
              </a:rPr>
              <a:t>Data-Driven Urban Mobility</a:t>
            </a:r>
            <a:endParaRPr lang="en-US" sz="2400" dirty="0"/>
          </a:p>
        </p:txBody>
      </p:sp>
      <p:sp>
        <p:nvSpPr>
          <p:cNvPr id="46" name="Text 44"/>
          <p:cNvSpPr/>
          <p:nvPr/>
        </p:nvSpPr>
        <p:spPr>
          <a:xfrm>
            <a:off x="548640" y="2880360"/>
            <a:ext cx="8046720" cy="365760"/>
          </a:xfrm>
          <a:prstGeom prst="rect">
            <a:avLst/>
          </a:prstGeom>
          <a:noFill/>
          <a:ln/>
        </p:spPr>
        <p:txBody>
          <a:bodyPr wrap="square" rtlCol="0" anchor="ctr"/>
          <a:lstStyle/>
          <a:p>
            <a:pPr algn="ctr" indent="0" marL="0">
              <a:buNone/>
            </a:pPr>
            <a:r>
              <a:rPr lang="en-US" sz="1300" dirty="0">
                <a:solidFill>
                  <a:srgbClr val="B0B0B0"/>
                </a:solidFill>
                <a:latin typeface="Calibri" pitchFamily="34" charset="0"/>
                <a:ea typeface="Calibri" pitchFamily="34" charset="-122"/>
                <a:cs typeface="Calibri" pitchFamily="34" charset="-120"/>
              </a:rPr>
              <a:t>DSA3050A — Business Intelligence &amp; Data Visualization</a:t>
            </a:r>
            <a:endParaRPr lang="en-US" sz="1300" dirty="0"/>
          </a:p>
        </p:txBody>
      </p:sp>
      <p:sp>
        <p:nvSpPr>
          <p:cNvPr id="47" name="Shape 45"/>
          <p:cNvSpPr/>
          <p:nvPr/>
        </p:nvSpPr>
        <p:spPr>
          <a:xfrm>
            <a:off x="3200400" y="3337560"/>
            <a:ext cx="2743200" cy="36576"/>
          </a:xfrm>
          <a:prstGeom prst="rect">
            <a:avLst/>
          </a:prstGeom>
          <a:solidFill>
            <a:srgbClr val="F7C600"/>
          </a:solidFill>
          <a:ln w="12700">
            <a:solidFill>
              <a:srgbClr val="F7C600"/>
            </a:solidFill>
            <a:prstDash val="solid"/>
          </a:ln>
        </p:spPr>
      </p:sp>
      <p:sp>
        <p:nvSpPr>
          <p:cNvPr id="48" name="Text 46"/>
          <p:cNvSpPr/>
          <p:nvPr/>
        </p:nvSpPr>
        <p:spPr>
          <a:xfrm>
            <a:off x="548640" y="3429000"/>
            <a:ext cx="8046720" cy="822960"/>
          </a:xfrm>
          <a:prstGeom prst="rect">
            <a:avLst/>
          </a:prstGeom>
          <a:noFill/>
          <a:ln/>
        </p:spPr>
        <p:txBody>
          <a:bodyPr wrap="square" rtlCol="0" anchor="ctr"/>
          <a:lstStyle/>
          <a:p>
            <a:pPr algn="ctr" indent="0" marL="0">
              <a:buNone/>
            </a:pPr>
            <a:r>
              <a:rPr lang="en-US" sz="1200" dirty="0">
                <a:solidFill>
                  <a:srgbClr val="B0B0B0"/>
                </a:solidFill>
                <a:latin typeface="Calibri" pitchFamily="34" charset="0"/>
                <a:ea typeface="Calibri" pitchFamily="34" charset="-122"/>
                <a:cs typeface="Calibri" pitchFamily="34" charset="-120"/>
              </a:rPr>
              <a:t>Tanveer Omar  ·  Mohamed Mohamed  ·  Mitchel Muthaura</a:t>
            </a:r>
            <a:endParaRPr lang="en-US" sz="1200" dirty="0"/>
          </a:p>
          <a:p>
            <a:pPr algn="ctr" indent="0" marL="0">
              <a:buNone/>
            </a:pPr>
            <a:r>
              <a:rPr lang="en-US" sz="1200" dirty="0">
                <a:solidFill>
                  <a:srgbClr val="B0B0B0"/>
                </a:solidFill>
                <a:latin typeface="Calibri" pitchFamily="34" charset="0"/>
                <a:ea typeface="Calibri" pitchFamily="34" charset="-122"/>
                <a:cs typeface="Calibri" pitchFamily="34" charset="-120"/>
              </a:rPr>
              <a:t>Calvin Gacheru  ·  Claire Mwarari  ·  Lavender Nchagwa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D2D2D"/>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7C600"/>
          </a:solidFill>
          <a:ln w="12700">
            <a:solidFill>
              <a:srgbClr val="F7C600"/>
            </a:solidFill>
            <a:prstDash val="solid"/>
          </a:ln>
        </p:spPr>
      </p:sp>
      <p:sp>
        <p:nvSpPr>
          <p:cNvPr id="3" name="Shape 1"/>
          <p:cNvSpPr/>
          <p:nvPr/>
        </p:nvSpPr>
        <p:spPr>
          <a:xfrm>
            <a:off x="0" y="5070348"/>
            <a:ext cx="9144000" cy="73152"/>
          </a:xfrm>
          <a:prstGeom prst="rect">
            <a:avLst/>
          </a:prstGeom>
          <a:solidFill>
            <a:srgbClr val="F7C600"/>
          </a:solidFill>
          <a:ln w="12700">
            <a:solidFill>
              <a:srgbClr val="F7C600"/>
            </a:solidFill>
            <a:prstDash val="solid"/>
          </a:ln>
        </p:spPr>
      </p:sp>
      <p:sp>
        <p:nvSpPr>
          <p:cNvPr id="4" name="Text 2"/>
          <p:cNvSpPr/>
          <p:nvPr/>
        </p:nvSpPr>
        <p:spPr>
          <a:xfrm>
            <a:off x="457200" y="182880"/>
            <a:ext cx="8229600" cy="640080"/>
          </a:xfrm>
          <a:prstGeom prst="rect">
            <a:avLst/>
          </a:prstGeom>
          <a:noFill/>
          <a:ln/>
        </p:spPr>
        <p:txBody>
          <a:bodyPr wrap="square" rtlCol="0" anchor="ctr"/>
          <a:lstStyle/>
          <a:p>
            <a:pPr indent="0" marL="0">
              <a:buNone/>
            </a:pPr>
            <a:r>
              <a:rPr lang="en-US" sz="2800" b="1" dirty="0">
                <a:solidFill>
                  <a:srgbClr val="F7C600"/>
                </a:solidFill>
                <a:latin typeface="Arial Black" pitchFamily="34" charset="0"/>
                <a:ea typeface="Arial Black" pitchFamily="34" charset="-122"/>
                <a:cs typeface="Arial Black" pitchFamily="34" charset="-120"/>
              </a:rPr>
              <a:t>Problem Statement</a:t>
            </a:r>
            <a:endParaRPr lang="en-US" sz="2800" dirty="0"/>
          </a:p>
        </p:txBody>
      </p:sp>
      <p:sp>
        <p:nvSpPr>
          <p:cNvPr id="5" name="Shape 3"/>
          <p:cNvSpPr/>
          <p:nvPr/>
        </p:nvSpPr>
        <p:spPr>
          <a:xfrm>
            <a:off x="457200" y="777240"/>
            <a:ext cx="7772400" cy="27432"/>
          </a:xfrm>
          <a:prstGeom prst="rect">
            <a:avLst/>
          </a:prstGeom>
          <a:solidFill>
            <a:srgbClr val="3D3D3D"/>
          </a:solidFill>
          <a:ln w="12700">
            <a:solidFill>
              <a:srgbClr val="3D3D3D"/>
            </a:solidFill>
            <a:prstDash val="solid"/>
          </a:ln>
        </p:spPr>
      </p:sp>
      <p:sp>
        <p:nvSpPr>
          <p:cNvPr id="6" name="Text 4"/>
          <p:cNvSpPr/>
          <p:nvPr/>
        </p:nvSpPr>
        <p:spPr>
          <a:xfrm>
            <a:off x="457200" y="822960"/>
            <a:ext cx="8229600" cy="320040"/>
          </a:xfrm>
          <a:prstGeom prst="rect">
            <a:avLst/>
          </a:prstGeom>
          <a:noFill/>
          <a:ln/>
        </p:spPr>
        <p:txBody>
          <a:bodyPr wrap="square" rtlCol="0" anchor="ctr"/>
          <a:lstStyle/>
          <a:p>
            <a:pPr indent="0" marL="0">
              <a:buNone/>
            </a:pPr>
            <a:r>
              <a:rPr lang="en-US" sz="1300" i="1" dirty="0">
                <a:solidFill>
                  <a:srgbClr val="B0B0B0"/>
                </a:solidFill>
                <a:latin typeface="Calibri" pitchFamily="34" charset="0"/>
                <a:ea typeface="Calibri" pitchFamily="34" charset="-122"/>
                <a:cs typeface="Calibri" pitchFamily="34" charset="-120"/>
              </a:rPr>
              <a:t>The Strategic Gap in NYC's Taxi Ecosystem</a:t>
            </a:r>
            <a:endParaRPr lang="en-US" sz="1300" dirty="0"/>
          </a:p>
        </p:txBody>
      </p:sp>
      <p:sp>
        <p:nvSpPr>
          <p:cNvPr id="7" name="Shape 5"/>
          <p:cNvSpPr/>
          <p:nvPr/>
        </p:nvSpPr>
        <p:spPr>
          <a:xfrm>
            <a:off x="365760" y="1188720"/>
            <a:ext cx="3931920" cy="3474720"/>
          </a:xfrm>
          <a:prstGeom prst="rect">
            <a:avLst/>
          </a:prstGeom>
          <a:solidFill>
            <a:srgbClr val="3D3D3D"/>
          </a:solidFill>
          <a:ln w="12700">
            <a:solidFill>
              <a:srgbClr val="3D3D3D"/>
            </a:solidFill>
            <a:prstDash val="solid"/>
          </a:ln>
          <a:effectLst>
            <a:outerShdw sx="100000" sy="100000" kx="0" ky="0" algn="bl" rotWithShape="0" blurRad="101600" dist="38100" dir="8100000">
              <a:srgbClr val="000000">
                <a:alpha val="30000"/>
              </a:srgbClr>
            </a:outerShdw>
          </a:effectLst>
        </p:spPr>
      </p:sp>
      <p:sp>
        <p:nvSpPr>
          <p:cNvPr id="8" name="Shape 6"/>
          <p:cNvSpPr/>
          <p:nvPr/>
        </p:nvSpPr>
        <p:spPr>
          <a:xfrm>
            <a:off x="4663440" y="1188720"/>
            <a:ext cx="4023360" cy="3474720"/>
          </a:xfrm>
          <a:prstGeom prst="rect">
            <a:avLst/>
          </a:prstGeom>
          <a:solidFill>
            <a:srgbClr val="3D3D3D"/>
          </a:solidFill>
          <a:ln w="12700">
            <a:solidFill>
              <a:srgbClr val="3D3D3D"/>
            </a:solidFill>
            <a:prstDash val="solid"/>
          </a:ln>
          <a:effectLst>
            <a:outerShdw sx="100000" sy="100000" kx="0" ky="0" algn="bl" rotWithShape="0" blurRad="101600" dist="38100" dir="8100000">
              <a:srgbClr val="000000">
                <a:alpha val="30000"/>
              </a:srgbClr>
            </a:outerShdw>
          </a:effectLst>
        </p:spPr>
      </p:sp>
      <p:sp>
        <p:nvSpPr>
          <p:cNvPr id="9" name="Text 7"/>
          <p:cNvSpPr/>
          <p:nvPr/>
        </p:nvSpPr>
        <p:spPr>
          <a:xfrm>
            <a:off x="548640" y="1325880"/>
            <a:ext cx="3566160" cy="411480"/>
          </a:xfrm>
          <a:prstGeom prst="rect">
            <a:avLst/>
          </a:prstGeom>
          <a:noFill/>
          <a:ln/>
        </p:spPr>
        <p:txBody>
          <a:bodyPr wrap="square" rtlCol="0" anchor="ctr"/>
          <a:lstStyle/>
          <a:p>
            <a:pPr indent="0" marL="0">
              <a:buNone/>
            </a:pPr>
            <a:r>
              <a:rPr lang="en-US" sz="1500" b="1" dirty="0">
                <a:solidFill>
                  <a:srgbClr val="F7C600"/>
                </a:solidFill>
                <a:latin typeface="Arial Black" pitchFamily="34" charset="0"/>
                <a:ea typeface="Arial Black" pitchFamily="34" charset="-122"/>
                <a:cs typeface="Arial Black" pitchFamily="34" charset="-120"/>
              </a:rPr>
              <a:t>The Challenge</a:t>
            </a:r>
            <a:endParaRPr lang="en-US" sz="1500" dirty="0"/>
          </a:p>
        </p:txBody>
      </p:sp>
      <p:sp>
        <p:nvSpPr>
          <p:cNvPr id="10" name="Text 8"/>
          <p:cNvSpPr/>
          <p:nvPr/>
        </p:nvSpPr>
        <p:spPr>
          <a:xfrm>
            <a:off x="548640" y="1783080"/>
            <a:ext cx="3566160" cy="2651760"/>
          </a:xfrm>
          <a:prstGeom prst="rect">
            <a:avLst/>
          </a:prstGeom>
          <a:noFill/>
          <a:ln/>
        </p:spPr>
        <p:txBody>
          <a:bodyPr wrap="square" rtlCol="0" anchor="t"/>
          <a:lstStyle/>
          <a:p>
            <a:pPr indent="0" marL="0">
              <a:buNone/>
            </a:pPr>
            <a:r>
              <a:rPr lang="en-US" sz="1250" dirty="0">
                <a:solidFill>
                  <a:srgbClr val="FFFFFF"/>
                </a:solidFill>
                <a:latin typeface="Calibri" pitchFamily="34" charset="0"/>
                <a:ea typeface="Calibri" pitchFamily="34" charset="-122"/>
                <a:cs typeface="Calibri" pitchFamily="34" charset="-120"/>
              </a:rPr>
              <a:t>New York City's taxi ecosystem suffers from a critical misalignment between dynamic passenger demand and active vehicle supply.</a:t>
            </a:r>
            <a:endParaRPr lang="en-US" sz="1250" dirty="0"/>
          </a:p>
          <a:p>
            <a:pPr indent="0" marL="0">
              <a:buNone/>
            </a:pP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The Result:</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High idle times for drivers in quiet zones</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Excessive wait times for passengers in high-traffic neighborhoods</a:t>
            </a:r>
            <a:endParaRPr lang="en-US" sz="1250" dirty="0"/>
          </a:p>
        </p:txBody>
      </p:sp>
      <p:sp>
        <p:nvSpPr>
          <p:cNvPr id="11" name="Text 9"/>
          <p:cNvSpPr/>
          <p:nvPr/>
        </p:nvSpPr>
        <p:spPr>
          <a:xfrm>
            <a:off x="4846320" y="1325880"/>
            <a:ext cx="3566160" cy="411480"/>
          </a:xfrm>
          <a:prstGeom prst="rect">
            <a:avLst/>
          </a:prstGeom>
          <a:noFill/>
          <a:ln/>
        </p:spPr>
        <p:txBody>
          <a:bodyPr wrap="square" rtlCol="0" anchor="ctr"/>
          <a:lstStyle/>
          <a:p>
            <a:pPr indent="0" marL="0">
              <a:buNone/>
            </a:pPr>
            <a:r>
              <a:rPr lang="en-US" sz="1500" b="1" dirty="0">
                <a:solidFill>
                  <a:srgbClr val="F7C600"/>
                </a:solidFill>
                <a:latin typeface="Arial Black" pitchFamily="34" charset="0"/>
                <a:ea typeface="Arial Black" pitchFamily="34" charset="-122"/>
                <a:cs typeface="Arial Black" pitchFamily="34" charset="-120"/>
              </a:rPr>
              <a:t>Key Operational Variables</a:t>
            </a:r>
            <a:endParaRPr lang="en-US" sz="1500" dirty="0"/>
          </a:p>
        </p:txBody>
      </p:sp>
      <p:sp>
        <p:nvSpPr>
          <p:cNvPr id="12" name="Shape 10"/>
          <p:cNvSpPr/>
          <p:nvPr/>
        </p:nvSpPr>
        <p:spPr>
          <a:xfrm>
            <a:off x="4800600" y="1783080"/>
            <a:ext cx="3794760" cy="45720"/>
          </a:xfrm>
          <a:prstGeom prst="rect">
            <a:avLst/>
          </a:prstGeom>
          <a:solidFill>
            <a:srgbClr val="F7C600"/>
          </a:solidFill>
          <a:ln w="12700">
            <a:solidFill>
              <a:srgbClr val="F7C600"/>
            </a:solidFill>
            <a:prstDash val="solid"/>
          </a:ln>
        </p:spPr>
      </p:sp>
      <p:sp>
        <p:nvSpPr>
          <p:cNvPr id="13" name="Text 11"/>
          <p:cNvSpPr/>
          <p:nvPr/>
        </p:nvSpPr>
        <p:spPr>
          <a:xfrm>
            <a:off x="4846320" y="1874520"/>
            <a:ext cx="3657600" cy="320040"/>
          </a:xfrm>
          <a:prstGeom prst="rect">
            <a:avLst/>
          </a:prstGeom>
          <a:noFill/>
          <a:ln/>
        </p:spPr>
        <p:txBody>
          <a:bodyPr wrap="square" rtlCol="0" anchor="ctr"/>
          <a:lstStyle/>
          <a:p>
            <a:pPr indent="0" marL="0">
              <a:buNone/>
            </a:pPr>
            <a:r>
              <a:rPr lang="en-US" sz="1300" b="1" dirty="0">
                <a:solidFill>
                  <a:srgbClr val="F7C600"/>
                </a:solidFill>
                <a:latin typeface="Arial Black" pitchFamily="34" charset="0"/>
                <a:ea typeface="Arial Black" pitchFamily="34" charset="-122"/>
                <a:cs typeface="Arial Black" pitchFamily="34" charset="-120"/>
              </a:rPr>
              <a:t>📍 Location</a:t>
            </a:r>
            <a:endParaRPr lang="en-US" sz="1300" dirty="0"/>
          </a:p>
        </p:txBody>
      </p:sp>
      <p:sp>
        <p:nvSpPr>
          <p:cNvPr id="14" name="Text 12"/>
          <p:cNvSpPr/>
          <p:nvPr/>
        </p:nvSpPr>
        <p:spPr>
          <a:xfrm>
            <a:off x="4846320" y="2167128"/>
            <a:ext cx="3657600" cy="50292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hotspots for pickups vs. drop-offs across NYC neighborhoods.</a:t>
            </a:r>
            <a:endParaRPr lang="en-US" sz="1150" dirty="0"/>
          </a:p>
        </p:txBody>
      </p:sp>
      <p:sp>
        <p:nvSpPr>
          <p:cNvPr id="15" name="Shape 13"/>
          <p:cNvSpPr/>
          <p:nvPr/>
        </p:nvSpPr>
        <p:spPr>
          <a:xfrm>
            <a:off x="4800600" y="2788920"/>
            <a:ext cx="3794760" cy="45720"/>
          </a:xfrm>
          <a:prstGeom prst="rect">
            <a:avLst/>
          </a:prstGeom>
          <a:solidFill>
            <a:srgbClr val="F7C600"/>
          </a:solidFill>
          <a:ln w="12700">
            <a:solidFill>
              <a:srgbClr val="F7C600"/>
            </a:solidFill>
            <a:prstDash val="solid"/>
          </a:ln>
        </p:spPr>
      </p:sp>
      <p:sp>
        <p:nvSpPr>
          <p:cNvPr id="16" name="Text 14"/>
          <p:cNvSpPr/>
          <p:nvPr/>
        </p:nvSpPr>
        <p:spPr>
          <a:xfrm>
            <a:off x="4846320" y="2880360"/>
            <a:ext cx="3657600" cy="320040"/>
          </a:xfrm>
          <a:prstGeom prst="rect">
            <a:avLst/>
          </a:prstGeom>
          <a:noFill/>
          <a:ln/>
        </p:spPr>
        <p:txBody>
          <a:bodyPr wrap="square" rtlCol="0" anchor="ctr"/>
          <a:lstStyle/>
          <a:p>
            <a:pPr indent="0" marL="0">
              <a:buNone/>
            </a:pPr>
            <a:r>
              <a:rPr lang="en-US" sz="1300" b="1" dirty="0">
                <a:solidFill>
                  <a:srgbClr val="F7C600"/>
                </a:solidFill>
                <a:latin typeface="Arial Black" pitchFamily="34" charset="0"/>
                <a:ea typeface="Arial Black" pitchFamily="34" charset="-122"/>
                <a:cs typeface="Arial Black" pitchFamily="34" charset="-120"/>
              </a:rPr>
              <a:t>⏱ Timing</a:t>
            </a:r>
            <a:endParaRPr lang="en-US" sz="1300" dirty="0"/>
          </a:p>
        </p:txBody>
      </p:sp>
      <p:sp>
        <p:nvSpPr>
          <p:cNvPr id="17" name="Text 15"/>
          <p:cNvSpPr/>
          <p:nvPr/>
        </p:nvSpPr>
        <p:spPr>
          <a:xfrm>
            <a:off x="4846320" y="3172968"/>
            <a:ext cx="3657600" cy="50292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Hourly and seasonal fluctuations in ride requests throughout the day.</a:t>
            </a:r>
            <a:endParaRPr lang="en-US" sz="1150" dirty="0"/>
          </a:p>
        </p:txBody>
      </p:sp>
      <p:sp>
        <p:nvSpPr>
          <p:cNvPr id="18" name="Shape 16"/>
          <p:cNvSpPr/>
          <p:nvPr/>
        </p:nvSpPr>
        <p:spPr>
          <a:xfrm>
            <a:off x="4800600" y="3794760"/>
            <a:ext cx="3794760" cy="45720"/>
          </a:xfrm>
          <a:prstGeom prst="rect">
            <a:avLst/>
          </a:prstGeom>
          <a:solidFill>
            <a:srgbClr val="F7C600"/>
          </a:solidFill>
          <a:ln w="12700">
            <a:solidFill>
              <a:srgbClr val="F7C600"/>
            </a:solidFill>
            <a:prstDash val="solid"/>
          </a:ln>
        </p:spPr>
      </p:sp>
      <p:sp>
        <p:nvSpPr>
          <p:cNvPr id="19" name="Text 17"/>
          <p:cNvSpPr/>
          <p:nvPr/>
        </p:nvSpPr>
        <p:spPr>
          <a:xfrm>
            <a:off x="4846320" y="3886200"/>
            <a:ext cx="3657600" cy="320040"/>
          </a:xfrm>
          <a:prstGeom prst="rect">
            <a:avLst/>
          </a:prstGeom>
          <a:noFill/>
          <a:ln/>
        </p:spPr>
        <p:txBody>
          <a:bodyPr wrap="square" rtlCol="0" anchor="ctr"/>
          <a:lstStyle/>
          <a:p>
            <a:pPr indent="0" marL="0">
              <a:buNone/>
            </a:pPr>
            <a:r>
              <a:rPr lang="en-US" sz="1300" b="1" dirty="0">
                <a:solidFill>
                  <a:srgbClr val="F7C600"/>
                </a:solidFill>
                <a:latin typeface="Arial Black" pitchFamily="34" charset="0"/>
                <a:ea typeface="Arial Black" pitchFamily="34" charset="-122"/>
                <a:cs typeface="Arial Black" pitchFamily="34" charset="-120"/>
              </a:rPr>
              <a:t>🚗 Trip Behavior</a:t>
            </a:r>
            <a:endParaRPr lang="en-US" sz="1300" dirty="0"/>
          </a:p>
        </p:txBody>
      </p:sp>
      <p:sp>
        <p:nvSpPr>
          <p:cNvPr id="20" name="Text 18"/>
          <p:cNvSpPr/>
          <p:nvPr/>
        </p:nvSpPr>
        <p:spPr>
          <a:xfrm>
            <a:off x="4846320" y="4178808"/>
            <a:ext cx="3657600" cy="50292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Patterns in duration, distance, and payment types that dictate profitability.</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D2D2D"/>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7C600"/>
          </a:solidFill>
          <a:ln w="12700">
            <a:solidFill>
              <a:srgbClr val="F7C600"/>
            </a:solidFill>
            <a:prstDash val="solid"/>
          </a:ln>
        </p:spPr>
      </p:sp>
      <p:sp>
        <p:nvSpPr>
          <p:cNvPr id="3" name="Shape 1"/>
          <p:cNvSpPr/>
          <p:nvPr/>
        </p:nvSpPr>
        <p:spPr>
          <a:xfrm>
            <a:off x="0" y="5070348"/>
            <a:ext cx="9144000" cy="73152"/>
          </a:xfrm>
          <a:prstGeom prst="rect">
            <a:avLst/>
          </a:prstGeom>
          <a:solidFill>
            <a:srgbClr val="F7C600"/>
          </a:solidFill>
          <a:ln w="12700">
            <a:solidFill>
              <a:srgbClr val="F7C600"/>
            </a:solidFill>
            <a:prstDash val="solid"/>
          </a:ln>
        </p:spPr>
      </p:sp>
      <p:sp>
        <p:nvSpPr>
          <p:cNvPr id="4" name="Text 2"/>
          <p:cNvSpPr/>
          <p:nvPr/>
        </p:nvSpPr>
        <p:spPr>
          <a:xfrm>
            <a:off x="457200" y="182880"/>
            <a:ext cx="8229600" cy="640080"/>
          </a:xfrm>
          <a:prstGeom prst="rect">
            <a:avLst/>
          </a:prstGeom>
          <a:noFill/>
          <a:ln/>
        </p:spPr>
        <p:txBody>
          <a:bodyPr wrap="square" rtlCol="0" anchor="ctr"/>
          <a:lstStyle/>
          <a:p>
            <a:pPr indent="0" marL="0">
              <a:buNone/>
            </a:pPr>
            <a:r>
              <a:rPr lang="en-US" sz="2800" b="1" dirty="0">
                <a:solidFill>
                  <a:srgbClr val="F7C600"/>
                </a:solidFill>
                <a:latin typeface="Arial Black" pitchFamily="34" charset="0"/>
                <a:ea typeface="Arial Black" pitchFamily="34" charset="-122"/>
                <a:cs typeface="Arial Black" pitchFamily="34" charset="-120"/>
              </a:rPr>
              <a:t>Data Collection &amp; Executive Summary</a:t>
            </a:r>
            <a:endParaRPr lang="en-US" sz="2800" dirty="0"/>
          </a:p>
        </p:txBody>
      </p:sp>
      <p:sp>
        <p:nvSpPr>
          <p:cNvPr id="5" name="Shape 3"/>
          <p:cNvSpPr/>
          <p:nvPr/>
        </p:nvSpPr>
        <p:spPr>
          <a:xfrm>
            <a:off x="365760" y="1143000"/>
            <a:ext cx="1920240" cy="1188720"/>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6" name="Shape 4"/>
          <p:cNvSpPr/>
          <p:nvPr/>
        </p:nvSpPr>
        <p:spPr>
          <a:xfrm>
            <a:off x="365760" y="1143000"/>
            <a:ext cx="1920240" cy="64008"/>
          </a:xfrm>
          <a:prstGeom prst="rect">
            <a:avLst/>
          </a:prstGeom>
          <a:solidFill>
            <a:srgbClr val="F7C600"/>
          </a:solidFill>
          <a:ln w="12700">
            <a:solidFill>
              <a:srgbClr val="F7C600"/>
            </a:solidFill>
            <a:prstDash val="solid"/>
          </a:ln>
        </p:spPr>
      </p:sp>
      <p:sp>
        <p:nvSpPr>
          <p:cNvPr id="7" name="Text 5"/>
          <p:cNvSpPr/>
          <p:nvPr/>
        </p:nvSpPr>
        <p:spPr>
          <a:xfrm>
            <a:off x="365760" y="1234440"/>
            <a:ext cx="1920240" cy="640080"/>
          </a:xfrm>
          <a:prstGeom prst="rect">
            <a:avLst/>
          </a:prstGeom>
          <a:noFill/>
          <a:ln/>
        </p:spPr>
        <p:txBody>
          <a:bodyPr wrap="square" rtlCol="0" anchor="ctr"/>
          <a:lstStyle/>
          <a:p>
            <a:pPr algn="ctr" indent="0" marL="0">
              <a:buNone/>
            </a:pPr>
            <a:r>
              <a:rPr lang="en-US" sz="2600" b="1" dirty="0">
                <a:solidFill>
                  <a:srgbClr val="F7C600"/>
                </a:solidFill>
                <a:latin typeface="Arial Black" pitchFamily="34" charset="0"/>
                <a:ea typeface="Arial Black" pitchFamily="34" charset="-122"/>
                <a:cs typeface="Arial Black" pitchFamily="34" charset="-120"/>
              </a:rPr>
              <a:t>50,000+</a:t>
            </a:r>
            <a:endParaRPr lang="en-US" sz="2600" dirty="0"/>
          </a:p>
        </p:txBody>
      </p:sp>
      <p:sp>
        <p:nvSpPr>
          <p:cNvPr id="8" name="Text 6"/>
          <p:cNvSpPr/>
          <p:nvPr/>
        </p:nvSpPr>
        <p:spPr>
          <a:xfrm>
            <a:off x="365760" y="1828800"/>
            <a:ext cx="1920240" cy="365760"/>
          </a:xfrm>
          <a:prstGeom prst="rect">
            <a:avLst/>
          </a:prstGeom>
          <a:noFill/>
          <a:ln/>
        </p:spPr>
        <p:txBody>
          <a:bodyPr wrap="square" rtlCol="0" anchor="ctr"/>
          <a:lstStyle/>
          <a:p>
            <a:pPr algn="ctr" indent="0" marL="0">
              <a:buNone/>
            </a:pPr>
            <a:r>
              <a:rPr lang="en-US" sz="1100" dirty="0">
                <a:solidFill>
                  <a:srgbClr val="B0B0B0"/>
                </a:solidFill>
                <a:latin typeface="Calibri" pitchFamily="34" charset="0"/>
                <a:ea typeface="Calibri" pitchFamily="34" charset="-122"/>
                <a:cs typeface="Calibri" pitchFamily="34" charset="-120"/>
              </a:rPr>
              <a:t>Trip Records</a:t>
            </a:r>
            <a:endParaRPr lang="en-US" sz="1100" dirty="0"/>
          </a:p>
        </p:txBody>
      </p:sp>
      <p:sp>
        <p:nvSpPr>
          <p:cNvPr id="9" name="Shape 7"/>
          <p:cNvSpPr/>
          <p:nvPr/>
        </p:nvSpPr>
        <p:spPr>
          <a:xfrm>
            <a:off x="2468880" y="1143000"/>
            <a:ext cx="1920240" cy="1188720"/>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10" name="Shape 8"/>
          <p:cNvSpPr/>
          <p:nvPr/>
        </p:nvSpPr>
        <p:spPr>
          <a:xfrm>
            <a:off x="2468880" y="1143000"/>
            <a:ext cx="1920240" cy="64008"/>
          </a:xfrm>
          <a:prstGeom prst="rect">
            <a:avLst/>
          </a:prstGeom>
          <a:solidFill>
            <a:srgbClr val="F7C600"/>
          </a:solidFill>
          <a:ln w="12700">
            <a:solidFill>
              <a:srgbClr val="F7C600"/>
            </a:solidFill>
            <a:prstDash val="solid"/>
          </a:ln>
        </p:spPr>
      </p:sp>
      <p:sp>
        <p:nvSpPr>
          <p:cNvPr id="11" name="Text 9"/>
          <p:cNvSpPr/>
          <p:nvPr/>
        </p:nvSpPr>
        <p:spPr>
          <a:xfrm>
            <a:off x="2468880" y="1234440"/>
            <a:ext cx="1920240" cy="640080"/>
          </a:xfrm>
          <a:prstGeom prst="rect">
            <a:avLst/>
          </a:prstGeom>
          <a:noFill/>
          <a:ln/>
        </p:spPr>
        <p:txBody>
          <a:bodyPr wrap="square" rtlCol="0" anchor="ctr"/>
          <a:lstStyle/>
          <a:p>
            <a:pPr algn="ctr" indent="0" marL="0">
              <a:buNone/>
            </a:pPr>
            <a:r>
              <a:rPr lang="en-US" sz="2600" b="1" dirty="0">
                <a:solidFill>
                  <a:srgbClr val="F7C600"/>
                </a:solidFill>
                <a:latin typeface="Arial Black" pitchFamily="34" charset="0"/>
                <a:ea typeface="Arial Black" pitchFamily="34" charset="-122"/>
                <a:cs typeface="Arial Black" pitchFamily="34" charset="-120"/>
              </a:rPr>
              <a:t>3</a:t>
            </a:r>
            <a:endParaRPr lang="en-US" sz="2600" dirty="0"/>
          </a:p>
        </p:txBody>
      </p:sp>
      <p:sp>
        <p:nvSpPr>
          <p:cNvPr id="12" name="Text 10"/>
          <p:cNvSpPr/>
          <p:nvPr/>
        </p:nvSpPr>
        <p:spPr>
          <a:xfrm>
            <a:off x="2468880" y="1828800"/>
            <a:ext cx="1920240" cy="365760"/>
          </a:xfrm>
          <a:prstGeom prst="rect">
            <a:avLst/>
          </a:prstGeom>
          <a:noFill/>
          <a:ln/>
        </p:spPr>
        <p:txBody>
          <a:bodyPr wrap="square" rtlCol="0" anchor="ctr"/>
          <a:lstStyle/>
          <a:p>
            <a:pPr algn="ctr" indent="0" marL="0">
              <a:buNone/>
            </a:pPr>
            <a:r>
              <a:rPr lang="en-US" sz="1100" dirty="0">
                <a:solidFill>
                  <a:srgbClr val="B0B0B0"/>
                </a:solidFill>
                <a:latin typeface="Calibri" pitchFamily="34" charset="0"/>
                <a:ea typeface="Calibri" pitchFamily="34" charset="-122"/>
                <a:cs typeface="Calibri" pitchFamily="34" charset="-120"/>
              </a:rPr>
              <a:t>Taxi Vendors</a:t>
            </a:r>
            <a:endParaRPr lang="en-US" sz="1100" dirty="0"/>
          </a:p>
        </p:txBody>
      </p:sp>
      <p:sp>
        <p:nvSpPr>
          <p:cNvPr id="13" name="Shape 11"/>
          <p:cNvSpPr/>
          <p:nvPr/>
        </p:nvSpPr>
        <p:spPr>
          <a:xfrm>
            <a:off x="4572000" y="1143000"/>
            <a:ext cx="1920240" cy="1188720"/>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14" name="Shape 12"/>
          <p:cNvSpPr/>
          <p:nvPr/>
        </p:nvSpPr>
        <p:spPr>
          <a:xfrm>
            <a:off x="4572000" y="1143000"/>
            <a:ext cx="1920240" cy="64008"/>
          </a:xfrm>
          <a:prstGeom prst="rect">
            <a:avLst/>
          </a:prstGeom>
          <a:solidFill>
            <a:srgbClr val="F7C600"/>
          </a:solidFill>
          <a:ln w="12700">
            <a:solidFill>
              <a:srgbClr val="F7C600"/>
            </a:solidFill>
            <a:prstDash val="solid"/>
          </a:ln>
        </p:spPr>
      </p:sp>
      <p:sp>
        <p:nvSpPr>
          <p:cNvPr id="15" name="Text 13"/>
          <p:cNvSpPr/>
          <p:nvPr/>
        </p:nvSpPr>
        <p:spPr>
          <a:xfrm>
            <a:off x="4572000" y="1234440"/>
            <a:ext cx="1920240" cy="640080"/>
          </a:xfrm>
          <a:prstGeom prst="rect">
            <a:avLst/>
          </a:prstGeom>
          <a:noFill/>
          <a:ln/>
        </p:spPr>
        <p:txBody>
          <a:bodyPr wrap="square" rtlCol="0" anchor="ctr"/>
          <a:lstStyle/>
          <a:p>
            <a:pPr algn="ctr" indent="0" marL="0">
              <a:buNone/>
            </a:pPr>
            <a:r>
              <a:rPr lang="en-US" sz="2600" b="1" dirty="0">
                <a:solidFill>
                  <a:srgbClr val="F7C600"/>
                </a:solidFill>
                <a:latin typeface="Arial Black" pitchFamily="34" charset="0"/>
                <a:ea typeface="Arial Black" pitchFamily="34" charset="-122"/>
                <a:cs typeface="Arial Black" pitchFamily="34" charset="-120"/>
              </a:rPr>
              <a:t>Multiple</a:t>
            </a:r>
            <a:endParaRPr lang="en-US" sz="2600" dirty="0"/>
          </a:p>
        </p:txBody>
      </p:sp>
      <p:sp>
        <p:nvSpPr>
          <p:cNvPr id="16" name="Text 14"/>
          <p:cNvSpPr/>
          <p:nvPr/>
        </p:nvSpPr>
        <p:spPr>
          <a:xfrm>
            <a:off x="4572000" y="1828800"/>
            <a:ext cx="1920240" cy="365760"/>
          </a:xfrm>
          <a:prstGeom prst="rect">
            <a:avLst/>
          </a:prstGeom>
          <a:noFill/>
          <a:ln/>
        </p:spPr>
        <p:txBody>
          <a:bodyPr wrap="square" rtlCol="0" anchor="ctr"/>
          <a:lstStyle/>
          <a:p>
            <a:pPr algn="ctr" indent="0" marL="0">
              <a:buNone/>
            </a:pPr>
            <a:r>
              <a:rPr lang="en-US" sz="1100" dirty="0">
                <a:solidFill>
                  <a:srgbClr val="B0B0B0"/>
                </a:solidFill>
                <a:latin typeface="Calibri" pitchFamily="34" charset="0"/>
                <a:ea typeface="Calibri" pitchFamily="34" charset="-122"/>
                <a:cs typeface="Calibri" pitchFamily="34" charset="-120"/>
              </a:rPr>
              <a:t>Data Sources</a:t>
            </a:r>
            <a:endParaRPr lang="en-US" sz="1100" dirty="0"/>
          </a:p>
        </p:txBody>
      </p:sp>
      <p:sp>
        <p:nvSpPr>
          <p:cNvPr id="17" name="Shape 15"/>
          <p:cNvSpPr/>
          <p:nvPr/>
        </p:nvSpPr>
        <p:spPr>
          <a:xfrm>
            <a:off x="6675120" y="1143000"/>
            <a:ext cx="1920240" cy="1188720"/>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18" name="Shape 16"/>
          <p:cNvSpPr/>
          <p:nvPr/>
        </p:nvSpPr>
        <p:spPr>
          <a:xfrm>
            <a:off x="6675120" y="1143000"/>
            <a:ext cx="1920240" cy="64008"/>
          </a:xfrm>
          <a:prstGeom prst="rect">
            <a:avLst/>
          </a:prstGeom>
          <a:solidFill>
            <a:srgbClr val="F7C600"/>
          </a:solidFill>
          <a:ln w="12700">
            <a:solidFill>
              <a:srgbClr val="F7C600"/>
            </a:solidFill>
            <a:prstDash val="solid"/>
          </a:ln>
        </p:spPr>
      </p:sp>
      <p:sp>
        <p:nvSpPr>
          <p:cNvPr id="19" name="Text 17"/>
          <p:cNvSpPr/>
          <p:nvPr/>
        </p:nvSpPr>
        <p:spPr>
          <a:xfrm>
            <a:off x="6675120" y="1234440"/>
            <a:ext cx="1920240" cy="640080"/>
          </a:xfrm>
          <a:prstGeom prst="rect">
            <a:avLst/>
          </a:prstGeom>
          <a:noFill/>
          <a:ln/>
        </p:spPr>
        <p:txBody>
          <a:bodyPr wrap="square" rtlCol="0" anchor="ctr"/>
          <a:lstStyle/>
          <a:p>
            <a:pPr algn="ctr" indent="0" marL="0">
              <a:buNone/>
            </a:pPr>
            <a:r>
              <a:rPr lang="en-US" sz="2600" b="1" dirty="0">
                <a:solidFill>
                  <a:srgbClr val="F7C600"/>
                </a:solidFill>
                <a:latin typeface="Arial Black" pitchFamily="34" charset="0"/>
                <a:ea typeface="Arial Black" pitchFamily="34" charset="-122"/>
                <a:cs typeface="Arial Black" pitchFamily="34" charset="-120"/>
              </a:rPr>
              <a:t>NYC</a:t>
            </a:r>
            <a:endParaRPr lang="en-US" sz="2600" dirty="0"/>
          </a:p>
        </p:txBody>
      </p:sp>
      <p:sp>
        <p:nvSpPr>
          <p:cNvPr id="20" name="Text 18"/>
          <p:cNvSpPr/>
          <p:nvPr/>
        </p:nvSpPr>
        <p:spPr>
          <a:xfrm>
            <a:off x="6675120" y="1828800"/>
            <a:ext cx="1920240" cy="365760"/>
          </a:xfrm>
          <a:prstGeom prst="rect">
            <a:avLst/>
          </a:prstGeom>
          <a:noFill/>
          <a:ln/>
        </p:spPr>
        <p:txBody>
          <a:bodyPr wrap="square" rtlCol="0" anchor="ctr"/>
          <a:lstStyle/>
          <a:p>
            <a:pPr algn="ctr" indent="0" marL="0">
              <a:buNone/>
            </a:pPr>
            <a:r>
              <a:rPr lang="en-US" sz="1100" dirty="0">
                <a:solidFill>
                  <a:srgbClr val="B0B0B0"/>
                </a:solidFill>
                <a:latin typeface="Calibri" pitchFamily="34" charset="0"/>
                <a:ea typeface="Calibri" pitchFamily="34" charset="-122"/>
                <a:cs typeface="Calibri" pitchFamily="34" charset="-120"/>
              </a:rPr>
              <a:t>Coverage Area</a:t>
            </a:r>
            <a:endParaRPr lang="en-US" sz="1100" dirty="0"/>
          </a:p>
        </p:txBody>
      </p:sp>
      <p:sp>
        <p:nvSpPr>
          <p:cNvPr id="21" name="Shape 19"/>
          <p:cNvSpPr/>
          <p:nvPr/>
        </p:nvSpPr>
        <p:spPr>
          <a:xfrm>
            <a:off x="365760" y="2514600"/>
            <a:ext cx="4023360" cy="2286000"/>
          </a:xfrm>
          <a:prstGeom prst="rect">
            <a:avLst/>
          </a:prstGeom>
          <a:solidFill>
            <a:srgbClr val="3D3D3D"/>
          </a:solidFill>
          <a:ln w="12700">
            <a:solidFill>
              <a:srgbClr val="3D3D3D"/>
            </a:solidFill>
            <a:prstDash val="solid"/>
          </a:ln>
          <a:effectLst>
            <a:outerShdw sx="100000" sy="100000" kx="0" ky="0" algn="bl" rotWithShape="0" blurRad="101600" dist="38100" dir="8100000">
              <a:srgbClr val="000000">
                <a:alpha val="30000"/>
              </a:srgbClr>
            </a:outerShdw>
          </a:effectLst>
        </p:spPr>
      </p:sp>
      <p:sp>
        <p:nvSpPr>
          <p:cNvPr id="22" name="Shape 20"/>
          <p:cNvSpPr/>
          <p:nvPr/>
        </p:nvSpPr>
        <p:spPr>
          <a:xfrm>
            <a:off x="4663440" y="2514600"/>
            <a:ext cx="4023360" cy="2286000"/>
          </a:xfrm>
          <a:prstGeom prst="rect">
            <a:avLst/>
          </a:prstGeom>
          <a:solidFill>
            <a:srgbClr val="3D3D3D"/>
          </a:solidFill>
          <a:ln w="12700">
            <a:solidFill>
              <a:srgbClr val="3D3D3D"/>
            </a:solidFill>
            <a:prstDash val="solid"/>
          </a:ln>
          <a:effectLst>
            <a:outerShdw sx="100000" sy="100000" kx="0" ky="0" algn="bl" rotWithShape="0" blurRad="101600" dist="38100" dir="8100000">
              <a:srgbClr val="000000">
                <a:alpha val="30000"/>
              </a:srgbClr>
            </a:outerShdw>
          </a:effectLst>
        </p:spPr>
      </p:sp>
      <p:sp>
        <p:nvSpPr>
          <p:cNvPr id="23" name="Text 21"/>
          <p:cNvSpPr/>
          <p:nvPr/>
        </p:nvSpPr>
        <p:spPr>
          <a:xfrm>
            <a:off x="548640" y="2633472"/>
            <a:ext cx="3657600" cy="365760"/>
          </a:xfrm>
          <a:prstGeom prst="rect">
            <a:avLst/>
          </a:prstGeom>
          <a:noFill/>
          <a:ln/>
        </p:spPr>
        <p:txBody>
          <a:bodyPr wrap="square" rtlCol="0" anchor="ctr"/>
          <a:lstStyle/>
          <a:p>
            <a:pPr indent="0" marL="0">
              <a:buNone/>
            </a:pPr>
            <a:r>
              <a:rPr lang="en-US" sz="1400" b="1" dirty="0">
                <a:solidFill>
                  <a:srgbClr val="F7C600"/>
                </a:solidFill>
                <a:latin typeface="Arial Black" pitchFamily="34" charset="0"/>
                <a:ea typeface="Arial Black" pitchFamily="34" charset="-122"/>
                <a:cs typeface="Arial Black" pitchFamily="34" charset="-120"/>
              </a:rPr>
              <a:t>Dataset Scope</a:t>
            </a:r>
            <a:endParaRPr lang="en-US" sz="1400" dirty="0"/>
          </a:p>
        </p:txBody>
      </p:sp>
      <p:sp>
        <p:nvSpPr>
          <p:cNvPr id="24" name="Text 22"/>
          <p:cNvSpPr/>
          <p:nvPr/>
        </p:nvSpPr>
        <p:spPr>
          <a:xfrm>
            <a:off x="548640" y="3017520"/>
            <a:ext cx="3657600" cy="1554480"/>
          </a:xfrm>
          <a:prstGeom prst="rect">
            <a:avLst/>
          </a:prstGeom>
          <a:noFill/>
          <a:ln/>
        </p:spPr>
        <p:txBody>
          <a:bodyPr wrap="square" rtlCol="0" anchor="ctr"/>
          <a:lstStyle/>
          <a:p>
            <a:pPr indent="0" marL="0">
              <a:buNone/>
            </a:pPr>
            <a:r>
              <a:rPr lang="en-US" sz="1200" dirty="0">
                <a:solidFill>
                  <a:srgbClr val="F7C600"/>
                </a:solidFill>
                <a:latin typeface="Calibri" pitchFamily="34" charset="0"/>
                <a:ea typeface="Calibri" pitchFamily="34" charset="-122"/>
                <a:cs typeface="Calibri" pitchFamily="34" charset="-120"/>
              </a:rPr>
              <a:t>• </a:t>
            </a:r>
            <a:pPr indent="0" marL="0">
              <a:buNone/>
            </a:pPr>
            <a:r>
              <a:rPr lang="en-US" sz="1200" dirty="0">
                <a:solidFill>
                  <a:srgbClr val="FFFFFF"/>
                </a:solidFill>
                <a:latin typeface="Calibri" pitchFamily="34" charset="0"/>
                <a:ea typeface="Calibri" pitchFamily="34" charset="-122"/>
                <a:cs typeface="Calibri" pitchFamily="34" charset="-120"/>
              </a:rPr>
              <a:t>50,000+ trip records from 3 distinct taxi vendors
</a:t>
            </a:r>
            <a:pPr indent="0" marL="0">
              <a:buNone/>
            </a:pPr>
            <a:r>
              <a:rPr lang="en-US" sz="1200" dirty="0">
                <a:solidFill>
                  <a:srgbClr val="F7C600"/>
                </a:solidFill>
                <a:latin typeface="Calibri" pitchFamily="34" charset="0"/>
                <a:ea typeface="Calibri" pitchFamily="34" charset="-122"/>
                <a:cs typeface="Calibri" pitchFamily="34" charset="-120"/>
              </a:rPr>
              <a:t>• </a:t>
            </a:r>
            <a:pPr indent="0" marL="0">
              <a:buNone/>
            </a:pPr>
            <a:r>
              <a:rPr lang="en-US" sz="1200" dirty="0">
                <a:solidFill>
                  <a:srgbClr val="FFFFFF"/>
                </a:solidFill>
                <a:latin typeface="Calibri" pitchFamily="34" charset="0"/>
                <a:ea typeface="Calibri" pitchFamily="34" charset="-122"/>
                <a:cs typeface="Calibri" pitchFamily="34" charset="-120"/>
              </a:rPr>
              <a:t>Temporal &amp; spatial variables: pickup/drop-off timestamps, lat/long
</a:t>
            </a:r>
            <a:pPr indent="0" marL="0">
              <a:buNone/>
            </a:pPr>
            <a:r>
              <a:rPr lang="en-US" sz="1200" dirty="0">
                <a:solidFill>
                  <a:srgbClr val="F7C600"/>
                </a:solidFill>
                <a:latin typeface="Calibri" pitchFamily="34" charset="0"/>
                <a:ea typeface="Calibri" pitchFamily="34" charset="-122"/>
                <a:cs typeface="Calibri" pitchFamily="34" charset="-120"/>
              </a:rPr>
              <a:t>• </a:t>
            </a:r>
            <a:pPr indent="0" marL="0">
              <a:buNone/>
            </a:pPr>
            <a:r>
              <a:rPr lang="en-US" sz="1200" dirty="0">
                <a:solidFill>
                  <a:srgbClr val="FFFFFF"/>
                </a:solidFill>
                <a:latin typeface="Calibri" pitchFamily="34" charset="0"/>
                <a:ea typeface="Calibri" pitchFamily="34" charset="-122"/>
                <a:cs typeface="Calibri" pitchFamily="34" charset="-120"/>
              </a:rPr>
              <a:t>Coordinates mapped to specific NYC neighborhoods
</a:t>
            </a:r>
            <a:pPr indent="0" marL="0">
              <a:buNone/>
            </a:pPr>
            <a:r>
              <a:rPr lang="en-US" sz="1200" dirty="0">
                <a:solidFill>
                  <a:srgbClr val="F7C600"/>
                </a:solidFill>
                <a:latin typeface="Calibri" pitchFamily="34" charset="0"/>
                <a:ea typeface="Calibri" pitchFamily="34" charset="-122"/>
                <a:cs typeface="Calibri" pitchFamily="34" charset="-120"/>
              </a:rPr>
              <a:t>• </a:t>
            </a:r>
            <a:pPr indent="0" marL="0">
              <a:buNone/>
            </a:pPr>
            <a:r>
              <a:rPr lang="en-US" sz="1200" dirty="0">
                <a:solidFill>
                  <a:srgbClr val="FFFFFF"/>
                </a:solidFill>
                <a:latin typeface="Calibri" pitchFamily="34" charset="0"/>
                <a:ea typeface="Calibri" pitchFamily="34" charset="-122"/>
                <a:cs typeface="Calibri" pitchFamily="34" charset="-120"/>
              </a:rPr>
              <a:t>Dataset source: Kaggle NYC Taxi Trip Duration</a:t>
            </a:r>
            <a:endParaRPr lang="en-US" sz="1200" dirty="0"/>
          </a:p>
        </p:txBody>
      </p:sp>
      <p:sp>
        <p:nvSpPr>
          <p:cNvPr id="25" name="Text 23"/>
          <p:cNvSpPr/>
          <p:nvPr/>
        </p:nvSpPr>
        <p:spPr>
          <a:xfrm>
            <a:off x="4846320" y="2633472"/>
            <a:ext cx="3657600" cy="365760"/>
          </a:xfrm>
          <a:prstGeom prst="rect">
            <a:avLst/>
          </a:prstGeom>
          <a:noFill/>
          <a:ln/>
        </p:spPr>
        <p:txBody>
          <a:bodyPr wrap="square" rtlCol="0" anchor="ctr"/>
          <a:lstStyle/>
          <a:p>
            <a:pPr indent="0" marL="0">
              <a:buNone/>
            </a:pPr>
            <a:r>
              <a:rPr lang="en-US" sz="1400" b="1" dirty="0">
                <a:solidFill>
                  <a:srgbClr val="F7C600"/>
                </a:solidFill>
                <a:latin typeface="Arial Black" pitchFamily="34" charset="0"/>
                <a:ea typeface="Arial Black" pitchFamily="34" charset="-122"/>
                <a:cs typeface="Arial Black" pitchFamily="34" charset="-120"/>
              </a:rPr>
              <a:t>Operational Metrics</a:t>
            </a:r>
            <a:endParaRPr lang="en-US" sz="1400" dirty="0"/>
          </a:p>
        </p:txBody>
      </p:sp>
      <p:sp>
        <p:nvSpPr>
          <p:cNvPr id="26" name="Text 24"/>
          <p:cNvSpPr/>
          <p:nvPr/>
        </p:nvSpPr>
        <p:spPr>
          <a:xfrm>
            <a:off x="4846320" y="3017520"/>
            <a:ext cx="3657600" cy="1554480"/>
          </a:xfrm>
          <a:prstGeom prst="rect">
            <a:avLst/>
          </a:prstGeom>
          <a:noFill/>
          <a:ln/>
        </p:spPr>
        <p:txBody>
          <a:bodyPr wrap="square" rtlCol="0" anchor="ctr"/>
          <a:lstStyle/>
          <a:p>
            <a:pPr indent="0" marL="0">
              <a:buNone/>
            </a:pPr>
            <a:r>
              <a:rPr lang="en-US" sz="1200" dirty="0">
                <a:solidFill>
                  <a:srgbClr val="F7C600"/>
                </a:solidFill>
                <a:latin typeface="Calibri" pitchFamily="34" charset="0"/>
                <a:ea typeface="Calibri" pitchFamily="34" charset="-122"/>
                <a:cs typeface="Calibri" pitchFamily="34" charset="-120"/>
              </a:rPr>
              <a:t>• </a:t>
            </a:r>
            <a:pPr indent="0" marL="0">
              <a:buNone/>
            </a:pPr>
            <a:r>
              <a:rPr lang="en-US" sz="1200" dirty="0">
                <a:solidFill>
                  <a:srgbClr val="FFFFFF"/>
                </a:solidFill>
                <a:latin typeface="Calibri" pitchFamily="34" charset="0"/>
                <a:ea typeface="Calibri" pitchFamily="34" charset="-122"/>
                <a:cs typeface="Calibri" pitchFamily="34" charset="-120"/>
              </a:rPr>
              <a:t>Passenger counts, trip distances (miles), payment types
</a:t>
            </a:r>
            <a:pPr indent="0" marL="0">
              <a:buNone/>
            </a:pPr>
            <a:r>
              <a:rPr lang="en-US" sz="1200" dirty="0">
                <a:solidFill>
                  <a:srgbClr val="F7C600"/>
                </a:solidFill>
                <a:latin typeface="Calibri" pitchFamily="34" charset="0"/>
                <a:ea typeface="Calibri" pitchFamily="34" charset="-122"/>
                <a:cs typeface="Calibri" pitchFamily="34" charset="-120"/>
              </a:rPr>
              <a:t>• </a:t>
            </a:r>
            <a:pPr indent="0" marL="0">
              <a:buNone/>
            </a:pPr>
            <a:r>
              <a:rPr lang="en-US" sz="1200" dirty="0">
                <a:solidFill>
                  <a:srgbClr val="FFFFFF"/>
                </a:solidFill>
                <a:latin typeface="Calibri" pitchFamily="34" charset="0"/>
                <a:ea typeface="Calibri" pitchFamily="34" charset="-122"/>
                <a:cs typeface="Calibri" pitchFamily="34" charset="-120"/>
              </a:rPr>
              <a:t>Primary objective: Model trip_duration as target variable
</a:t>
            </a:r>
            <a:pPr indent="0" marL="0">
              <a:buNone/>
            </a:pPr>
            <a:r>
              <a:rPr lang="en-US" sz="1200" dirty="0">
                <a:solidFill>
                  <a:srgbClr val="F7C600"/>
                </a:solidFill>
                <a:latin typeface="Calibri" pitchFamily="34" charset="0"/>
                <a:ea typeface="Calibri" pitchFamily="34" charset="-122"/>
                <a:cs typeface="Calibri" pitchFamily="34" charset="-120"/>
              </a:rPr>
              <a:t>• </a:t>
            </a:r>
            <a:pPr indent="0" marL="0">
              <a:buNone/>
            </a:pPr>
            <a:r>
              <a:rPr lang="en-US" sz="1200" dirty="0">
                <a:solidFill>
                  <a:srgbClr val="FFFFFF"/>
                </a:solidFill>
                <a:latin typeface="Calibri" pitchFamily="34" charset="0"/>
                <a:ea typeface="Calibri" pitchFamily="34" charset="-122"/>
                <a:cs typeface="Calibri" pitchFamily="34" charset="-120"/>
              </a:rPr>
              <a:t>Optimize vehicle dispatching &amp; predict fleet availability
</a:t>
            </a:r>
            <a:pPr indent="0" marL="0">
              <a:buNone/>
            </a:pPr>
            <a:r>
              <a:rPr lang="en-US" sz="1200" dirty="0">
                <a:solidFill>
                  <a:srgbClr val="F7C600"/>
                </a:solidFill>
                <a:latin typeface="Calibri" pitchFamily="34" charset="0"/>
                <a:ea typeface="Calibri" pitchFamily="34" charset="-122"/>
                <a:cs typeface="Calibri" pitchFamily="34" charset="-120"/>
              </a:rPr>
              <a:t>• </a:t>
            </a:r>
            <a:pPr indent="0" marL="0">
              <a:buNone/>
            </a:pPr>
            <a:r>
              <a:rPr lang="en-US" sz="1200" dirty="0">
                <a:solidFill>
                  <a:srgbClr val="FFFFFF"/>
                </a:solidFill>
                <a:latin typeface="Calibri" pitchFamily="34" charset="0"/>
                <a:ea typeface="Calibri" pitchFamily="34" charset="-122"/>
                <a:cs typeface="Calibri" pitchFamily="34" charset="-120"/>
              </a:rPr>
              <a:t>Minimize idle time &amp; improve taxi assignment efficiency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D2D2D"/>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7C600"/>
          </a:solidFill>
          <a:ln w="12700">
            <a:solidFill>
              <a:srgbClr val="F7C600"/>
            </a:solidFill>
            <a:prstDash val="solid"/>
          </a:ln>
        </p:spPr>
      </p:sp>
      <p:sp>
        <p:nvSpPr>
          <p:cNvPr id="3" name="Shape 1"/>
          <p:cNvSpPr/>
          <p:nvPr/>
        </p:nvSpPr>
        <p:spPr>
          <a:xfrm>
            <a:off x="0" y="5070348"/>
            <a:ext cx="9144000" cy="73152"/>
          </a:xfrm>
          <a:prstGeom prst="rect">
            <a:avLst/>
          </a:prstGeom>
          <a:solidFill>
            <a:srgbClr val="F7C600"/>
          </a:solidFill>
          <a:ln w="12700">
            <a:solidFill>
              <a:srgbClr val="F7C600"/>
            </a:solidFill>
            <a:prstDash val="solid"/>
          </a:ln>
        </p:spPr>
      </p:sp>
      <p:sp>
        <p:nvSpPr>
          <p:cNvPr id="4" name="Text 2"/>
          <p:cNvSpPr/>
          <p:nvPr/>
        </p:nvSpPr>
        <p:spPr>
          <a:xfrm>
            <a:off x="457200" y="182880"/>
            <a:ext cx="8229600" cy="640080"/>
          </a:xfrm>
          <a:prstGeom prst="rect">
            <a:avLst/>
          </a:prstGeom>
          <a:noFill/>
          <a:ln/>
        </p:spPr>
        <p:txBody>
          <a:bodyPr wrap="square" rtlCol="0" anchor="ctr"/>
          <a:lstStyle/>
          <a:p>
            <a:pPr indent="0" marL="0">
              <a:buNone/>
            </a:pPr>
            <a:r>
              <a:rPr lang="en-US" sz="2800" b="1" dirty="0">
                <a:solidFill>
                  <a:srgbClr val="F7C600"/>
                </a:solidFill>
                <a:latin typeface="Arial Black" pitchFamily="34" charset="0"/>
                <a:ea typeface="Arial Black" pitchFamily="34" charset="-122"/>
                <a:cs typeface="Arial Black" pitchFamily="34" charset="-120"/>
              </a:rPr>
              <a:t>Data Architecture — Star Schema</a:t>
            </a:r>
            <a:endParaRPr lang="en-US" sz="2800" dirty="0"/>
          </a:p>
        </p:txBody>
      </p:sp>
      <p:sp>
        <p:nvSpPr>
          <p:cNvPr id="5" name="Shape 3"/>
          <p:cNvSpPr/>
          <p:nvPr/>
        </p:nvSpPr>
        <p:spPr>
          <a:xfrm>
            <a:off x="365760" y="1143000"/>
            <a:ext cx="2560320" cy="3566160"/>
          </a:xfrm>
          <a:prstGeom prst="rect">
            <a:avLst/>
          </a:prstGeom>
          <a:solidFill>
            <a:srgbClr val="3D3D3D"/>
          </a:solidFill>
          <a:ln w="12700">
            <a:solidFill>
              <a:srgbClr val="3D3D3D"/>
            </a:solidFill>
            <a:prstDash val="solid"/>
          </a:ln>
          <a:effectLst>
            <a:outerShdw sx="100000" sy="100000" kx="0" ky="0" algn="bl" rotWithShape="0" blurRad="101600" dist="38100" dir="8100000">
              <a:srgbClr val="000000">
                <a:alpha val="30000"/>
              </a:srgbClr>
            </a:outerShdw>
          </a:effectLst>
        </p:spPr>
      </p:sp>
      <p:sp>
        <p:nvSpPr>
          <p:cNvPr id="6" name="Shape 4"/>
          <p:cNvSpPr/>
          <p:nvPr/>
        </p:nvSpPr>
        <p:spPr>
          <a:xfrm>
            <a:off x="365760" y="1143000"/>
            <a:ext cx="2560320" cy="64008"/>
          </a:xfrm>
          <a:prstGeom prst="rect">
            <a:avLst/>
          </a:prstGeom>
          <a:solidFill>
            <a:srgbClr val="F7C600"/>
          </a:solidFill>
          <a:ln w="12700">
            <a:solidFill>
              <a:srgbClr val="F7C600"/>
            </a:solidFill>
            <a:prstDash val="solid"/>
          </a:ln>
        </p:spPr>
      </p:sp>
      <p:sp>
        <p:nvSpPr>
          <p:cNvPr id="7" name="Text 5"/>
          <p:cNvSpPr/>
          <p:nvPr/>
        </p:nvSpPr>
        <p:spPr>
          <a:xfrm>
            <a:off x="457200" y="1234440"/>
            <a:ext cx="2377440" cy="411480"/>
          </a:xfrm>
          <a:prstGeom prst="rect">
            <a:avLst/>
          </a:prstGeom>
          <a:noFill/>
          <a:ln/>
        </p:spPr>
        <p:txBody>
          <a:bodyPr wrap="square" rtlCol="0" anchor="ctr"/>
          <a:lstStyle/>
          <a:p>
            <a:pPr indent="0" marL="0">
              <a:buNone/>
            </a:pPr>
            <a:r>
              <a:rPr lang="en-US" sz="1400" b="1" dirty="0">
                <a:solidFill>
                  <a:srgbClr val="F7C600"/>
                </a:solidFill>
                <a:latin typeface="Arial Black" pitchFamily="34" charset="0"/>
                <a:ea typeface="Arial Black" pitchFamily="34" charset="-122"/>
                <a:cs typeface="Arial Black" pitchFamily="34" charset="-120"/>
              </a:rPr>
              <a:t>Why Star Schema?</a:t>
            </a:r>
            <a:endParaRPr lang="en-US" sz="1400" dirty="0"/>
          </a:p>
        </p:txBody>
      </p:sp>
      <p:sp>
        <p:nvSpPr>
          <p:cNvPr id="8" name="Text 6"/>
          <p:cNvSpPr/>
          <p:nvPr/>
        </p:nvSpPr>
        <p:spPr>
          <a:xfrm>
            <a:off x="502920" y="1737360"/>
            <a:ext cx="2331720" cy="5029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Fast, scalable analytics</a:t>
            </a:r>
            <a:endParaRPr lang="en-US" sz="1200" dirty="0"/>
          </a:p>
        </p:txBody>
      </p:sp>
      <p:sp>
        <p:nvSpPr>
          <p:cNvPr id="9" name="Text 7"/>
          <p:cNvSpPr/>
          <p:nvPr/>
        </p:nvSpPr>
        <p:spPr>
          <a:xfrm>
            <a:off x="502920" y="2377440"/>
            <a:ext cx="2331720" cy="5029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Simplifies complex queries</a:t>
            </a:r>
            <a:endParaRPr lang="en-US" sz="1200" dirty="0"/>
          </a:p>
        </p:txBody>
      </p:sp>
      <p:sp>
        <p:nvSpPr>
          <p:cNvPr id="10" name="Text 8"/>
          <p:cNvSpPr/>
          <p:nvPr/>
        </p:nvSpPr>
        <p:spPr>
          <a:xfrm>
            <a:off x="502920" y="3017520"/>
            <a:ext cx="2331720" cy="5029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Flexible slicing &amp; dicing for BI</a:t>
            </a:r>
            <a:endParaRPr lang="en-US" sz="1200" dirty="0"/>
          </a:p>
        </p:txBody>
      </p:sp>
      <p:sp>
        <p:nvSpPr>
          <p:cNvPr id="11" name="Text 9"/>
          <p:cNvSpPr/>
          <p:nvPr/>
        </p:nvSpPr>
        <p:spPr>
          <a:xfrm>
            <a:off x="502920" y="3657600"/>
            <a:ext cx="2331720" cy="5029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Optimized for reporting tools</a:t>
            </a:r>
            <a:endParaRPr lang="en-US" sz="1200" dirty="0"/>
          </a:p>
        </p:txBody>
      </p:sp>
      <p:sp>
        <p:nvSpPr>
          <p:cNvPr id="12" name="Shape 10"/>
          <p:cNvSpPr/>
          <p:nvPr/>
        </p:nvSpPr>
        <p:spPr>
          <a:xfrm>
            <a:off x="3200400" y="1143000"/>
            <a:ext cx="5577840" cy="3566160"/>
          </a:xfrm>
          <a:prstGeom prst="rect">
            <a:avLst/>
          </a:prstGeom>
          <a:solidFill>
            <a:srgbClr val="232323"/>
          </a:solidFill>
          <a:ln w="12700">
            <a:solidFill>
              <a:srgbClr val="232323"/>
            </a:solidFill>
            <a:prstDash val="solid"/>
          </a:ln>
          <a:effectLst>
            <a:outerShdw sx="100000" sy="100000" kx="0" ky="0" algn="bl" rotWithShape="0" blurRad="101600" dist="38100" dir="8100000">
              <a:srgbClr val="000000">
                <a:alpha val="30000"/>
              </a:srgbClr>
            </a:outerShdw>
          </a:effectLst>
        </p:spPr>
      </p:sp>
      <p:sp>
        <p:nvSpPr>
          <p:cNvPr id="13" name="Text 11"/>
          <p:cNvSpPr/>
          <p:nvPr/>
        </p:nvSpPr>
        <p:spPr>
          <a:xfrm>
            <a:off x="3291840" y="1188720"/>
            <a:ext cx="5394960" cy="365760"/>
          </a:xfrm>
          <a:prstGeom prst="rect">
            <a:avLst/>
          </a:prstGeom>
          <a:noFill/>
          <a:ln/>
        </p:spPr>
        <p:txBody>
          <a:bodyPr wrap="square" rtlCol="0" anchor="ctr"/>
          <a:lstStyle/>
          <a:p>
            <a:pPr algn="ctr" indent="0" marL="0">
              <a:buNone/>
            </a:pPr>
            <a:r>
              <a:rPr lang="en-US" sz="1200" i="1" dirty="0">
                <a:solidFill>
                  <a:srgbClr val="B0B0B0"/>
                </a:solidFill>
                <a:latin typeface="Calibri" pitchFamily="34" charset="0"/>
                <a:ea typeface="Calibri" pitchFamily="34" charset="-122"/>
                <a:cs typeface="Calibri" pitchFamily="34" charset="-120"/>
              </a:rPr>
              <a:t>⭐  Star Schema Diagram</a:t>
            </a:r>
            <a:endParaRPr lang="en-US" sz="1200" dirty="0"/>
          </a:p>
        </p:txBody>
      </p:sp>
      <p:sp>
        <p:nvSpPr>
          <p:cNvPr id="14" name="Shape 12"/>
          <p:cNvSpPr/>
          <p:nvPr/>
        </p:nvSpPr>
        <p:spPr>
          <a:xfrm>
            <a:off x="5257800" y="2423160"/>
            <a:ext cx="1463040" cy="822960"/>
          </a:xfrm>
          <a:prstGeom prst="rect">
            <a:avLst/>
          </a:prstGeom>
          <a:solidFill>
            <a:srgbClr val="F7C600"/>
          </a:solidFill>
          <a:ln w="12700">
            <a:solidFill>
              <a:srgbClr val="F7C600"/>
            </a:solidFill>
            <a:prstDash val="solid"/>
          </a:ln>
        </p:spPr>
      </p:sp>
      <p:sp>
        <p:nvSpPr>
          <p:cNvPr id="15" name="Text 13"/>
          <p:cNvSpPr/>
          <p:nvPr/>
        </p:nvSpPr>
        <p:spPr>
          <a:xfrm>
            <a:off x="5257800" y="2423160"/>
            <a:ext cx="1463040" cy="822960"/>
          </a:xfrm>
          <a:prstGeom prst="rect">
            <a:avLst/>
          </a:prstGeom>
          <a:noFill/>
          <a:ln/>
        </p:spPr>
        <p:txBody>
          <a:bodyPr wrap="square" rtlCol="0" anchor="ctr"/>
          <a:lstStyle/>
          <a:p>
            <a:pPr algn="ctr" indent="0" marL="0">
              <a:buNone/>
            </a:pPr>
            <a:r>
              <a:rPr lang="en-US" sz="1100" b="1" dirty="0">
                <a:solidFill>
                  <a:srgbClr val="1A1A1A"/>
                </a:solidFill>
                <a:latin typeface="Arial Black" pitchFamily="34" charset="0"/>
                <a:ea typeface="Arial Black" pitchFamily="34" charset="-122"/>
                <a:cs typeface="Arial Black" pitchFamily="34" charset="-120"/>
              </a:rPr>
              <a:t>FACT_trips</a:t>
            </a:r>
            <a:endParaRPr lang="en-US" sz="1100" dirty="0"/>
          </a:p>
        </p:txBody>
      </p:sp>
      <p:sp>
        <p:nvSpPr>
          <p:cNvPr id="16" name="Shape 14"/>
          <p:cNvSpPr/>
          <p:nvPr/>
        </p:nvSpPr>
        <p:spPr>
          <a:xfrm>
            <a:off x="5394960" y="914400"/>
            <a:ext cx="1280160" cy="502920"/>
          </a:xfrm>
          <a:prstGeom prst="rect">
            <a:avLst/>
          </a:prstGeom>
          <a:solidFill>
            <a:srgbClr val="3A3A3A"/>
          </a:solidFill>
          <a:ln w="12700">
            <a:solidFill>
              <a:srgbClr val="00A8E8"/>
            </a:solidFill>
            <a:prstDash val="solid"/>
          </a:ln>
        </p:spPr>
      </p:sp>
      <p:sp>
        <p:nvSpPr>
          <p:cNvPr id="17" name="Text 15"/>
          <p:cNvSpPr/>
          <p:nvPr/>
        </p:nvSpPr>
        <p:spPr>
          <a:xfrm>
            <a:off x="5394960" y="914400"/>
            <a:ext cx="1280160" cy="502920"/>
          </a:xfrm>
          <a:prstGeom prst="rect">
            <a:avLst/>
          </a:prstGeom>
          <a:noFill/>
          <a:ln/>
        </p:spPr>
        <p:txBody>
          <a:bodyPr wrap="square" rtlCol="0" anchor="ctr"/>
          <a:lstStyle/>
          <a:p>
            <a:pPr algn="ctr" indent="0" marL="0">
              <a:buNone/>
            </a:pPr>
            <a:r>
              <a:rPr lang="en-US" sz="1050" b="1" dirty="0">
                <a:solidFill>
                  <a:srgbClr val="00A8E8"/>
                </a:solidFill>
                <a:latin typeface="Calibri" pitchFamily="34" charset="0"/>
                <a:ea typeface="Calibri" pitchFamily="34" charset="-122"/>
                <a:cs typeface="Calibri" pitchFamily="34" charset="-120"/>
              </a:rPr>
              <a:t>DIM_Date</a:t>
            </a:r>
            <a:endParaRPr lang="en-US" sz="1050" dirty="0"/>
          </a:p>
        </p:txBody>
      </p:sp>
      <p:sp>
        <p:nvSpPr>
          <p:cNvPr id="18" name="Shape 16"/>
          <p:cNvSpPr/>
          <p:nvPr/>
        </p:nvSpPr>
        <p:spPr>
          <a:xfrm>
            <a:off x="6035040" y="1170432"/>
            <a:ext cx="-45720" cy="1682496"/>
          </a:xfrm>
          <a:prstGeom prst="line">
            <a:avLst/>
          </a:prstGeom>
          <a:noFill/>
          <a:ln w="12700">
            <a:solidFill>
              <a:srgbClr val="B0B0B0"/>
            </a:solidFill>
            <a:prstDash val="dash"/>
          </a:ln>
        </p:spPr>
      </p:sp>
      <p:sp>
        <p:nvSpPr>
          <p:cNvPr id="19" name="Shape 17"/>
          <p:cNvSpPr/>
          <p:nvPr/>
        </p:nvSpPr>
        <p:spPr>
          <a:xfrm>
            <a:off x="7178040" y="1874520"/>
            <a:ext cx="1280160" cy="502920"/>
          </a:xfrm>
          <a:prstGeom prst="rect">
            <a:avLst/>
          </a:prstGeom>
          <a:solidFill>
            <a:srgbClr val="3A3A3A"/>
          </a:solidFill>
          <a:ln w="12700">
            <a:solidFill>
              <a:srgbClr val="00A8E8"/>
            </a:solidFill>
            <a:prstDash val="solid"/>
          </a:ln>
        </p:spPr>
      </p:sp>
      <p:sp>
        <p:nvSpPr>
          <p:cNvPr id="20" name="Text 18"/>
          <p:cNvSpPr/>
          <p:nvPr/>
        </p:nvSpPr>
        <p:spPr>
          <a:xfrm>
            <a:off x="7178040" y="1874520"/>
            <a:ext cx="1280160" cy="502920"/>
          </a:xfrm>
          <a:prstGeom prst="rect">
            <a:avLst/>
          </a:prstGeom>
          <a:noFill/>
          <a:ln/>
        </p:spPr>
        <p:txBody>
          <a:bodyPr wrap="square" rtlCol="0" anchor="ctr"/>
          <a:lstStyle/>
          <a:p>
            <a:pPr algn="ctr" indent="0" marL="0">
              <a:buNone/>
            </a:pPr>
            <a:r>
              <a:rPr lang="en-US" sz="1050" b="1" dirty="0">
                <a:solidFill>
                  <a:srgbClr val="00A8E8"/>
                </a:solidFill>
                <a:latin typeface="Calibri" pitchFamily="34" charset="0"/>
                <a:ea typeface="Calibri" pitchFamily="34" charset="-122"/>
                <a:cs typeface="Calibri" pitchFamily="34" charset="-120"/>
              </a:rPr>
              <a:t>DIM_Time</a:t>
            </a:r>
            <a:endParaRPr lang="en-US" sz="1050" dirty="0"/>
          </a:p>
        </p:txBody>
      </p:sp>
      <p:sp>
        <p:nvSpPr>
          <p:cNvPr id="21" name="Shape 19"/>
          <p:cNvSpPr/>
          <p:nvPr/>
        </p:nvSpPr>
        <p:spPr>
          <a:xfrm>
            <a:off x="7818120" y="2130552"/>
            <a:ext cx="-1828800" cy="722376"/>
          </a:xfrm>
          <a:prstGeom prst="line">
            <a:avLst/>
          </a:prstGeom>
          <a:noFill/>
          <a:ln w="12700">
            <a:solidFill>
              <a:srgbClr val="B0B0B0"/>
            </a:solidFill>
            <a:prstDash val="dash"/>
          </a:ln>
        </p:spPr>
      </p:sp>
      <p:sp>
        <p:nvSpPr>
          <p:cNvPr id="22" name="Shape 20"/>
          <p:cNvSpPr/>
          <p:nvPr/>
        </p:nvSpPr>
        <p:spPr>
          <a:xfrm>
            <a:off x="7178040" y="3200400"/>
            <a:ext cx="1280160" cy="502920"/>
          </a:xfrm>
          <a:prstGeom prst="rect">
            <a:avLst/>
          </a:prstGeom>
          <a:solidFill>
            <a:srgbClr val="3A3A3A"/>
          </a:solidFill>
          <a:ln w="12700">
            <a:solidFill>
              <a:srgbClr val="00A8E8"/>
            </a:solidFill>
            <a:prstDash val="solid"/>
          </a:ln>
        </p:spPr>
      </p:sp>
      <p:sp>
        <p:nvSpPr>
          <p:cNvPr id="23" name="Text 21"/>
          <p:cNvSpPr/>
          <p:nvPr/>
        </p:nvSpPr>
        <p:spPr>
          <a:xfrm>
            <a:off x="7178040" y="3200400"/>
            <a:ext cx="1280160" cy="502920"/>
          </a:xfrm>
          <a:prstGeom prst="rect">
            <a:avLst/>
          </a:prstGeom>
          <a:noFill/>
          <a:ln/>
        </p:spPr>
        <p:txBody>
          <a:bodyPr wrap="square" rtlCol="0" anchor="ctr"/>
          <a:lstStyle/>
          <a:p>
            <a:pPr algn="ctr" indent="0" marL="0">
              <a:buNone/>
            </a:pPr>
            <a:r>
              <a:rPr lang="en-US" sz="1050" b="1" dirty="0">
                <a:solidFill>
                  <a:srgbClr val="00A8E8"/>
                </a:solidFill>
                <a:latin typeface="Calibri" pitchFamily="34" charset="0"/>
                <a:ea typeface="Calibri" pitchFamily="34" charset="-122"/>
                <a:cs typeface="Calibri" pitchFamily="34" charset="-120"/>
              </a:rPr>
              <a:t>DIM_Payment</a:t>
            </a:r>
            <a:endParaRPr lang="en-US" sz="1050" dirty="0"/>
          </a:p>
        </p:txBody>
      </p:sp>
      <p:sp>
        <p:nvSpPr>
          <p:cNvPr id="24" name="Shape 22"/>
          <p:cNvSpPr/>
          <p:nvPr/>
        </p:nvSpPr>
        <p:spPr>
          <a:xfrm>
            <a:off x="7818120" y="3456432"/>
            <a:ext cx="-1828800" cy="-603504"/>
          </a:xfrm>
          <a:prstGeom prst="line">
            <a:avLst/>
          </a:prstGeom>
          <a:noFill/>
          <a:ln w="12700">
            <a:solidFill>
              <a:srgbClr val="B0B0B0"/>
            </a:solidFill>
            <a:prstDash val="dash"/>
          </a:ln>
        </p:spPr>
      </p:sp>
      <p:sp>
        <p:nvSpPr>
          <p:cNvPr id="25" name="Shape 23"/>
          <p:cNvSpPr/>
          <p:nvPr/>
        </p:nvSpPr>
        <p:spPr>
          <a:xfrm>
            <a:off x="5394960" y="4069080"/>
            <a:ext cx="1280160" cy="502920"/>
          </a:xfrm>
          <a:prstGeom prst="rect">
            <a:avLst/>
          </a:prstGeom>
          <a:solidFill>
            <a:srgbClr val="3A3A3A"/>
          </a:solidFill>
          <a:ln w="12700">
            <a:solidFill>
              <a:srgbClr val="00A8E8"/>
            </a:solidFill>
            <a:prstDash val="solid"/>
          </a:ln>
        </p:spPr>
      </p:sp>
      <p:sp>
        <p:nvSpPr>
          <p:cNvPr id="26" name="Text 24"/>
          <p:cNvSpPr/>
          <p:nvPr/>
        </p:nvSpPr>
        <p:spPr>
          <a:xfrm>
            <a:off x="5394960" y="4069080"/>
            <a:ext cx="1280160" cy="502920"/>
          </a:xfrm>
          <a:prstGeom prst="rect">
            <a:avLst/>
          </a:prstGeom>
          <a:noFill/>
          <a:ln/>
        </p:spPr>
        <p:txBody>
          <a:bodyPr wrap="square" rtlCol="0" anchor="ctr"/>
          <a:lstStyle/>
          <a:p>
            <a:pPr algn="ctr" indent="0" marL="0">
              <a:buNone/>
            </a:pPr>
            <a:r>
              <a:rPr lang="en-US" sz="1050" b="1" dirty="0">
                <a:solidFill>
                  <a:srgbClr val="00A8E8"/>
                </a:solidFill>
                <a:latin typeface="Calibri" pitchFamily="34" charset="0"/>
                <a:ea typeface="Calibri" pitchFamily="34" charset="-122"/>
                <a:cs typeface="Calibri" pitchFamily="34" charset="-120"/>
              </a:rPr>
              <a:t>DIM_Pickups</a:t>
            </a:r>
            <a:endParaRPr lang="en-US" sz="1050" dirty="0"/>
          </a:p>
        </p:txBody>
      </p:sp>
      <p:sp>
        <p:nvSpPr>
          <p:cNvPr id="27" name="Shape 25"/>
          <p:cNvSpPr/>
          <p:nvPr/>
        </p:nvSpPr>
        <p:spPr>
          <a:xfrm>
            <a:off x="6035040" y="4325112"/>
            <a:ext cx="-45720" cy="-1472184"/>
          </a:xfrm>
          <a:prstGeom prst="line">
            <a:avLst/>
          </a:prstGeom>
          <a:noFill/>
          <a:ln w="12700">
            <a:solidFill>
              <a:srgbClr val="B0B0B0"/>
            </a:solidFill>
            <a:prstDash val="dash"/>
          </a:ln>
        </p:spPr>
      </p:sp>
      <p:sp>
        <p:nvSpPr>
          <p:cNvPr id="28" name="Shape 26"/>
          <p:cNvSpPr/>
          <p:nvPr/>
        </p:nvSpPr>
        <p:spPr>
          <a:xfrm>
            <a:off x="3566160" y="2560320"/>
            <a:ext cx="1280160" cy="502920"/>
          </a:xfrm>
          <a:prstGeom prst="rect">
            <a:avLst/>
          </a:prstGeom>
          <a:solidFill>
            <a:srgbClr val="3A3A3A"/>
          </a:solidFill>
          <a:ln w="12700">
            <a:solidFill>
              <a:srgbClr val="00A8E8"/>
            </a:solidFill>
            <a:prstDash val="solid"/>
          </a:ln>
        </p:spPr>
      </p:sp>
      <p:sp>
        <p:nvSpPr>
          <p:cNvPr id="29" name="Text 27"/>
          <p:cNvSpPr/>
          <p:nvPr/>
        </p:nvSpPr>
        <p:spPr>
          <a:xfrm>
            <a:off x="3566160" y="2560320"/>
            <a:ext cx="1280160" cy="502920"/>
          </a:xfrm>
          <a:prstGeom prst="rect">
            <a:avLst/>
          </a:prstGeom>
          <a:noFill/>
          <a:ln/>
        </p:spPr>
        <p:txBody>
          <a:bodyPr wrap="square" rtlCol="0" anchor="ctr"/>
          <a:lstStyle/>
          <a:p>
            <a:pPr algn="ctr" indent="0" marL="0">
              <a:buNone/>
            </a:pPr>
            <a:r>
              <a:rPr lang="en-US" sz="1050" b="1" dirty="0">
                <a:solidFill>
                  <a:srgbClr val="00A8E8"/>
                </a:solidFill>
                <a:latin typeface="Calibri" pitchFamily="34" charset="0"/>
                <a:ea typeface="Calibri" pitchFamily="34" charset="-122"/>
                <a:cs typeface="Calibri" pitchFamily="34" charset="-120"/>
              </a:rPr>
              <a:t>DIM_Dropoffs</a:t>
            </a:r>
            <a:endParaRPr lang="en-US" sz="1050" dirty="0"/>
          </a:p>
        </p:txBody>
      </p:sp>
      <p:sp>
        <p:nvSpPr>
          <p:cNvPr id="30" name="Shape 28"/>
          <p:cNvSpPr/>
          <p:nvPr/>
        </p:nvSpPr>
        <p:spPr>
          <a:xfrm>
            <a:off x="4206240" y="2816352"/>
            <a:ext cx="1783080" cy="36576"/>
          </a:xfrm>
          <a:prstGeom prst="line">
            <a:avLst/>
          </a:prstGeom>
          <a:noFill/>
          <a:ln w="12700">
            <a:solidFill>
              <a:srgbClr val="B0B0B0"/>
            </a:solidFill>
            <a:prstDash val="dash"/>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D2D2D"/>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7C600"/>
          </a:solidFill>
          <a:ln w="12700">
            <a:solidFill>
              <a:srgbClr val="F7C600"/>
            </a:solidFill>
            <a:prstDash val="solid"/>
          </a:ln>
        </p:spPr>
      </p:sp>
      <p:sp>
        <p:nvSpPr>
          <p:cNvPr id="3" name="Shape 1"/>
          <p:cNvSpPr/>
          <p:nvPr/>
        </p:nvSpPr>
        <p:spPr>
          <a:xfrm>
            <a:off x="0" y="5070348"/>
            <a:ext cx="9144000" cy="73152"/>
          </a:xfrm>
          <a:prstGeom prst="rect">
            <a:avLst/>
          </a:prstGeom>
          <a:solidFill>
            <a:srgbClr val="F7C600"/>
          </a:solidFill>
          <a:ln w="12700">
            <a:solidFill>
              <a:srgbClr val="F7C600"/>
            </a:solidFill>
            <a:prstDash val="solid"/>
          </a:ln>
        </p:spPr>
      </p:sp>
      <p:sp>
        <p:nvSpPr>
          <p:cNvPr id="4" name="Text 2"/>
          <p:cNvSpPr/>
          <p:nvPr/>
        </p:nvSpPr>
        <p:spPr>
          <a:xfrm>
            <a:off x="457200" y="182880"/>
            <a:ext cx="8229600" cy="640080"/>
          </a:xfrm>
          <a:prstGeom prst="rect">
            <a:avLst/>
          </a:prstGeom>
          <a:noFill/>
          <a:ln/>
        </p:spPr>
        <p:txBody>
          <a:bodyPr wrap="square" rtlCol="0" anchor="ctr"/>
          <a:lstStyle/>
          <a:p>
            <a:pPr indent="0" marL="0">
              <a:buNone/>
            </a:pPr>
            <a:r>
              <a:rPr lang="en-US" sz="2800" b="1" dirty="0">
                <a:solidFill>
                  <a:srgbClr val="F7C600"/>
                </a:solidFill>
                <a:latin typeface="Arial Black" pitchFamily="34" charset="0"/>
                <a:ea typeface="Arial Black" pitchFamily="34" charset="-122"/>
                <a:cs typeface="Arial Black" pitchFamily="34" charset="-120"/>
              </a:rPr>
              <a:t>Data Cleaning &amp; Transformation</a:t>
            </a:r>
            <a:endParaRPr lang="en-US" sz="2800" dirty="0"/>
          </a:p>
        </p:txBody>
      </p:sp>
      <p:sp>
        <p:nvSpPr>
          <p:cNvPr id="5" name="Shape 3"/>
          <p:cNvSpPr/>
          <p:nvPr/>
        </p:nvSpPr>
        <p:spPr>
          <a:xfrm>
            <a:off x="320040" y="1207008"/>
            <a:ext cx="347472" cy="347472"/>
          </a:xfrm>
          <a:prstGeom prst="ellipse">
            <a:avLst/>
          </a:prstGeom>
          <a:solidFill>
            <a:srgbClr val="F7C600"/>
          </a:solidFill>
          <a:ln w="12700">
            <a:solidFill>
              <a:srgbClr val="F7C600"/>
            </a:solidFill>
            <a:prstDash val="solid"/>
          </a:ln>
        </p:spPr>
      </p:sp>
      <p:sp>
        <p:nvSpPr>
          <p:cNvPr id="6" name="Text 4"/>
          <p:cNvSpPr/>
          <p:nvPr/>
        </p:nvSpPr>
        <p:spPr>
          <a:xfrm>
            <a:off x="320040" y="1207008"/>
            <a:ext cx="347472" cy="347472"/>
          </a:xfrm>
          <a:prstGeom prst="rect">
            <a:avLst/>
          </a:prstGeom>
          <a:noFill/>
          <a:ln/>
        </p:spPr>
        <p:txBody>
          <a:bodyPr wrap="square" rtlCol="0" anchor="ctr"/>
          <a:lstStyle/>
          <a:p>
            <a:pPr algn="ctr" indent="0" marL="0">
              <a:buNone/>
            </a:pPr>
            <a:r>
              <a:rPr lang="en-US" sz="1000" b="1" dirty="0">
                <a:solidFill>
                  <a:srgbClr val="1A1A1A"/>
                </a:solidFill>
                <a:latin typeface="Arial Black" pitchFamily="34" charset="0"/>
                <a:ea typeface="Arial Black" pitchFamily="34" charset="-122"/>
                <a:cs typeface="Arial Black" pitchFamily="34" charset="-120"/>
              </a:rPr>
              <a:t>1</a:t>
            </a:r>
            <a:endParaRPr lang="en-US" sz="1000" dirty="0"/>
          </a:p>
        </p:txBody>
      </p:sp>
      <p:sp>
        <p:nvSpPr>
          <p:cNvPr id="7" name="Text 5"/>
          <p:cNvSpPr/>
          <p:nvPr/>
        </p:nvSpPr>
        <p:spPr>
          <a:xfrm>
            <a:off x="758952" y="1143000"/>
            <a:ext cx="3749040" cy="274320"/>
          </a:xfrm>
          <a:prstGeom prst="rect">
            <a:avLst/>
          </a:prstGeom>
          <a:noFill/>
          <a:ln/>
        </p:spPr>
        <p:txBody>
          <a:bodyPr wrap="square" rtlCol="0" anchor="ctr"/>
          <a:lstStyle/>
          <a:p>
            <a:pPr indent="0" marL="0">
              <a:buNone/>
            </a:pPr>
            <a:r>
              <a:rPr lang="en-US" sz="1200" b="1" dirty="0">
                <a:solidFill>
                  <a:srgbClr val="F7C600"/>
                </a:solidFill>
                <a:latin typeface="Arial Black" pitchFamily="34" charset="0"/>
                <a:ea typeface="Arial Black" pitchFamily="34" charset="-122"/>
                <a:cs typeface="Arial Black" pitchFamily="34" charset="-120"/>
              </a:rPr>
              <a:t>Promoted Headers  </a:t>
            </a:r>
            <a:endParaRPr lang="en-US" sz="1200" dirty="0"/>
          </a:p>
        </p:txBody>
      </p:sp>
      <p:sp>
        <p:nvSpPr>
          <p:cNvPr id="8" name="Text 6"/>
          <p:cNvSpPr/>
          <p:nvPr/>
        </p:nvSpPr>
        <p:spPr>
          <a:xfrm>
            <a:off x="758952" y="1399032"/>
            <a:ext cx="3749040" cy="320040"/>
          </a:xfrm>
          <a:prstGeom prst="rect">
            <a:avLst/>
          </a:prstGeom>
          <a:noFill/>
          <a:ln/>
        </p:spPr>
        <p:txBody>
          <a:bodyPr wrap="square" rtlCol="0" anchor="ctr"/>
          <a:lstStyle/>
          <a:p>
            <a:pPr indent="0" marL="0">
              <a:buNone/>
            </a:pPr>
            <a:r>
              <a:rPr lang="en-US" sz="1050" dirty="0">
                <a:solidFill>
                  <a:srgbClr val="B0B0B0"/>
                </a:solidFill>
                <a:latin typeface="Calibri" pitchFamily="34" charset="0"/>
                <a:ea typeface="Calibri" pitchFamily="34" charset="-122"/>
                <a:cs typeface="Calibri" pitchFamily="34" charset="-120"/>
              </a:rPr>
              <a:t>Set first row as headers for accurate column identification.</a:t>
            </a:r>
            <a:endParaRPr lang="en-US" sz="1050" dirty="0"/>
          </a:p>
        </p:txBody>
      </p:sp>
      <p:sp>
        <p:nvSpPr>
          <p:cNvPr id="9" name="Shape 7"/>
          <p:cNvSpPr/>
          <p:nvPr/>
        </p:nvSpPr>
        <p:spPr>
          <a:xfrm>
            <a:off x="320040" y="1847088"/>
            <a:ext cx="347472" cy="347472"/>
          </a:xfrm>
          <a:prstGeom prst="ellipse">
            <a:avLst/>
          </a:prstGeom>
          <a:solidFill>
            <a:srgbClr val="F7C600"/>
          </a:solidFill>
          <a:ln w="12700">
            <a:solidFill>
              <a:srgbClr val="F7C600"/>
            </a:solidFill>
            <a:prstDash val="solid"/>
          </a:ln>
        </p:spPr>
      </p:sp>
      <p:sp>
        <p:nvSpPr>
          <p:cNvPr id="10" name="Text 8"/>
          <p:cNvSpPr/>
          <p:nvPr/>
        </p:nvSpPr>
        <p:spPr>
          <a:xfrm>
            <a:off x="320040" y="1847088"/>
            <a:ext cx="347472" cy="347472"/>
          </a:xfrm>
          <a:prstGeom prst="rect">
            <a:avLst/>
          </a:prstGeom>
          <a:noFill/>
          <a:ln/>
        </p:spPr>
        <p:txBody>
          <a:bodyPr wrap="square" rtlCol="0" anchor="ctr"/>
          <a:lstStyle/>
          <a:p>
            <a:pPr algn="ctr" indent="0" marL="0">
              <a:buNone/>
            </a:pPr>
            <a:r>
              <a:rPr lang="en-US" sz="1000" b="1" dirty="0">
                <a:solidFill>
                  <a:srgbClr val="1A1A1A"/>
                </a:solidFill>
                <a:latin typeface="Arial Black" pitchFamily="34" charset="0"/>
                <a:ea typeface="Arial Black" pitchFamily="34" charset="-122"/>
                <a:cs typeface="Arial Black" pitchFamily="34" charset="-120"/>
              </a:rPr>
              <a:t>2</a:t>
            </a:r>
            <a:endParaRPr lang="en-US" sz="1000" dirty="0"/>
          </a:p>
        </p:txBody>
      </p:sp>
      <p:sp>
        <p:nvSpPr>
          <p:cNvPr id="11" name="Text 9"/>
          <p:cNvSpPr/>
          <p:nvPr/>
        </p:nvSpPr>
        <p:spPr>
          <a:xfrm>
            <a:off x="758952" y="1783080"/>
            <a:ext cx="3749040" cy="274320"/>
          </a:xfrm>
          <a:prstGeom prst="rect">
            <a:avLst/>
          </a:prstGeom>
          <a:noFill/>
          <a:ln/>
        </p:spPr>
        <p:txBody>
          <a:bodyPr wrap="square" rtlCol="0" anchor="ctr"/>
          <a:lstStyle/>
          <a:p>
            <a:pPr indent="0" marL="0">
              <a:buNone/>
            </a:pPr>
            <a:r>
              <a:rPr lang="en-US" sz="1200" b="1" dirty="0">
                <a:solidFill>
                  <a:srgbClr val="F7C600"/>
                </a:solidFill>
                <a:latin typeface="Arial Black" pitchFamily="34" charset="0"/>
                <a:ea typeface="Arial Black" pitchFamily="34" charset="-122"/>
                <a:cs typeface="Arial Black" pitchFamily="34" charset="-120"/>
              </a:rPr>
              <a:t>Renamed Queries  </a:t>
            </a:r>
            <a:endParaRPr lang="en-US" sz="1200" dirty="0"/>
          </a:p>
        </p:txBody>
      </p:sp>
      <p:sp>
        <p:nvSpPr>
          <p:cNvPr id="12" name="Text 10"/>
          <p:cNvSpPr/>
          <p:nvPr/>
        </p:nvSpPr>
        <p:spPr>
          <a:xfrm>
            <a:off x="758952" y="2039112"/>
            <a:ext cx="3749040" cy="320040"/>
          </a:xfrm>
          <a:prstGeom prst="rect">
            <a:avLst/>
          </a:prstGeom>
          <a:noFill/>
          <a:ln/>
        </p:spPr>
        <p:txBody>
          <a:bodyPr wrap="square" rtlCol="0" anchor="ctr"/>
          <a:lstStyle/>
          <a:p>
            <a:pPr indent="0" marL="0">
              <a:buNone/>
            </a:pPr>
            <a:r>
              <a:rPr lang="en-US" sz="1050" dirty="0">
                <a:solidFill>
                  <a:srgbClr val="B0B0B0"/>
                </a:solidFill>
                <a:latin typeface="Calibri" pitchFamily="34" charset="0"/>
                <a:ea typeface="Calibri" pitchFamily="34" charset="-122"/>
                <a:cs typeface="Calibri" pitchFamily="34" charset="-120"/>
              </a:rPr>
              <a:t>Standardized naming conventions (e.g., trips_1 → FACT_trips).</a:t>
            </a:r>
            <a:endParaRPr lang="en-US" sz="1050" dirty="0"/>
          </a:p>
        </p:txBody>
      </p:sp>
      <p:sp>
        <p:nvSpPr>
          <p:cNvPr id="13" name="Shape 11"/>
          <p:cNvSpPr/>
          <p:nvPr/>
        </p:nvSpPr>
        <p:spPr>
          <a:xfrm>
            <a:off x="320040" y="2487168"/>
            <a:ext cx="347472" cy="347472"/>
          </a:xfrm>
          <a:prstGeom prst="ellipse">
            <a:avLst/>
          </a:prstGeom>
          <a:solidFill>
            <a:srgbClr val="F7C600"/>
          </a:solidFill>
          <a:ln w="12700">
            <a:solidFill>
              <a:srgbClr val="F7C600"/>
            </a:solidFill>
            <a:prstDash val="solid"/>
          </a:ln>
        </p:spPr>
      </p:sp>
      <p:sp>
        <p:nvSpPr>
          <p:cNvPr id="14" name="Text 12"/>
          <p:cNvSpPr/>
          <p:nvPr/>
        </p:nvSpPr>
        <p:spPr>
          <a:xfrm>
            <a:off x="320040" y="2487168"/>
            <a:ext cx="347472" cy="347472"/>
          </a:xfrm>
          <a:prstGeom prst="rect">
            <a:avLst/>
          </a:prstGeom>
          <a:noFill/>
          <a:ln/>
        </p:spPr>
        <p:txBody>
          <a:bodyPr wrap="square" rtlCol="0" anchor="ctr"/>
          <a:lstStyle/>
          <a:p>
            <a:pPr algn="ctr" indent="0" marL="0">
              <a:buNone/>
            </a:pPr>
            <a:r>
              <a:rPr lang="en-US" sz="1000" b="1" dirty="0">
                <a:solidFill>
                  <a:srgbClr val="1A1A1A"/>
                </a:solidFill>
                <a:latin typeface="Arial Black" pitchFamily="34" charset="0"/>
                <a:ea typeface="Arial Black" pitchFamily="34" charset="-122"/>
                <a:cs typeface="Arial Black" pitchFamily="34" charset="-120"/>
              </a:rPr>
              <a:t>3</a:t>
            </a:r>
            <a:endParaRPr lang="en-US" sz="1000" dirty="0"/>
          </a:p>
        </p:txBody>
      </p:sp>
      <p:sp>
        <p:nvSpPr>
          <p:cNvPr id="15" name="Text 13"/>
          <p:cNvSpPr/>
          <p:nvPr/>
        </p:nvSpPr>
        <p:spPr>
          <a:xfrm>
            <a:off x="758952" y="2423160"/>
            <a:ext cx="3749040" cy="274320"/>
          </a:xfrm>
          <a:prstGeom prst="rect">
            <a:avLst/>
          </a:prstGeom>
          <a:noFill/>
          <a:ln/>
        </p:spPr>
        <p:txBody>
          <a:bodyPr wrap="square" rtlCol="0" anchor="ctr"/>
          <a:lstStyle/>
          <a:p>
            <a:pPr indent="0" marL="0">
              <a:buNone/>
            </a:pPr>
            <a:r>
              <a:rPr lang="en-US" sz="1200" b="1" dirty="0">
                <a:solidFill>
                  <a:srgbClr val="F7C600"/>
                </a:solidFill>
                <a:latin typeface="Arial Black" pitchFamily="34" charset="0"/>
                <a:ea typeface="Arial Black" pitchFamily="34" charset="-122"/>
                <a:cs typeface="Arial Black" pitchFamily="34" charset="-120"/>
              </a:rPr>
              <a:t>Removed Columns  </a:t>
            </a:r>
            <a:endParaRPr lang="en-US" sz="1200" dirty="0"/>
          </a:p>
        </p:txBody>
      </p:sp>
      <p:sp>
        <p:nvSpPr>
          <p:cNvPr id="16" name="Text 14"/>
          <p:cNvSpPr/>
          <p:nvPr/>
        </p:nvSpPr>
        <p:spPr>
          <a:xfrm>
            <a:off x="758952" y="2679192"/>
            <a:ext cx="3749040" cy="320040"/>
          </a:xfrm>
          <a:prstGeom prst="rect">
            <a:avLst/>
          </a:prstGeom>
          <a:noFill/>
          <a:ln/>
        </p:spPr>
        <p:txBody>
          <a:bodyPr wrap="square" rtlCol="0" anchor="ctr"/>
          <a:lstStyle/>
          <a:p>
            <a:pPr indent="0" marL="0">
              <a:buNone/>
            </a:pPr>
            <a:r>
              <a:rPr lang="en-US" sz="1050" dirty="0">
                <a:solidFill>
                  <a:srgbClr val="B0B0B0"/>
                </a:solidFill>
                <a:latin typeface="Calibri" pitchFamily="34" charset="0"/>
                <a:ea typeface="Calibri" pitchFamily="34" charset="-122"/>
                <a:cs typeface="Calibri" pitchFamily="34" charset="-120"/>
              </a:rPr>
              <a:t>Deleted redundant lat/long from Fact table — exist in Dimension tables.</a:t>
            </a:r>
            <a:endParaRPr lang="en-US" sz="1050" dirty="0"/>
          </a:p>
        </p:txBody>
      </p:sp>
      <p:sp>
        <p:nvSpPr>
          <p:cNvPr id="17" name="Shape 15"/>
          <p:cNvSpPr/>
          <p:nvPr/>
        </p:nvSpPr>
        <p:spPr>
          <a:xfrm>
            <a:off x="320040" y="3127248"/>
            <a:ext cx="347472" cy="347472"/>
          </a:xfrm>
          <a:prstGeom prst="ellipse">
            <a:avLst/>
          </a:prstGeom>
          <a:solidFill>
            <a:srgbClr val="F7C600"/>
          </a:solidFill>
          <a:ln w="12700">
            <a:solidFill>
              <a:srgbClr val="F7C600"/>
            </a:solidFill>
            <a:prstDash val="solid"/>
          </a:ln>
        </p:spPr>
      </p:sp>
      <p:sp>
        <p:nvSpPr>
          <p:cNvPr id="18" name="Text 16"/>
          <p:cNvSpPr/>
          <p:nvPr/>
        </p:nvSpPr>
        <p:spPr>
          <a:xfrm>
            <a:off x="320040" y="3127248"/>
            <a:ext cx="347472" cy="347472"/>
          </a:xfrm>
          <a:prstGeom prst="rect">
            <a:avLst/>
          </a:prstGeom>
          <a:noFill/>
          <a:ln/>
        </p:spPr>
        <p:txBody>
          <a:bodyPr wrap="square" rtlCol="0" anchor="ctr"/>
          <a:lstStyle/>
          <a:p>
            <a:pPr algn="ctr" indent="0" marL="0">
              <a:buNone/>
            </a:pPr>
            <a:r>
              <a:rPr lang="en-US" sz="1000" b="1" dirty="0">
                <a:solidFill>
                  <a:srgbClr val="1A1A1A"/>
                </a:solidFill>
                <a:latin typeface="Arial Black" pitchFamily="34" charset="0"/>
                <a:ea typeface="Arial Black" pitchFamily="34" charset="-122"/>
                <a:cs typeface="Arial Black" pitchFamily="34" charset="-120"/>
              </a:rPr>
              <a:t>4</a:t>
            </a:r>
            <a:endParaRPr lang="en-US" sz="1000" dirty="0"/>
          </a:p>
        </p:txBody>
      </p:sp>
      <p:sp>
        <p:nvSpPr>
          <p:cNvPr id="19" name="Text 17"/>
          <p:cNvSpPr/>
          <p:nvPr/>
        </p:nvSpPr>
        <p:spPr>
          <a:xfrm>
            <a:off x="758952" y="3063240"/>
            <a:ext cx="3749040" cy="274320"/>
          </a:xfrm>
          <a:prstGeom prst="rect">
            <a:avLst/>
          </a:prstGeom>
          <a:noFill/>
          <a:ln/>
        </p:spPr>
        <p:txBody>
          <a:bodyPr wrap="square" rtlCol="0" anchor="ctr"/>
          <a:lstStyle/>
          <a:p>
            <a:pPr indent="0" marL="0">
              <a:buNone/>
            </a:pPr>
            <a:r>
              <a:rPr lang="en-US" sz="1200" b="1" dirty="0">
                <a:solidFill>
                  <a:srgbClr val="F7C600"/>
                </a:solidFill>
                <a:latin typeface="Arial Black" pitchFamily="34" charset="0"/>
                <a:ea typeface="Arial Black" pitchFamily="34" charset="-122"/>
                <a:cs typeface="Arial Black" pitchFamily="34" charset="-120"/>
              </a:rPr>
              <a:t>Fixed Data Types  </a:t>
            </a:r>
            <a:endParaRPr lang="en-US" sz="1200" dirty="0"/>
          </a:p>
        </p:txBody>
      </p:sp>
      <p:sp>
        <p:nvSpPr>
          <p:cNvPr id="20" name="Text 18"/>
          <p:cNvSpPr/>
          <p:nvPr/>
        </p:nvSpPr>
        <p:spPr>
          <a:xfrm>
            <a:off x="758952" y="3319272"/>
            <a:ext cx="3749040" cy="320040"/>
          </a:xfrm>
          <a:prstGeom prst="rect">
            <a:avLst/>
          </a:prstGeom>
          <a:noFill/>
          <a:ln/>
        </p:spPr>
        <p:txBody>
          <a:bodyPr wrap="square" rtlCol="0" anchor="ctr"/>
          <a:lstStyle/>
          <a:p>
            <a:pPr indent="0" marL="0">
              <a:buNone/>
            </a:pPr>
            <a:r>
              <a:rPr lang="en-US" sz="1050" dirty="0">
                <a:solidFill>
                  <a:srgbClr val="B0B0B0"/>
                </a:solidFill>
                <a:latin typeface="Calibri" pitchFamily="34" charset="0"/>
                <a:ea typeface="Calibri" pitchFamily="34" charset="-122"/>
                <a:cs typeface="Calibri" pitchFamily="34" charset="-120"/>
              </a:rPr>
              <a:t>Corrected types for numerical and datetime fields.</a:t>
            </a:r>
            <a:endParaRPr lang="en-US" sz="1050" dirty="0"/>
          </a:p>
        </p:txBody>
      </p:sp>
      <p:sp>
        <p:nvSpPr>
          <p:cNvPr id="21" name="Shape 19"/>
          <p:cNvSpPr/>
          <p:nvPr/>
        </p:nvSpPr>
        <p:spPr>
          <a:xfrm>
            <a:off x="320040" y="3767328"/>
            <a:ext cx="347472" cy="347472"/>
          </a:xfrm>
          <a:prstGeom prst="ellipse">
            <a:avLst/>
          </a:prstGeom>
          <a:solidFill>
            <a:srgbClr val="F7C600"/>
          </a:solidFill>
          <a:ln w="12700">
            <a:solidFill>
              <a:srgbClr val="F7C600"/>
            </a:solidFill>
            <a:prstDash val="solid"/>
          </a:ln>
        </p:spPr>
      </p:sp>
      <p:sp>
        <p:nvSpPr>
          <p:cNvPr id="22" name="Text 20"/>
          <p:cNvSpPr/>
          <p:nvPr/>
        </p:nvSpPr>
        <p:spPr>
          <a:xfrm>
            <a:off x="320040" y="3767328"/>
            <a:ext cx="347472" cy="347472"/>
          </a:xfrm>
          <a:prstGeom prst="rect">
            <a:avLst/>
          </a:prstGeom>
          <a:noFill/>
          <a:ln/>
        </p:spPr>
        <p:txBody>
          <a:bodyPr wrap="square" rtlCol="0" anchor="ctr"/>
          <a:lstStyle/>
          <a:p>
            <a:pPr algn="ctr" indent="0" marL="0">
              <a:buNone/>
            </a:pPr>
            <a:r>
              <a:rPr lang="en-US" sz="1000" b="1" dirty="0">
                <a:solidFill>
                  <a:srgbClr val="1A1A1A"/>
                </a:solidFill>
                <a:latin typeface="Arial Black" pitchFamily="34" charset="0"/>
                <a:ea typeface="Arial Black" pitchFamily="34" charset="-122"/>
                <a:cs typeface="Arial Black" pitchFamily="34" charset="-120"/>
              </a:rPr>
              <a:t>5</a:t>
            </a:r>
            <a:endParaRPr lang="en-US" sz="1000" dirty="0"/>
          </a:p>
        </p:txBody>
      </p:sp>
      <p:sp>
        <p:nvSpPr>
          <p:cNvPr id="23" name="Text 21"/>
          <p:cNvSpPr/>
          <p:nvPr/>
        </p:nvSpPr>
        <p:spPr>
          <a:xfrm>
            <a:off x="758952" y="3703320"/>
            <a:ext cx="3749040" cy="274320"/>
          </a:xfrm>
          <a:prstGeom prst="rect">
            <a:avLst/>
          </a:prstGeom>
          <a:noFill/>
          <a:ln/>
        </p:spPr>
        <p:txBody>
          <a:bodyPr wrap="square" rtlCol="0" anchor="ctr"/>
          <a:lstStyle/>
          <a:p>
            <a:pPr indent="0" marL="0">
              <a:buNone/>
            </a:pPr>
            <a:r>
              <a:rPr lang="en-US" sz="1200" b="1" dirty="0">
                <a:solidFill>
                  <a:srgbClr val="F7C600"/>
                </a:solidFill>
                <a:latin typeface="Arial Black" pitchFamily="34" charset="0"/>
                <a:ea typeface="Arial Black" pitchFamily="34" charset="-122"/>
                <a:cs typeface="Arial Black" pitchFamily="34" charset="-120"/>
              </a:rPr>
              <a:t>Split Columns  </a:t>
            </a:r>
            <a:endParaRPr lang="en-US" sz="1200" dirty="0"/>
          </a:p>
        </p:txBody>
      </p:sp>
      <p:sp>
        <p:nvSpPr>
          <p:cNvPr id="24" name="Text 22"/>
          <p:cNvSpPr/>
          <p:nvPr/>
        </p:nvSpPr>
        <p:spPr>
          <a:xfrm>
            <a:off x="758952" y="3959352"/>
            <a:ext cx="3749040" cy="320040"/>
          </a:xfrm>
          <a:prstGeom prst="rect">
            <a:avLst/>
          </a:prstGeom>
          <a:noFill/>
          <a:ln/>
        </p:spPr>
        <p:txBody>
          <a:bodyPr wrap="square" rtlCol="0" anchor="ctr"/>
          <a:lstStyle/>
          <a:p>
            <a:pPr indent="0" marL="0">
              <a:buNone/>
            </a:pPr>
            <a:r>
              <a:rPr lang="en-US" sz="1050" dirty="0">
                <a:solidFill>
                  <a:srgbClr val="B0B0B0"/>
                </a:solidFill>
                <a:latin typeface="Calibri" pitchFamily="34" charset="0"/>
                <a:ea typeface="Calibri" pitchFamily="34" charset="-122"/>
                <a:cs typeface="Calibri" pitchFamily="34" charset="-120"/>
              </a:rPr>
              <a:t>Separated pickup/drop-off datetimes into Date Only &amp; Time Only.</a:t>
            </a:r>
            <a:endParaRPr lang="en-US" sz="1050" dirty="0"/>
          </a:p>
        </p:txBody>
      </p:sp>
      <p:sp>
        <p:nvSpPr>
          <p:cNvPr id="25" name="Shape 23"/>
          <p:cNvSpPr/>
          <p:nvPr/>
        </p:nvSpPr>
        <p:spPr>
          <a:xfrm>
            <a:off x="320040" y="4407408"/>
            <a:ext cx="347472" cy="347472"/>
          </a:xfrm>
          <a:prstGeom prst="ellipse">
            <a:avLst/>
          </a:prstGeom>
          <a:solidFill>
            <a:srgbClr val="F7C600"/>
          </a:solidFill>
          <a:ln w="12700">
            <a:solidFill>
              <a:srgbClr val="F7C600"/>
            </a:solidFill>
            <a:prstDash val="solid"/>
          </a:ln>
        </p:spPr>
      </p:sp>
      <p:sp>
        <p:nvSpPr>
          <p:cNvPr id="26" name="Text 24"/>
          <p:cNvSpPr/>
          <p:nvPr/>
        </p:nvSpPr>
        <p:spPr>
          <a:xfrm>
            <a:off x="320040" y="4407408"/>
            <a:ext cx="347472" cy="347472"/>
          </a:xfrm>
          <a:prstGeom prst="rect">
            <a:avLst/>
          </a:prstGeom>
          <a:noFill/>
          <a:ln/>
        </p:spPr>
        <p:txBody>
          <a:bodyPr wrap="square" rtlCol="0" anchor="ctr"/>
          <a:lstStyle/>
          <a:p>
            <a:pPr algn="ctr" indent="0" marL="0">
              <a:buNone/>
            </a:pPr>
            <a:r>
              <a:rPr lang="en-US" sz="1000" b="1" dirty="0">
                <a:solidFill>
                  <a:srgbClr val="1A1A1A"/>
                </a:solidFill>
                <a:latin typeface="Arial Black" pitchFamily="34" charset="0"/>
                <a:ea typeface="Arial Black" pitchFamily="34" charset="-122"/>
                <a:cs typeface="Arial Black" pitchFamily="34" charset="-120"/>
              </a:rPr>
              <a:t>6</a:t>
            </a:r>
            <a:endParaRPr lang="en-US" sz="1000" dirty="0"/>
          </a:p>
        </p:txBody>
      </p:sp>
      <p:sp>
        <p:nvSpPr>
          <p:cNvPr id="27" name="Text 25"/>
          <p:cNvSpPr/>
          <p:nvPr/>
        </p:nvSpPr>
        <p:spPr>
          <a:xfrm>
            <a:off x="758952" y="4343400"/>
            <a:ext cx="3749040" cy="274320"/>
          </a:xfrm>
          <a:prstGeom prst="rect">
            <a:avLst/>
          </a:prstGeom>
          <a:noFill/>
          <a:ln/>
        </p:spPr>
        <p:txBody>
          <a:bodyPr wrap="square" rtlCol="0" anchor="ctr"/>
          <a:lstStyle/>
          <a:p>
            <a:pPr indent="0" marL="0">
              <a:buNone/>
            </a:pPr>
            <a:r>
              <a:rPr lang="en-US" sz="1200" b="1" dirty="0">
                <a:solidFill>
                  <a:srgbClr val="F7C600"/>
                </a:solidFill>
                <a:latin typeface="Arial Black" pitchFamily="34" charset="0"/>
                <a:ea typeface="Arial Black" pitchFamily="34" charset="-122"/>
                <a:cs typeface="Arial Black" pitchFamily="34" charset="-120"/>
              </a:rPr>
              <a:t>Handled Nulls  </a:t>
            </a:r>
            <a:endParaRPr lang="en-US" sz="1200" dirty="0"/>
          </a:p>
        </p:txBody>
      </p:sp>
      <p:sp>
        <p:nvSpPr>
          <p:cNvPr id="28" name="Text 26"/>
          <p:cNvSpPr/>
          <p:nvPr/>
        </p:nvSpPr>
        <p:spPr>
          <a:xfrm>
            <a:off x="758952" y="4599432"/>
            <a:ext cx="3749040" cy="320040"/>
          </a:xfrm>
          <a:prstGeom prst="rect">
            <a:avLst/>
          </a:prstGeom>
          <a:noFill/>
          <a:ln/>
        </p:spPr>
        <p:txBody>
          <a:bodyPr wrap="square" rtlCol="0" anchor="ctr"/>
          <a:lstStyle/>
          <a:p>
            <a:pPr indent="0" marL="0">
              <a:buNone/>
            </a:pPr>
            <a:r>
              <a:rPr lang="en-US" sz="1050" dirty="0">
                <a:solidFill>
                  <a:srgbClr val="B0B0B0"/>
                </a:solidFill>
                <a:latin typeface="Calibri" pitchFamily="34" charset="0"/>
                <a:ea typeface="Calibri" pitchFamily="34" charset="-122"/>
                <a:cs typeface="Calibri" pitchFamily="34" charset="-120"/>
              </a:rPr>
              <a:t>Filtered out empty values from neighborhood ID columns.</a:t>
            </a:r>
            <a:endParaRPr lang="en-US" sz="1050" dirty="0"/>
          </a:p>
        </p:txBody>
      </p:sp>
      <p:sp>
        <p:nvSpPr>
          <p:cNvPr id="29" name="Shape 27"/>
          <p:cNvSpPr/>
          <p:nvPr/>
        </p:nvSpPr>
        <p:spPr>
          <a:xfrm>
            <a:off x="4663440" y="1207008"/>
            <a:ext cx="347472" cy="347472"/>
          </a:xfrm>
          <a:prstGeom prst="ellipse">
            <a:avLst/>
          </a:prstGeom>
          <a:solidFill>
            <a:srgbClr val="F7C600"/>
          </a:solidFill>
          <a:ln w="12700">
            <a:solidFill>
              <a:srgbClr val="F7C600"/>
            </a:solidFill>
            <a:prstDash val="solid"/>
          </a:ln>
        </p:spPr>
      </p:sp>
      <p:sp>
        <p:nvSpPr>
          <p:cNvPr id="30" name="Text 28"/>
          <p:cNvSpPr/>
          <p:nvPr/>
        </p:nvSpPr>
        <p:spPr>
          <a:xfrm>
            <a:off x="4663440" y="1207008"/>
            <a:ext cx="347472" cy="347472"/>
          </a:xfrm>
          <a:prstGeom prst="rect">
            <a:avLst/>
          </a:prstGeom>
          <a:noFill/>
          <a:ln/>
        </p:spPr>
        <p:txBody>
          <a:bodyPr wrap="square" rtlCol="0" anchor="ctr"/>
          <a:lstStyle/>
          <a:p>
            <a:pPr algn="ctr" indent="0" marL="0">
              <a:buNone/>
            </a:pPr>
            <a:r>
              <a:rPr lang="en-US" sz="1000" b="1" dirty="0">
                <a:solidFill>
                  <a:srgbClr val="1A1A1A"/>
                </a:solidFill>
                <a:latin typeface="Arial Black" pitchFamily="34" charset="0"/>
                <a:ea typeface="Arial Black" pitchFamily="34" charset="-122"/>
                <a:cs typeface="Arial Black" pitchFamily="34" charset="-120"/>
              </a:rPr>
              <a:t>7</a:t>
            </a:r>
            <a:endParaRPr lang="en-US" sz="1000" dirty="0"/>
          </a:p>
        </p:txBody>
      </p:sp>
      <p:sp>
        <p:nvSpPr>
          <p:cNvPr id="31" name="Text 29"/>
          <p:cNvSpPr/>
          <p:nvPr/>
        </p:nvSpPr>
        <p:spPr>
          <a:xfrm>
            <a:off x="5102352" y="1143000"/>
            <a:ext cx="3749040" cy="274320"/>
          </a:xfrm>
          <a:prstGeom prst="rect">
            <a:avLst/>
          </a:prstGeom>
          <a:noFill/>
          <a:ln/>
        </p:spPr>
        <p:txBody>
          <a:bodyPr wrap="square" rtlCol="0" anchor="ctr"/>
          <a:lstStyle/>
          <a:p>
            <a:pPr indent="0" marL="0">
              <a:buNone/>
            </a:pPr>
            <a:r>
              <a:rPr lang="en-US" sz="1200" b="1" dirty="0">
                <a:solidFill>
                  <a:srgbClr val="F7C600"/>
                </a:solidFill>
                <a:latin typeface="Arial Black" pitchFamily="34" charset="0"/>
                <a:ea typeface="Arial Black" pitchFamily="34" charset="-122"/>
                <a:cs typeface="Arial Black" pitchFamily="34" charset="-120"/>
              </a:rPr>
              <a:t>Filtered Outliers  </a:t>
            </a:r>
            <a:endParaRPr lang="en-US" sz="1200" dirty="0"/>
          </a:p>
        </p:txBody>
      </p:sp>
      <p:sp>
        <p:nvSpPr>
          <p:cNvPr id="32" name="Text 30"/>
          <p:cNvSpPr/>
          <p:nvPr/>
        </p:nvSpPr>
        <p:spPr>
          <a:xfrm>
            <a:off x="5102352" y="1399032"/>
            <a:ext cx="3749040" cy="320040"/>
          </a:xfrm>
          <a:prstGeom prst="rect">
            <a:avLst/>
          </a:prstGeom>
          <a:noFill/>
          <a:ln/>
        </p:spPr>
        <p:txBody>
          <a:bodyPr wrap="square" rtlCol="0" anchor="ctr"/>
          <a:lstStyle/>
          <a:p>
            <a:pPr indent="0" marL="0">
              <a:buNone/>
            </a:pPr>
            <a:r>
              <a:rPr lang="en-US" sz="1050" dirty="0">
                <a:solidFill>
                  <a:srgbClr val="B0B0B0"/>
                </a:solidFill>
                <a:latin typeface="Calibri" pitchFamily="34" charset="0"/>
                <a:ea typeface="Calibri" pitchFamily="34" charset="-122"/>
                <a:cs typeface="Calibri" pitchFamily="34" charset="-120"/>
              </a:rPr>
              <a:t>Excluded trips with distance = 0 to prevent skewed visualizations.</a:t>
            </a:r>
            <a:endParaRPr lang="en-US" sz="1050" dirty="0"/>
          </a:p>
        </p:txBody>
      </p:sp>
      <p:sp>
        <p:nvSpPr>
          <p:cNvPr id="33" name="Shape 31"/>
          <p:cNvSpPr/>
          <p:nvPr/>
        </p:nvSpPr>
        <p:spPr>
          <a:xfrm>
            <a:off x="4663440" y="1847088"/>
            <a:ext cx="347472" cy="347472"/>
          </a:xfrm>
          <a:prstGeom prst="ellipse">
            <a:avLst/>
          </a:prstGeom>
          <a:solidFill>
            <a:srgbClr val="F7C600"/>
          </a:solidFill>
          <a:ln w="12700">
            <a:solidFill>
              <a:srgbClr val="F7C600"/>
            </a:solidFill>
            <a:prstDash val="solid"/>
          </a:ln>
        </p:spPr>
      </p:sp>
      <p:sp>
        <p:nvSpPr>
          <p:cNvPr id="34" name="Text 32"/>
          <p:cNvSpPr/>
          <p:nvPr/>
        </p:nvSpPr>
        <p:spPr>
          <a:xfrm>
            <a:off x="4663440" y="1847088"/>
            <a:ext cx="347472" cy="347472"/>
          </a:xfrm>
          <a:prstGeom prst="rect">
            <a:avLst/>
          </a:prstGeom>
          <a:noFill/>
          <a:ln/>
        </p:spPr>
        <p:txBody>
          <a:bodyPr wrap="square" rtlCol="0" anchor="ctr"/>
          <a:lstStyle/>
          <a:p>
            <a:pPr algn="ctr" indent="0" marL="0">
              <a:buNone/>
            </a:pPr>
            <a:r>
              <a:rPr lang="en-US" sz="1000" b="1" dirty="0">
                <a:solidFill>
                  <a:srgbClr val="1A1A1A"/>
                </a:solidFill>
                <a:latin typeface="Arial Black" pitchFamily="34" charset="0"/>
                <a:ea typeface="Arial Black" pitchFamily="34" charset="-122"/>
                <a:cs typeface="Arial Black" pitchFamily="34" charset="-120"/>
              </a:rPr>
              <a:t>8</a:t>
            </a:r>
            <a:endParaRPr lang="en-US" sz="1000" dirty="0"/>
          </a:p>
        </p:txBody>
      </p:sp>
      <p:sp>
        <p:nvSpPr>
          <p:cNvPr id="35" name="Text 33"/>
          <p:cNvSpPr/>
          <p:nvPr/>
        </p:nvSpPr>
        <p:spPr>
          <a:xfrm>
            <a:off x="5102352" y="1783080"/>
            <a:ext cx="3749040" cy="274320"/>
          </a:xfrm>
          <a:prstGeom prst="rect">
            <a:avLst/>
          </a:prstGeom>
          <a:noFill/>
          <a:ln/>
        </p:spPr>
        <p:txBody>
          <a:bodyPr wrap="square" rtlCol="0" anchor="ctr"/>
          <a:lstStyle/>
          <a:p>
            <a:pPr indent="0" marL="0">
              <a:buNone/>
            </a:pPr>
            <a:r>
              <a:rPr lang="en-US" sz="1200" b="1" dirty="0">
                <a:solidFill>
                  <a:srgbClr val="F7C600"/>
                </a:solidFill>
                <a:latin typeface="Arial Black" pitchFamily="34" charset="0"/>
                <a:ea typeface="Arial Black" pitchFamily="34" charset="-122"/>
                <a:cs typeface="Arial Black" pitchFamily="34" charset="-120"/>
              </a:rPr>
              <a:t>Removed Duplicates  </a:t>
            </a:r>
            <a:endParaRPr lang="en-US" sz="1200" dirty="0"/>
          </a:p>
        </p:txBody>
      </p:sp>
      <p:sp>
        <p:nvSpPr>
          <p:cNvPr id="36" name="Text 34"/>
          <p:cNvSpPr/>
          <p:nvPr/>
        </p:nvSpPr>
        <p:spPr>
          <a:xfrm>
            <a:off x="5102352" y="2039112"/>
            <a:ext cx="3749040" cy="320040"/>
          </a:xfrm>
          <a:prstGeom prst="rect">
            <a:avLst/>
          </a:prstGeom>
          <a:noFill/>
          <a:ln/>
        </p:spPr>
        <p:txBody>
          <a:bodyPr wrap="square" rtlCol="0" anchor="ctr"/>
          <a:lstStyle/>
          <a:p>
            <a:pPr indent="0" marL="0">
              <a:buNone/>
            </a:pPr>
            <a:r>
              <a:rPr lang="en-US" sz="1050" dirty="0">
                <a:solidFill>
                  <a:srgbClr val="B0B0B0"/>
                </a:solidFill>
                <a:latin typeface="Calibri" pitchFamily="34" charset="0"/>
                <a:ea typeface="Calibri" pitchFamily="34" charset="-122"/>
                <a:cs typeface="Calibri" pitchFamily="34" charset="-120"/>
              </a:rPr>
              <a:t>Deleted duplicate records based on unique id column.</a:t>
            </a:r>
            <a:endParaRPr lang="en-US" sz="1050" dirty="0"/>
          </a:p>
        </p:txBody>
      </p:sp>
      <p:sp>
        <p:nvSpPr>
          <p:cNvPr id="37" name="Shape 35"/>
          <p:cNvSpPr/>
          <p:nvPr/>
        </p:nvSpPr>
        <p:spPr>
          <a:xfrm>
            <a:off x="4663440" y="2487168"/>
            <a:ext cx="347472" cy="347472"/>
          </a:xfrm>
          <a:prstGeom prst="ellipse">
            <a:avLst/>
          </a:prstGeom>
          <a:solidFill>
            <a:srgbClr val="F7C600"/>
          </a:solidFill>
          <a:ln w="12700">
            <a:solidFill>
              <a:srgbClr val="F7C600"/>
            </a:solidFill>
            <a:prstDash val="solid"/>
          </a:ln>
        </p:spPr>
      </p:sp>
      <p:sp>
        <p:nvSpPr>
          <p:cNvPr id="38" name="Text 36"/>
          <p:cNvSpPr/>
          <p:nvPr/>
        </p:nvSpPr>
        <p:spPr>
          <a:xfrm>
            <a:off x="4663440" y="2487168"/>
            <a:ext cx="347472" cy="347472"/>
          </a:xfrm>
          <a:prstGeom prst="rect">
            <a:avLst/>
          </a:prstGeom>
          <a:noFill/>
          <a:ln/>
        </p:spPr>
        <p:txBody>
          <a:bodyPr wrap="square" rtlCol="0" anchor="ctr"/>
          <a:lstStyle/>
          <a:p>
            <a:pPr algn="ctr" indent="0" marL="0">
              <a:buNone/>
            </a:pPr>
            <a:r>
              <a:rPr lang="en-US" sz="1000" b="1" dirty="0">
                <a:solidFill>
                  <a:srgbClr val="1A1A1A"/>
                </a:solidFill>
                <a:latin typeface="Arial Black" pitchFamily="34" charset="0"/>
                <a:ea typeface="Arial Black" pitchFamily="34" charset="-122"/>
                <a:cs typeface="Arial Black" pitchFamily="34" charset="-120"/>
              </a:rPr>
              <a:t>9</a:t>
            </a:r>
            <a:endParaRPr lang="en-US" sz="1000" dirty="0"/>
          </a:p>
        </p:txBody>
      </p:sp>
      <p:sp>
        <p:nvSpPr>
          <p:cNvPr id="39" name="Text 37"/>
          <p:cNvSpPr/>
          <p:nvPr/>
        </p:nvSpPr>
        <p:spPr>
          <a:xfrm>
            <a:off x="5102352" y="2423160"/>
            <a:ext cx="3749040" cy="274320"/>
          </a:xfrm>
          <a:prstGeom prst="rect">
            <a:avLst/>
          </a:prstGeom>
          <a:noFill/>
          <a:ln/>
        </p:spPr>
        <p:txBody>
          <a:bodyPr wrap="square" rtlCol="0" anchor="ctr"/>
          <a:lstStyle/>
          <a:p>
            <a:pPr indent="0" marL="0">
              <a:buNone/>
            </a:pPr>
            <a:r>
              <a:rPr lang="en-US" sz="1200" b="1" dirty="0">
                <a:solidFill>
                  <a:srgbClr val="F7C600"/>
                </a:solidFill>
                <a:latin typeface="Arial Black" pitchFamily="34" charset="0"/>
                <a:ea typeface="Arial Black" pitchFamily="34" charset="-122"/>
                <a:cs typeface="Arial Black" pitchFamily="34" charset="-120"/>
              </a:rPr>
              <a:t>Merged Queries  </a:t>
            </a:r>
            <a:endParaRPr lang="en-US" sz="1200" dirty="0"/>
          </a:p>
        </p:txBody>
      </p:sp>
      <p:sp>
        <p:nvSpPr>
          <p:cNvPr id="40" name="Text 38"/>
          <p:cNvSpPr/>
          <p:nvPr/>
        </p:nvSpPr>
        <p:spPr>
          <a:xfrm>
            <a:off x="5102352" y="2679192"/>
            <a:ext cx="3749040" cy="320040"/>
          </a:xfrm>
          <a:prstGeom prst="rect">
            <a:avLst/>
          </a:prstGeom>
          <a:noFill/>
          <a:ln/>
        </p:spPr>
        <p:txBody>
          <a:bodyPr wrap="square" rtlCol="0" anchor="ctr"/>
          <a:lstStyle/>
          <a:p>
            <a:pPr indent="0" marL="0">
              <a:buNone/>
            </a:pPr>
            <a:r>
              <a:rPr lang="en-US" sz="1050" dirty="0">
                <a:solidFill>
                  <a:srgbClr val="B0B0B0"/>
                </a:solidFill>
                <a:latin typeface="Calibri" pitchFamily="34" charset="0"/>
                <a:ea typeface="Calibri" pitchFamily="34" charset="-122"/>
                <a:cs typeface="Calibri" pitchFamily="34" charset="-120"/>
              </a:rPr>
              <a:t>Joined Fact table with Dimension tables for neighborhood names.</a:t>
            </a:r>
            <a:endParaRPr lang="en-US" sz="1050" dirty="0"/>
          </a:p>
        </p:txBody>
      </p:sp>
      <p:sp>
        <p:nvSpPr>
          <p:cNvPr id="41" name="Shape 39"/>
          <p:cNvSpPr/>
          <p:nvPr/>
        </p:nvSpPr>
        <p:spPr>
          <a:xfrm>
            <a:off x="4663440" y="3127248"/>
            <a:ext cx="347472" cy="347472"/>
          </a:xfrm>
          <a:prstGeom prst="ellipse">
            <a:avLst/>
          </a:prstGeom>
          <a:solidFill>
            <a:srgbClr val="F7C600"/>
          </a:solidFill>
          <a:ln w="12700">
            <a:solidFill>
              <a:srgbClr val="F7C600"/>
            </a:solidFill>
            <a:prstDash val="solid"/>
          </a:ln>
        </p:spPr>
      </p:sp>
      <p:sp>
        <p:nvSpPr>
          <p:cNvPr id="42" name="Text 40"/>
          <p:cNvSpPr/>
          <p:nvPr/>
        </p:nvSpPr>
        <p:spPr>
          <a:xfrm>
            <a:off x="4663440" y="3127248"/>
            <a:ext cx="347472" cy="347472"/>
          </a:xfrm>
          <a:prstGeom prst="rect">
            <a:avLst/>
          </a:prstGeom>
          <a:noFill/>
          <a:ln/>
        </p:spPr>
        <p:txBody>
          <a:bodyPr wrap="square" rtlCol="0" anchor="ctr"/>
          <a:lstStyle/>
          <a:p>
            <a:pPr algn="ctr" indent="0" marL="0">
              <a:buNone/>
            </a:pPr>
            <a:r>
              <a:rPr lang="en-US" sz="1000" b="1" dirty="0">
                <a:solidFill>
                  <a:srgbClr val="1A1A1A"/>
                </a:solidFill>
                <a:latin typeface="Arial Black" pitchFamily="34" charset="0"/>
                <a:ea typeface="Arial Black" pitchFamily="34" charset="-122"/>
                <a:cs typeface="Arial Black" pitchFamily="34" charset="-120"/>
              </a:rPr>
              <a:t>10</a:t>
            </a:r>
            <a:endParaRPr lang="en-US" sz="1000" dirty="0"/>
          </a:p>
        </p:txBody>
      </p:sp>
      <p:sp>
        <p:nvSpPr>
          <p:cNvPr id="43" name="Text 41"/>
          <p:cNvSpPr/>
          <p:nvPr/>
        </p:nvSpPr>
        <p:spPr>
          <a:xfrm>
            <a:off x="5102352" y="3063240"/>
            <a:ext cx="3749040" cy="274320"/>
          </a:xfrm>
          <a:prstGeom prst="rect">
            <a:avLst/>
          </a:prstGeom>
          <a:noFill/>
          <a:ln/>
        </p:spPr>
        <p:txBody>
          <a:bodyPr wrap="square" rtlCol="0" anchor="ctr"/>
          <a:lstStyle/>
          <a:p>
            <a:pPr indent="0" marL="0">
              <a:buNone/>
            </a:pPr>
            <a:r>
              <a:rPr lang="en-US" sz="1200" b="1" dirty="0">
                <a:solidFill>
                  <a:srgbClr val="F7C600"/>
                </a:solidFill>
                <a:latin typeface="Arial Black" pitchFamily="34" charset="0"/>
                <a:ea typeface="Arial Black" pitchFamily="34" charset="-122"/>
                <a:cs typeface="Arial Black" pitchFamily="34" charset="-120"/>
              </a:rPr>
              <a:t>Replaced Values  </a:t>
            </a:r>
            <a:endParaRPr lang="en-US" sz="1200" dirty="0"/>
          </a:p>
        </p:txBody>
      </p:sp>
      <p:sp>
        <p:nvSpPr>
          <p:cNvPr id="44" name="Text 42"/>
          <p:cNvSpPr/>
          <p:nvPr/>
        </p:nvSpPr>
        <p:spPr>
          <a:xfrm>
            <a:off x="5102352" y="3319272"/>
            <a:ext cx="3749040" cy="320040"/>
          </a:xfrm>
          <a:prstGeom prst="rect">
            <a:avLst/>
          </a:prstGeom>
          <a:noFill/>
          <a:ln/>
        </p:spPr>
        <p:txBody>
          <a:bodyPr wrap="square" rtlCol="0" anchor="ctr"/>
          <a:lstStyle/>
          <a:p>
            <a:pPr indent="0" marL="0">
              <a:buNone/>
            </a:pPr>
            <a:r>
              <a:rPr lang="en-US" sz="1050" dirty="0">
                <a:solidFill>
                  <a:srgbClr val="B0B0B0"/>
                </a:solidFill>
                <a:latin typeface="Calibri" pitchFamily="34" charset="0"/>
                <a:ea typeface="Calibri" pitchFamily="34" charset="-122"/>
                <a:cs typeface="Calibri" pitchFamily="34" charset="-120"/>
              </a:rPr>
              <a:t>Decoded payment IDs to text (1=credit card, 2=cash, 4=disputed).</a:t>
            </a:r>
            <a:endParaRPr lang="en-US" sz="1050" dirty="0"/>
          </a:p>
        </p:txBody>
      </p:sp>
      <p:sp>
        <p:nvSpPr>
          <p:cNvPr id="45" name="Shape 43"/>
          <p:cNvSpPr/>
          <p:nvPr/>
        </p:nvSpPr>
        <p:spPr>
          <a:xfrm>
            <a:off x="4663440" y="3767328"/>
            <a:ext cx="347472" cy="347472"/>
          </a:xfrm>
          <a:prstGeom prst="ellipse">
            <a:avLst/>
          </a:prstGeom>
          <a:solidFill>
            <a:srgbClr val="F7C600"/>
          </a:solidFill>
          <a:ln w="12700">
            <a:solidFill>
              <a:srgbClr val="F7C600"/>
            </a:solidFill>
            <a:prstDash val="solid"/>
          </a:ln>
        </p:spPr>
      </p:sp>
      <p:sp>
        <p:nvSpPr>
          <p:cNvPr id="46" name="Text 44"/>
          <p:cNvSpPr/>
          <p:nvPr/>
        </p:nvSpPr>
        <p:spPr>
          <a:xfrm>
            <a:off x="4663440" y="3767328"/>
            <a:ext cx="347472" cy="347472"/>
          </a:xfrm>
          <a:prstGeom prst="rect">
            <a:avLst/>
          </a:prstGeom>
          <a:noFill/>
          <a:ln/>
        </p:spPr>
        <p:txBody>
          <a:bodyPr wrap="square" rtlCol="0" anchor="ctr"/>
          <a:lstStyle/>
          <a:p>
            <a:pPr algn="ctr" indent="0" marL="0">
              <a:buNone/>
            </a:pPr>
            <a:r>
              <a:rPr lang="en-US" sz="1000" b="1" dirty="0">
                <a:solidFill>
                  <a:srgbClr val="1A1A1A"/>
                </a:solidFill>
                <a:latin typeface="Arial Black" pitchFamily="34" charset="0"/>
                <a:ea typeface="Arial Black" pitchFamily="34" charset="-122"/>
                <a:cs typeface="Arial Black" pitchFamily="34" charset="-120"/>
              </a:rPr>
              <a:t>11</a:t>
            </a:r>
            <a:endParaRPr lang="en-US" sz="1000" dirty="0"/>
          </a:p>
        </p:txBody>
      </p:sp>
      <p:sp>
        <p:nvSpPr>
          <p:cNvPr id="47" name="Text 45"/>
          <p:cNvSpPr/>
          <p:nvPr/>
        </p:nvSpPr>
        <p:spPr>
          <a:xfrm>
            <a:off x="5102352" y="3703320"/>
            <a:ext cx="3749040" cy="274320"/>
          </a:xfrm>
          <a:prstGeom prst="rect">
            <a:avLst/>
          </a:prstGeom>
          <a:noFill/>
          <a:ln/>
        </p:spPr>
        <p:txBody>
          <a:bodyPr wrap="square" rtlCol="0" anchor="ctr"/>
          <a:lstStyle/>
          <a:p>
            <a:pPr indent="0" marL="0">
              <a:buNone/>
            </a:pPr>
            <a:r>
              <a:rPr lang="en-US" sz="1200" b="1" dirty="0">
                <a:solidFill>
                  <a:srgbClr val="F7C600"/>
                </a:solidFill>
                <a:latin typeface="Arial Black" pitchFamily="34" charset="0"/>
                <a:ea typeface="Arial Black" pitchFamily="34" charset="-122"/>
                <a:cs typeface="Arial Black" pitchFamily="34" charset="-120"/>
              </a:rPr>
              <a:t>Custom Speed Col.  </a:t>
            </a:r>
            <a:endParaRPr lang="en-US" sz="1200" dirty="0"/>
          </a:p>
        </p:txBody>
      </p:sp>
      <p:sp>
        <p:nvSpPr>
          <p:cNvPr id="48" name="Text 46"/>
          <p:cNvSpPr/>
          <p:nvPr/>
        </p:nvSpPr>
        <p:spPr>
          <a:xfrm>
            <a:off x="5102352" y="3959352"/>
            <a:ext cx="3749040" cy="320040"/>
          </a:xfrm>
          <a:prstGeom prst="rect">
            <a:avLst/>
          </a:prstGeom>
          <a:noFill/>
          <a:ln/>
        </p:spPr>
        <p:txBody>
          <a:bodyPr wrap="square" rtlCol="0" anchor="ctr"/>
          <a:lstStyle/>
          <a:p>
            <a:pPr indent="0" marL="0">
              <a:buNone/>
            </a:pPr>
            <a:r>
              <a:rPr lang="en-US" sz="1050" dirty="0">
                <a:solidFill>
                  <a:srgbClr val="B0B0B0"/>
                </a:solidFill>
                <a:latin typeface="Calibri" pitchFamily="34" charset="0"/>
                <a:ea typeface="Calibri" pitchFamily="34" charset="-122"/>
                <a:cs typeface="Calibri" pitchFamily="34" charset="-120"/>
              </a:rPr>
              <a:t>Created speed_mph: = [trip_distance] / [trip_duration]/3600.</a:t>
            </a:r>
            <a:endParaRPr lang="en-US" sz="1050" dirty="0"/>
          </a:p>
        </p:txBody>
      </p:sp>
      <p:sp>
        <p:nvSpPr>
          <p:cNvPr id="49" name="Shape 47"/>
          <p:cNvSpPr/>
          <p:nvPr/>
        </p:nvSpPr>
        <p:spPr>
          <a:xfrm>
            <a:off x="4663440" y="4407408"/>
            <a:ext cx="347472" cy="347472"/>
          </a:xfrm>
          <a:prstGeom prst="ellipse">
            <a:avLst/>
          </a:prstGeom>
          <a:solidFill>
            <a:srgbClr val="F7C600"/>
          </a:solidFill>
          <a:ln w="12700">
            <a:solidFill>
              <a:srgbClr val="F7C600"/>
            </a:solidFill>
            <a:prstDash val="solid"/>
          </a:ln>
        </p:spPr>
      </p:sp>
      <p:sp>
        <p:nvSpPr>
          <p:cNvPr id="50" name="Text 48"/>
          <p:cNvSpPr/>
          <p:nvPr/>
        </p:nvSpPr>
        <p:spPr>
          <a:xfrm>
            <a:off x="4663440" y="4407408"/>
            <a:ext cx="347472" cy="347472"/>
          </a:xfrm>
          <a:prstGeom prst="rect">
            <a:avLst/>
          </a:prstGeom>
          <a:noFill/>
          <a:ln/>
        </p:spPr>
        <p:txBody>
          <a:bodyPr wrap="square" rtlCol="0" anchor="ctr"/>
          <a:lstStyle/>
          <a:p>
            <a:pPr algn="ctr" indent="0" marL="0">
              <a:buNone/>
            </a:pPr>
            <a:r>
              <a:rPr lang="en-US" sz="1000" b="1" dirty="0">
                <a:solidFill>
                  <a:srgbClr val="1A1A1A"/>
                </a:solidFill>
                <a:latin typeface="Arial Black" pitchFamily="34" charset="0"/>
                <a:ea typeface="Arial Black" pitchFamily="34" charset="-122"/>
                <a:cs typeface="Arial Black" pitchFamily="34" charset="-120"/>
              </a:rPr>
              <a:t>12</a:t>
            </a:r>
            <a:endParaRPr lang="en-US" sz="1000" dirty="0"/>
          </a:p>
        </p:txBody>
      </p:sp>
      <p:sp>
        <p:nvSpPr>
          <p:cNvPr id="51" name="Text 49"/>
          <p:cNvSpPr/>
          <p:nvPr/>
        </p:nvSpPr>
        <p:spPr>
          <a:xfrm>
            <a:off x="5102352" y="4343400"/>
            <a:ext cx="3749040" cy="274320"/>
          </a:xfrm>
          <a:prstGeom prst="rect">
            <a:avLst/>
          </a:prstGeom>
          <a:noFill/>
          <a:ln/>
        </p:spPr>
        <p:txBody>
          <a:bodyPr wrap="square" rtlCol="0" anchor="ctr"/>
          <a:lstStyle/>
          <a:p>
            <a:pPr indent="0" marL="0">
              <a:buNone/>
            </a:pPr>
            <a:r>
              <a:rPr lang="en-US" sz="1200" b="1" dirty="0">
                <a:solidFill>
                  <a:srgbClr val="F7C600"/>
                </a:solidFill>
                <a:latin typeface="Arial Black" pitchFamily="34" charset="0"/>
                <a:ea typeface="Arial Black" pitchFamily="34" charset="-122"/>
                <a:cs typeface="Arial Black" pitchFamily="34" charset="-120"/>
              </a:rPr>
              <a:t>Time Categories  </a:t>
            </a:r>
            <a:endParaRPr lang="en-US" sz="1200" dirty="0"/>
          </a:p>
        </p:txBody>
      </p:sp>
      <p:sp>
        <p:nvSpPr>
          <p:cNvPr id="52" name="Text 50"/>
          <p:cNvSpPr/>
          <p:nvPr/>
        </p:nvSpPr>
        <p:spPr>
          <a:xfrm>
            <a:off x="5102352" y="4599432"/>
            <a:ext cx="3749040" cy="320040"/>
          </a:xfrm>
          <a:prstGeom prst="rect">
            <a:avLst/>
          </a:prstGeom>
          <a:noFill/>
          <a:ln/>
        </p:spPr>
        <p:txBody>
          <a:bodyPr wrap="square" rtlCol="0" anchor="ctr"/>
          <a:lstStyle/>
          <a:p>
            <a:pPr indent="0" marL="0">
              <a:buNone/>
            </a:pPr>
            <a:r>
              <a:rPr lang="en-US" sz="1050" dirty="0">
                <a:solidFill>
                  <a:srgbClr val="B0B0B0"/>
                </a:solidFill>
                <a:latin typeface="Calibri" pitchFamily="34" charset="0"/>
                <a:ea typeface="Calibri" pitchFamily="34" charset="-122"/>
                <a:cs typeface="Calibri" pitchFamily="34" charset="-120"/>
              </a:rPr>
              <a:t>Labelled times: Morning Peak, Midday, Evening Peak, Night.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D2D2D"/>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7C600"/>
          </a:solidFill>
          <a:ln w="12700">
            <a:solidFill>
              <a:srgbClr val="F7C600"/>
            </a:solidFill>
            <a:prstDash val="solid"/>
          </a:ln>
        </p:spPr>
      </p:sp>
      <p:sp>
        <p:nvSpPr>
          <p:cNvPr id="3" name="Shape 1"/>
          <p:cNvSpPr/>
          <p:nvPr/>
        </p:nvSpPr>
        <p:spPr>
          <a:xfrm>
            <a:off x="0" y="5070348"/>
            <a:ext cx="9144000" cy="73152"/>
          </a:xfrm>
          <a:prstGeom prst="rect">
            <a:avLst/>
          </a:prstGeom>
          <a:solidFill>
            <a:srgbClr val="F7C600"/>
          </a:solidFill>
          <a:ln w="12700">
            <a:solidFill>
              <a:srgbClr val="F7C600"/>
            </a:solidFill>
            <a:prstDash val="solid"/>
          </a:ln>
        </p:spPr>
      </p:sp>
      <p:sp>
        <p:nvSpPr>
          <p:cNvPr id="4" name="Text 2"/>
          <p:cNvSpPr/>
          <p:nvPr/>
        </p:nvSpPr>
        <p:spPr>
          <a:xfrm>
            <a:off x="457200" y="182880"/>
            <a:ext cx="8229600" cy="640080"/>
          </a:xfrm>
          <a:prstGeom prst="rect">
            <a:avLst/>
          </a:prstGeom>
          <a:noFill/>
          <a:ln/>
        </p:spPr>
        <p:txBody>
          <a:bodyPr wrap="square" rtlCol="0" anchor="ctr"/>
          <a:lstStyle/>
          <a:p>
            <a:pPr indent="0" marL="0">
              <a:buNone/>
            </a:pPr>
            <a:r>
              <a:rPr lang="en-US" sz="2800" b="1" dirty="0">
                <a:solidFill>
                  <a:srgbClr val="F7C600"/>
                </a:solidFill>
                <a:latin typeface="Arial Black" pitchFamily="34" charset="0"/>
                <a:ea typeface="Arial Black" pitchFamily="34" charset="-122"/>
                <a:cs typeface="Arial Black" pitchFamily="34" charset="-120"/>
              </a:rPr>
              <a:t>Dimensional Modeling &amp; Optimizations</a:t>
            </a:r>
            <a:endParaRPr lang="en-US" sz="2800" dirty="0"/>
          </a:p>
        </p:txBody>
      </p:sp>
      <p:sp>
        <p:nvSpPr>
          <p:cNvPr id="5" name="Shape 3"/>
          <p:cNvSpPr/>
          <p:nvPr/>
        </p:nvSpPr>
        <p:spPr>
          <a:xfrm>
            <a:off x="457200" y="1143000"/>
            <a:ext cx="8138160" cy="1170432"/>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6" name="Shape 4"/>
          <p:cNvSpPr/>
          <p:nvPr/>
        </p:nvSpPr>
        <p:spPr>
          <a:xfrm>
            <a:off x="457200" y="1143000"/>
            <a:ext cx="109728" cy="1170432"/>
          </a:xfrm>
          <a:prstGeom prst="rect">
            <a:avLst/>
          </a:prstGeom>
          <a:solidFill>
            <a:srgbClr val="F7C600"/>
          </a:solidFill>
          <a:ln w="12700">
            <a:solidFill>
              <a:srgbClr val="F7C600"/>
            </a:solidFill>
            <a:prstDash val="solid"/>
          </a:ln>
        </p:spPr>
      </p:sp>
      <p:sp>
        <p:nvSpPr>
          <p:cNvPr id="7" name="Text 5"/>
          <p:cNvSpPr/>
          <p:nvPr/>
        </p:nvSpPr>
        <p:spPr>
          <a:xfrm>
            <a:off x="685800" y="1399032"/>
            <a:ext cx="640080" cy="6400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8" name="Text 6"/>
          <p:cNvSpPr/>
          <p:nvPr/>
        </p:nvSpPr>
        <p:spPr>
          <a:xfrm>
            <a:off x="1417320" y="1252728"/>
            <a:ext cx="6949440" cy="384048"/>
          </a:xfrm>
          <a:prstGeom prst="rect">
            <a:avLst/>
          </a:prstGeom>
          <a:noFill/>
          <a:ln/>
        </p:spPr>
        <p:txBody>
          <a:bodyPr wrap="square" rtlCol="0" anchor="ctr"/>
          <a:lstStyle/>
          <a:p>
            <a:pPr indent="0" marL="0">
              <a:buNone/>
            </a:pPr>
            <a:r>
              <a:rPr lang="en-US" sz="1500" b="1" dirty="0">
                <a:solidFill>
                  <a:srgbClr val="F7C600"/>
                </a:solidFill>
                <a:latin typeface="Arial Black" pitchFamily="34" charset="0"/>
                <a:ea typeface="Arial Black" pitchFamily="34" charset="-122"/>
                <a:cs typeface="Arial Black" pitchFamily="34" charset="-120"/>
              </a:rPr>
              <a:t>Star Schema Implementation</a:t>
            </a:r>
            <a:endParaRPr lang="en-US" sz="1500" dirty="0"/>
          </a:p>
        </p:txBody>
      </p:sp>
      <p:sp>
        <p:nvSpPr>
          <p:cNvPr id="9" name="Text 7"/>
          <p:cNvSpPr/>
          <p:nvPr/>
        </p:nvSpPr>
        <p:spPr>
          <a:xfrm>
            <a:off x="1417320" y="1645920"/>
            <a:ext cx="6949440" cy="5486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Central FACT_trips table surrounded by descriptive Dimension tables (Date, Time, Payment, Pickups, Dropoffs).</a:t>
            </a:r>
            <a:endParaRPr lang="en-US" sz="1200" dirty="0"/>
          </a:p>
        </p:txBody>
      </p:sp>
      <p:sp>
        <p:nvSpPr>
          <p:cNvPr id="10" name="Shape 8"/>
          <p:cNvSpPr/>
          <p:nvPr/>
        </p:nvSpPr>
        <p:spPr>
          <a:xfrm>
            <a:off x="457200" y="2468880"/>
            <a:ext cx="8138160" cy="1170432"/>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11" name="Shape 9"/>
          <p:cNvSpPr/>
          <p:nvPr/>
        </p:nvSpPr>
        <p:spPr>
          <a:xfrm>
            <a:off x="457200" y="2468880"/>
            <a:ext cx="109728" cy="1170432"/>
          </a:xfrm>
          <a:prstGeom prst="rect">
            <a:avLst/>
          </a:prstGeom>
          <a:solidFill>
            <a:srgbClr val="F7C600"/>
          </a:solidFill>
          <a:ln w="12700">
            <a:solidFill>
              <a:srgbClr val="F7C600"/>
            </a:solidFill>
            <a:prstDash val="solid"/>
          </a:ln>
        </p:spPr>
      </p:sp>
      <p:sp>
        <p:nvSpPr>
          <p:cNvPr id="12" name="Text 10"/>
          <p:cNvSpPr/>
          <p:nvPr/>
        </p:nvSpPr>
        <p:spPr>
          <a:xfrm>
            <a:off x="685800" y="2724912"/>
            <a:ext cx="640080" cy="6400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3" name="Text 11"/>
          <p:cNvSpPr/>
          <p:nvPr/>
        </p:nvSpPr>
        <p:spPr>
          <a:xfrm>
            <a:off x="1417320" y="2578608"/>
            <a:ext cx="6949440" cy="384048"/>
          </a:xfrm>
          <a:prstGeom prst="rect">
            <a:avLst/>
          </a:prstGeom>
          <a:noFill/>
          <a:ln/>
        </p:spPr>
        <p:txBody>
          <a:bodyPr wrap="square" rtlCol="0" anchor="ctr"/>
          <a:lstStyle/>
          <a:p>
            <a:pPr indent="0" marL="0">
              <a:buNone/>
            </a:pPr>
            <a:r>
              <a:rPr lang="en-US" sz="1500" b="1" dirty="0">
                <a:solidFill>
                  <a:srgbClr val="F7C600"/>
                </a:solidFill>
                <a:latin typeface="Arial Black" pitchFamily="34" charset="0"/>
                <a:ea typeface="Arial Black" pitchFamily="34" charset="-122"/>
                <a:cs typeface="Arial Black" pitchFamily="34" charset="-120"/>
              </a:rPr>
              <a:t>One-to-Many Relationships</a:t>
            </a:r>
            <a:endParaRPr lang="en-US" sz="1500" dirty="0"/>
          </a:p>
        </p:txBody>
      </p:sp>
      <p:sp>
        <p:nvSpPr>
          <p:cNvPr id="14" name="Text 12"/>
          <p:cNvSpPr/>
          <p:nvPr/>
        </p:nvSpPr>
        <p:spPr>
          <a:xfrm>
            <a:off x="1417320" y="2971800"/>
            <a:ext cx="6949440" cy="5486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Single-direction relationships connecting Dimension tables to the Fact table for efficient query execution.</a:t>
            </a:r>
            <a:endParaRPr lang="en-US" sz="1200" dirty="0"/>
          </a:p>
        </p:txBody>
      </p:sp>
      <p:sp>
        <p:nvSpPr>
          <p:cNvPr id="15" name="Shape 13"/>
          <p:cNvSpPr/>
          <p:nvPr/>
        </p:nvSpPr>
        <p:spPr>
          <a:xfrm>
            <a:off x="457200" y="3794760"/>
            <a:ext cx="8138160" cy="1170432"/>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16" name="Shape 14"/>
          <p:cNvSpPr/>
          <p:nvPr/>
        </p:nvSpPr>
        <p:spPr>
          <a:xfrm>
            <a:off x="457200" y="3794760"/>
            <a:ext cx="109728" cy="1170432"/>
          </a:xfrm>
          <a:prstGeom prst="rect">
            <a:avLst/>
          </a:prstGeom>
          <a:solidFill>
            <a:srgbClr val="F7C600"/>
          </a:solidFill>
          <a:ln w="12700">
            <a:solidFill>
              <a:srgbClr val="F7C600"/>
            </a:solidFill>
            <a:prstDash val="solid"/>
          </a:ln>
        </p:spPr>
      </p:sp>
      <p:sp>
        <p:nvSpPr>
          <p:cNvPr id="17" name="Text 15"/>
          <p:cNvSpPr/>
          <p:nvPr/>
        </p:nvSpPr>
        <p:spPr>
          <a:xfrm>
            <a:off x="685800" y="4050792"/>
            <a:ext cx="640080" cy="6400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8" name="Text 16"/>
          <p:cNvSpPr/>
          <p:nvPr/>
        </p:nvSpPr>
        <p:spPr>
          <a:xfrm>
            <a:off x="1417320" y="3904488"/>
            <a:ext cx="6949440" cy="384048"/>
          </a:xfrm>
          <a:prstGeom prst="rect">
            <a:avLst/>
          </a:prstGeom>
          <a:noFill/>
          <a:ln/>
        </p:spPr>
        <p:txBody>
          <a:bodyPr wrap="square" rtlCol="0" anchor="ctr"/>
          <a:lstStyle/>
          <a:p>
            <a:pPr indent="0" marL="0">
              <a:buNone/>
            </a:pPr>
            <a:r>
              <a:rPr lang="en-US" sz="1500" b="1" dirty="0">
                <a:solidFill>
                  <a:srgbClr val="F7C600"/>
                </a:solidFill>
                <a:latin typeface="Arial Black" pitchFamily="34" charset="0"/>
                <a:ea typeface="Arial Black" pitchFamily="34" charset="-122"/>
                <a:cs typeface="Arial Black" pitchFamily="34" charset="-120"/>
              </a:rPr>
              <a:t>Data Reduction</a:t>
            </a:r>
            <a:endParaRPr lang="en-US" sz="1500" dirty="0"/>
          </a:p>
        </p:txBody>
      </p:sp>
      <p:sp>
        <p:nvSpPr>
          <p:cNvPr id="19" name="Text 17"/>
          <p:cNvSpPr/>
          <p:nvPr/>
        </p:nvSpPr>
        <p:spPr>
          <a:xfrm>
            <a:off x="1417320" y="4297680"/>
            <a:ext cx="6949440" cy="5486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Optimized model size and performance by dropping duplicate rows and redundant geographical coordinates early in the transformation process.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D2D2D"/>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7C600"/>
          </a:solidFill>
          <a:ln w="12700">
            <a:solidFill>
              <a:srgbClr val="F7C600"/>
            </a:solidFill>
            <a:prstDash val="solid"/>
          </a:ln>
        </p:spPr>
      </p:sp>
      <p:sp>
        <p:nvSpPr>
          <p:cNvPr id="3" name="Shape 1"/>
          <p:cNvSpPr/>
          <p:nvPr/>
        </p:nvSpPr>
        <p:spPr>
          <a:xfrm>
            <a:off x="0" y="5070348"/>
            <a:ext cx="9144000" cy="73152"/>
          </a:xfrm>
          <a:prstGeom prst="rect">
            <a:avLst/>
          </a:prstGeom>
          <a:solidFill>
            <a:srgbClr val="F7C600"/>
          </a:solidFill>
          <a:ln w="12700">
            <a:solidFill>
              <a:srgbClr val="F7C600"/>
            </a:solidFill>
            <a:prstDash val="solid"/>
          </a:ln>
        </p:spPr>
      </p:sp>
      <p:sp>
        <p:nvSpPr>
          <p:cNvPr id="4" name="Text 2"/>
          <p:cNvSpPr/>
          <p:nvPr/>
        </p:nvSpPr>
        <p:spPr>
          <a:xfrm>
            <a:off x="457200" y="182880"/>
            <a:ext cx="8229600" cy="640080"/>
          </a:xfrm>
          <a:prstGeom prst="rect">
            <a:avLst/>
          </a:prstGeom>
          <a:noFill/>
          <a:ln/>
        </p:spPr>
        <p:txBody>
          <a:bodyPr wrap="square" rtlCol="0" anchor="ctr"/>
          <a:lstStyle/>
          <a:p>
            <a:pPr indent="0" marL="0">
              <a:buNone/>
            </a:pPr>
            <a:r>
              <a:rPr lang="en-US" sz="2800" b="1" dirty="0">
                <a:solidFill>
                  <a:srgbClr val="F7C600"/>
                </a:solidFill>
                <a:latin typeface="Arial Black" pitchFamily="34" charset="0"/>
                <a:ea typeface="Arial Black" pitchFamily="34" charset="-122"/>
                <a:cs typeface="Arial Black" pitchFamily="34" charset="-120"/>
              </a:rPr>
              <a:t>Analytical DAX Measures &amp; Tables</a:t>
            </a:r>
            <a:endParaRPr lang="en-US" sz="2800" dirty="0"/>
          </a:p>
        </p:txBody>
      </p:sp>
      <p:sp>
        <p:nvSpPr>
          <p:cNvPr id="5" name="Shape 3"/>
          <p:cNvSpPr/>
          <p:nvPr/>
        </p:nvSpPr>
        <p:spPr>
          <a:xfrm>
            <a:off x="365760" y="1097280"/>
            <a:ext cx="3840480" cy="384048"/>
          </a:xfrm>
          <a:prstGeom prst="rect">
            <a:avLst/>
          </a:prstGeom>
          <a:solidFill>
            <a:srgbClr val="1A1A1A"/>
          </a:solidFill>
          <a:ln w="12700">
            <a:solidFill>
              <a:srgbClr val="1A1A1A"/>
            </a:solidFill>
            <a:prstDash val="solid"/>
          </a:ln>
          <a:effectLst>
            <a:outerShdw sx="100000" sy="100000" kx="0" ky="0" algn="bl" rotWithShape="0" blurRad="101600" dist="38100" dir="8100000">
              <a:srgbClr val="000000">
                <a:alpha val="30000"/>
              </a:srgbClr>
            </a:outerShdw>
          </a:effectLst>
        </p:spPr>
      </p:sp>
      <p:sp>
        <p:nvSpPr>
          <p:cNvPr id="6" name="Shape 4"/>
          <p:cNvSpPr/>
          <p:nvPr/>
        </p:nvSpPr>
        <p:spPr>
          <a:xfrm>
            <a:off x="4343400" y="1097280"/>
            <a:ext cx="4434840" cy="384048"/>
          </a:xfrm>
          <a:prstGeom prst="rect">
            <a:avLst/>
          </a:prstGeom>
          <a:solidFill>
            <a:srgbClr val="1A1A1A"/>
          </a:solidFill>
          <a:ln w="12700">
            <a:solidFill>
              <a:srgbClr val="1A1A1A"/>
            </a:solidFill>
            <a:prstDash val="solid"/>
          </a:ln>
          <a:effectLst>
            <a:outerShdw sx="100000" sy="100000" kx="0" ky="0" algn="bl" rotWithShape="0" blurRad="101600" dist="38100" dir="8100000">
              <a:srgbClr val="000000">
                <a:alpha val="30000"/>
              </a:srgbClr>
            </a:outerShdw>
          </a:effectLst>
        </p:spPr>
      </p:sp>
      <p:sp>
        <p:nvSpPr>
          <p:cNvPr id="7" name="Text 5"/>
          <p:cNvSpPr/>
          <p:nvPr/>
        </p:nvSpPr>
        <p:spPr>
          <a:xfrm>
            <a:off x="457200" y="1115568"/>
            <a:ext cx="3749040" cy="347472"/>
          </a:xfrm>
          <a:prstGeom prst="rect">
            <a:avLst/>
          </a:prstGeom>
          <a:noFill/>
          <a:ln/>
        </p:spPr>
        <p:txBody>
          <a:bodyPr wrap="square" rtlCol="0" anchor="ctr"/>
          <a:lstStyle/>
          <a:p>
            <a:pPr indent="0" marL="0">
              <a:buNone/>
            </a:pPr>
            <a:r>
              <a:rPr lang="en-US" sz="1200" b="1" dirty="0">
                <a:solidFill>
                  <a:srgbClr val="F7C600"/>
                </a:solidFill>
                <a:latin typeface="Arial Black" pitchFamily="34" charset="0"/>
                <a:ea typeface="Arial Black" pitchFamily="34" charset="-122"/>
                <a:cs typeface="Arial Black" pitchFamily="34" charset="-120"/>
              </a:rPr>
              <a:t>Measure</a:t>
            </a:r>
            <a:endParaRPr lang="en-US" sz="1200" dirty="0"/>
          </a:p>
        </p:txBody>
      </p:sp>
      <p:sp>
        <p:nvSpPr>
          <p:cNvPr id="8" name="Text 6"/>
          <p:cNvSpPr/>
          <p:nvPr/>
        </p:nvSpPr>
        <p:spPr>
          <a:xfrm>
            <a:off x="4434840" y="1115568"/>
            <a:ext cx="4206240" cy="347472"/>
          </a:xfrm>
          <a:prstGeom prst="rect">
            <a:avLst/>
          </a:prstGeom>
          <a:noFill/>
          <a:ln/>
        </p:spPr>
        <p:txBody>
          <a:bodyPr wrap="square" rtlCol="0" anchor="ctr"/>
          <a:lstStyle/>
          <a:p>
            <a:pPr indent="0" marL="0">
              <a:buNone/>
            </a:pPr>
            <a:r>
              <a:rPr lang="en-US" sz="1200" b="1" dirty="0">
                <a:solidFill>
                  <a:srgbClr val="F7C600"/>
                </a:solidFill>
                <a:latin typeface="Arial Black" pitchFamily="34" charset="0"/>
                <a:ea typeface="Arial Black" pitchFamily="34" charset="-122"/>
                <a:cs typeface="Arial Black" pitchFamily="34" charset="-120"/>
              </a:rPr>
              <a:t>Formula / Description</a:t>
            </a:r>
            <a:endParaRPr lang="en-US" sz="1200" dirty="0"/>
          </a:p>
        </p:txBody>
      </p:sp>
      <p:sp>
        <p:nvSpPr>
          <p:cNvPr id="9" name="Shape 7"/>
          <p:cNvSpPr/>
          <p:nvPr/>
        </p:nvSpPr>
        <p:spPr>
          <a:xfrm>
            <a:off x="365760" y="1499616"/>
            <a:ext cx="3840480" cy="301752"/>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10" name="Shape 8"/>
          <p:cNvSpPr/>
          <p:nvPr/>
        </p:nvSpPr>
        <p:spPr>
          <a:xfrm>
            <a:off x="4343400" y="1499616"/>
            <a:ext cx="4434840" cy="301752"/>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11" name="Text 9"/>
          <p:cNvSpPr/>
          <p:nvPr/>
        </p:nvSpPr>
        <p:spPr>
          <a:xfrm>
            <a:off x="457200" y="1517904"/>
            <a:ext cx="3749040"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Total Trips</a:t>
            </a:r>
            <a:endParaRPr lang="en-US" sz="1050" dirty="0"/>
          </a:p>
        </p:txBody>
      </p:sp>
      <p:sp>
        <p:nvSpPr>
          <p:cNvPr id="12" name="Text 10"/>
          <p:cNvSpPr/>
          <p:nvPr/>
        </p:nvSpPr>
        <p:spPr>
          <a:xfrm>
            <a:off x="4434840" y="1517904"/>
            <a:ext cx="4206240" cy="274320"/>
          </a:xfrm>
          <a:prstGeom prst="rect">
            <a:avLst/>
          </a:prstGeom>
          <a:noFill/>
          <a:ln/>
        </p:spPr>
        <p:txBody>
          <a:bodyPr wrap="square" rtlCol="0" anchor="ctr"/>
          <a:lstStyle/>
          <a:p>
            <a:pPr indent="0" marL="0">
              <a:buNone/>
            </a:pPr>
            <a:r>
              <a:rPr lang="en-US" sz="950" dirty="0">
                <a:solidFill>
                  <a:srgbClr val="00A8E8"/>
                </a:solidFill>
                <a:latin typeface="Consolas" pitchFamily="34" charset="0"/>
                <a:ea typeface="Consolas" pitchFamily="34" charset="-122"/>
                <a:cs typeface="Consolas" pitchFamily="34" charset="-120"/>
              </a:rPr>
              <a:t>COUNTROWS(FACT_trips)</a:t>
            </a:r>
            <a:endParaRPr lang="en-US" sz="950" dirty="0"/>
          </a:p>
        </p:txBody>
      </p:sp>
      <p:sp>
        <p:nvSpPr>
          <p:cNvPr id="13" name="Shape 11"/>
          <p:cNvSpPr/>
          <p:nvPr/>
        </p:nvSpPr>
        <p:spPr>
          <a:xfrm>
            <a:off x="365760" y="1801368"/>
            <a:ext cx="3840480" cy="301752"/>
          </a:xfrm>
          <a:prstGeom prst="rect">
            <a:avLst/>
          </a:prstGeom>
          <a:solidFill>
            <a:srgbClr val="252525"/>
          </a:solidFill>
          <a:ln w="12700">
            <a:solidFill>
              <a:srgbClr val="252525"/>
            </a:solidFill>
            <a:prstDash val="solid"/>
          </a:ln>
          <a:effectLst>
            <a:outerShdw sx="100000" sy="100000" kx="0" ky="0" algn="bl" rotWithShape="0" blurRad="101600" dist="38100" dir="8100000">
              <a:srgbClr val="000000">
                <a:alpha val="30000"/>
              </a:srgbClr>
            </a:outerShdw>
          </a:effectLst>
        </p:spPr>
      </p:sp>
      <p:sp>
        <p:nvSpPr>
          <p:cNvPr id="14" name="Shape 12"/>
          <p:cNvSpPr/>
          <p:nvPr/>
        </p:nvSpPr>
        <p:spPr>
          <a:xfrm>
            <a:off x="4343400" y="1801368"/>
            <a:ext cx="4434840" cy="301752"/>
          </a:xfrm>
          <a:prstGeom prst="rect">
            <a:avLst/>
          </a:prstGeom>
          <a:solidFill>
            <a:srgbClr val="252525"/>
          </a:solidFill>
          <a:ln w="12700">
            <a:solidFill>
              <a:srgbClr val="252525"/>
            </a:solidFill>
            <a:prstDash val="solid"/>
          </a:ln>
          <a:effectLst>
            <a:outerShdw sx="100000" sy="100000" kx="0" ky="0" algn="bl" rotWithShape="0" blurRad="101600" dist="38100" dir="8100000">
              <a:srgbClr val="000000">
                <a:alpha val="30000"/>
              </a:srgbClr>
            </a:outerShdw>
          </a:effectLst>
        </p:spPr>
      </p:sp>
      <p:sp>
        <p:nvSpPr>
          <p:cNvPr id="15" name="Text 13"/>
          <p:cNvSpPr/>
          <p:nvPr/>
        </p:nvSpPr>
        <p:spPr>
          <a:xfrm>
            <a:off x="457200" y="1819656"/>
            <a:ext cx="3749040"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Total Distance</a:t>
            </a:r>
            <a:endParaRPr lang="en-US" sz="1050" dirty="0"/>
          </a:p>
        </p:txBody>
      </p:sp>
      <p:sp>
        <p:nvSpPr>
          <p:cNvPr id="16" name="Text 14"/>
          <p:cNvSpPr/>
          <p:nvPr/>
        </p:nvSpPr>
        <p:spPr>
          <a:xfrm>
            <a:off x="4434840" y="1819656"/>
            <a:ext cx="4206240" cy="274320"/>
          </a:xfrm>
          <a:prstGeom prst="rect">
            <a:avLst/>
          </a:prstGeom>
          <a:noFill/>
          <a:ln/>
        </p:spPr>
        <p:txBody>
          <a:bodyPr wrap="square" rtlCol="0" anchor="ctr"/>
          <a:lstStyle/>
          <a:p>
            <a:pPr indent="0" marL="0">
              <a:buNone/>
            </a:pPr>
            <a:r>
              <a:rPr lang="en-US" sz="950" dirty="0">
                <a:solidFill>
                  <a:srgbClr val="00A8E8"/>
                </a:solidFill>
                <a:latin typeface="Consolas" pitchFamily="34" charset="0"/>
                <a:ea typeface="Consolas" pitchFamily="34" charset="-122"/>
                <a:cs typeface="Consolas" pitchFamily="34" charset="-120"/>
              </a:rPr>
              <a:t>SUM(FACT_trips[trip_distance])</a:t>
            </a:r>
            <a:endParaRPr lang="en-US" sz="950" dirty="0"/>
          </a:p>
        </p:txBody>
      </p:sp>
      <p:sp>
        <p:nvSpPr>
          <p:cNvPr id="17" name="Shape 15"/>
          <p:cNvSpPr/>
          <p:nvPr/>
        </p:nvSpPr>
        <p:spPr>
          <a:xfrm>
            <a:off x="365760" y="2103120"/>
            <a:ext cx="3840480" cy="301752"/>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18" name="Shape 16"/>
          <p:cNvSpPr/>
          <p:nvPr/>
        </p:nvSpPr>
        <p:spPr>
          <a:xfrm>
            <a:off x="4343400" y="2103120"/>
            <a:ext cx="4434840" cy="301752"/>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19" name="Text 17"/>
          <p:cNvSpPr/>
          <p:nvPr/>
        </p:nvSpPr>
        <p:spPr>
          <a:xfrm>
            <a:off x="457200" y="2121408"/>
            <a:ext cx="3749040"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Avg Passengers</a:t>
            </a:r>
            <a:endParaRPr lang="en-US" sz="1050" dirty="0"/>
          </a:p>
        </p:txBody>
      </p:sp>
      <p:sp>
        <p:nvSpPr>
          <p:cNvPr id="20" name="Text 18"/>
          <p:cNvSpPr/>
          <p:nvPr/>
        </p:nvSpPr>
        <p:spPr>
          <a:xfrm>
            <a:off x="4434840" y="2121408"/>
            <a:ext cx="4206240" cy="274320"/>
          </a:xfrm>
          <a:prstGeom prst="rect">
            <a:avLst/>
          </a:prstGeom>
          <a:noFill/>
          <a:ln/>
        </p:spPr>
        <p:txBody>
          <a:bodyPr wrap="square" rtlCol="0" anchor="ctr"/>
          <a:lstStyle/>
          <a:p>
            <a:pPr indent="0" marL="0">
              <a:buNone/>
            </a:pPr>
            <a:r>
              <a:rPr lang="en-US" sz="950" dirty="0">
                <a:solidFill>
                  <a:srgbClr val="00A8E8"/>
                </a:solidFill>
                <a:latin typeface="Consolas" pitchFamily="34" charset="0"/>
                <a:ea typeface="Consolas" pitchFamily="34" charset="-122"/>
                <a:cs typeface="Consolas" pitchFamily="34" charset="-120"/>
              </a:rPr>
              <a:t>AVERAGE(FACT_trips[passenger_count])</a:t>
            </a:r>
            <a:endParaRPr lang="en-US" sz="950" dirty="0"/>
          </a:p>
        </p:txBody>
      </p:sp>
      <p:sp>
        <p:nvSpPr>
          <p:cNvPr id="21" name="Shape 19"/>
          <p:cNvSpPr/>
          <p:nvPr/>
        </p:nvSpPr>
        <p:spPr>
          <a:xfrm>
            <a:off x="365760" y="2404872"/>
            <a:ext cx="3840480" cy="301752"/>
          </a:xfrm>
          <a:prstGeom prst="rect">
            <a:avLst/>
          </a:prstGeom>
          <a:solidFill>
            <a:srgbClr val="252525"/>
          </a:solidFill>
          <a:ln w="12700">
            <a:solidFill>
              <a:srgbClr val="252525"/>
            </a:solidFill>
            <a:prstDash val="solid"/>
          </a:ln>
          <a:effectLst>
            <a:outerShdw sx="100000" sy="100000" kx="0" ky="0" algn="bl" rotWithShape="0" blurRad="101600" dist="38100" dir="8100000">
              <a:srgbClr val="000000">
                <a:alpha val="30000"/>
              </a:srgbClr>
            </a:outerShdw>
          </a:effectLst>
        </p:spPr>
      </p:sp>
      <p:sp>
        <p:nvSpPr>
          <p:cNvPr id="22" name="Shape 20"/>
          <p:cNvSpPr/>
          <p:nvPr/>
        </p:nvSpPr>
        <p:spPr>
          <a:xfrm>
            <a:off x="4343400" y="2404872"/>
            <a:ext cx="4434840" cy="301752"/>
          </a:xfrm>
          <a:prstGeom prst="rect">
            <a:avLst/>
          </a:prstGeom>
          <a:solidFill>
            <a:srgbClr val="252525"/>
          </a:solidFill>
          <a:ln w="12700">
            <a:solidFill>
              <a:srgbClr val="252525"/>
            </a:solidFill>
            <a:prstDash val="solid"/>
          </a:ln>
          <a:effectLst>
            <a:outerShdw sx="100000" sy="100000" kx="0" ky="0" algn="bl" rotWithShape="0" blurRad="101600" dist="38100" dir="8100000">
              <a:srgbClr val="000000">
                <a:alpha val="30000"/>
              </a:srgbClr>
            </a:outerShdw>
          </a:effectLst>
        </p:spPr>
      </p:sp>
      <p:sp>
        <p:nvSpPr>
          <p:cNvPr id="23" name="Text 21"/>
          <p:cNvSpPr/>
          <p:nvPr/>
        </p:nvSpPr>
        <p:spPr>
          <a:xfrm>
            <a:off x="457200" y="2423160"/>
            <a:ext cx="3749040"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Avg Duration (Min)</a:t>
            </a:r>
            <a:endParaRPr lang="en-US" sz="1050" dirty="0"/>
          </a:p>
        </p:txBody>
      </p:sp>
      <p:sp>
        <p:nvSpPr>
          <p:cNvPr id="24" name="Text 22"/>
          <p:cNvSpPr/>
          <p:nvPr/>
        </p:nvSpPr>
        <p:spPr>
          <a:xfrm>
            <a:off x="4434840" y="2423160"/>
            <a:ext cx="4206240" cy="274320"/>
          </a:xfrm>
          <a:prstGeom prst="rect">
            <a:avLst/>
          </a:prstGeom>
          <a:noFill/>
          <a:ln/>
        </p:spPr>
        <p:txBody>
          <a:bodyPr wrap="square" rtlCol="0" anchor="ctr"/>
          <a:lstStyle/>
          <a:p>
            <a:pPr indent="0" marL="0">
              <a:buNone/>
            </a:pPr>
            <a:r>
              <a:rPr lang="en-US" sz="950" dirty="0">
                <a:solidFill>
                  <a:srgbClr val="00A8E8"/>
                </a:solidFill>
                <a:latin typeface="Consolas" pitchFamily="34" charset="0"/>
                <a:ea typeface="Consolas" pitchFamily="34" charset="-122"/>
                <a:cs typeface="Consolas" pitchFamily="34" charset="-120"/>
              </a:rPr>
              <a:t>AVERAGE(FACT_trips[trip_duration]) / 60</a:t>
            </a:r>
            <a:endParaRPr lang="en-US" sz="950" dirty="0"/>
          </a:p>
        </p:txBody>
      </p:sp>
      <p:sp>
        <p:nvSpPr>
          <p:cNvPr id="25" name="Shape 23"/>
          <p:cNvSpPr/>
          <p:nvPr/>
        </p:nvSpPr>
        <p:spPr>
          <a:xfrm>
            <a:off x="365760" y="2706624"/>
            <a:ext cx="3840480" cy="301752"/>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26" name="Shape 24"/>
          <p:cNvSpPr/>
          <p:nvPr/>
        </p:nvSpPr>
        <p:spPr>
          <a:xfrm>
            <a:off x="4343400" y="2706624"/>
            <a:ext cx="4434840" cy="301752"/>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27" name="Text 25"/>
          <p:cNvSpPr/>
          <p:nvPr/>
        </p:nvSpPr>
        <p:spPr>
          <a:xfrm>
            <a:off x="457200" y="2724912"/>
            <a:ext cx="3749040"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Trips YTD</a:t>
            </a:r>
            <a:endParaRPr lang="en-US" sz="1050" dirty="0"/>
          </a:p>
        </p:txBody>
      </p:sp>
      <p:sp>
        <p:nvSpPr>
          <p:cNvPr id="28" name="Text 26"/>
          <p:cNvSpPr/>
          <p:nvPr/>
        </p:nvSpPr>
        <p:spPr>
          <a:xfrm>
            <a:off x="4434840" y="2724912"/>
            <a:ext cx="4206240" cy="274320"/>
          </a:xfrm>
          <a:prstGeom prst="rect">
            <a:avLst/>
          </a:prstGeom>
          <a:noFill/>
          <a:ln/>
        </p:spPr>
        <p:txBody>
          <a:bodyPr wrap="square" rtlCol="0" anchor="ctr"/>
          <a:lstStyle/>
          <a:p>
            <a:pPr indent="0" marL="0">
              <a:buNone/>
            </a:pPr>
            <a:r>
              <a:rPr lang="en-US" sz="950" dirty="0">
                <a:solidFill>
                  <a:srgbClr val="00A8E8"/>
                </a:solidFill>
                <a:latin typeface="Consolas" pitchFamily="34" charset="0"/>
                <a:ea typeface="Consolas" pitchFamily="34" charset="-122"/>
                <a:cs typeface="Consolas" pitchFamily="34" charset="-120"/>
              </a:rPr>
              <a:t>TOTALYTD([Total_Trips], DIM_Date[Date])</a:t>
            </a:r>
            <a:endParaRPr lang="en-US" sz="950" dirty="0"/>
          </a:p>
        </p:txBody>
      </p:sp>
      <p:sp>
        <p:nvSpPr>
          <p:cNvPr id="29" name="Shape 27"/>
          <p:cNvSpPr/>
          <p:nvPr/>
        </p:nvSpPr>
        <p:spPr>
          <a:xfrm>
            <a:off x="365760" y="3008376"/>
            <a:ext cx="3840480" cy="301752"/>
          </a:xfrm>
          <a:prstGeom prst="rect">
            <a:avLst/>
          </a:prstGeom>
          <a:solidFill>
            <a:srgbClr val="252525"/>
          </a:solidFill>
          <a:ln w="12700">
            <a:solidFill>
              <a:srgbClr val="252525"/>
            </a:solidFill>
            <a:prstDash val="solid"/>
          </a:ln>
          <a:effectLst>
            <a:outerShdw sx="100000" sy="100000" kx="0" ky="0" algn="bl" rotWithShape="0" blurRad="101600" dist="38100" dir="8100000">
              <a:srgbClr val="000000">
                <a:alpha val="30000"/>
              </a:srgbClr>
            </a:outerShdw>
          </a:effectLst>
        </p:spPr>
      </p:sp>
      <p:sp>
        <p:nvSpPr>
          <p:cNvPr id="30" name="Shape 28"/>
          <p:cNvSpPr/>
          <p:nvPr/>
        </p:nvSpPr>
        <p:spPr>
          <a:xfrm>
            <a:off x="4343400" y="3008376"/>
            <a:ext cx="4434840" cy="301752"/>
          </a:xfrm>
          <a:prstGeom prst="rect">
            <a:avLst/>
          </a:prstGeom>
          <a:solidFill>
            <a:srgbClr val="252525"/>
          </a:solidFill>
          <a:ln w="12700">
            <a:solidFill>
              <a:srgbClr val="252525"/>
            </a:solidFill>
            <a:prstDash val="solid"/>
          </a:ln>
          <a:effectLst>
            <a:outerShdw sx="100000" sy="100000" kx="0" ky="0" algn="bl" rotWithShape="0" blurRad="101600" dist="38100" dir="8100000">
              <a:srgbClr val="000000">
                <a:alpha val="30000"/>
              </a:srgbClr>
            </a:outerShdw>
          </a:effectLst>
        </p:spPr>
      </p:sp>
      <p:sp>
        <p:nvSpPr>
          <p:cNvPr id="31" name="Text 29"/>
          <p:cNvSpPr/>
          <p:nvPr/>
        </p:nvSpPr>
        <p:spPr>
          <a:xfrm>
            <a:off x="457200" y="3026664"/>
            <a:ext cx="3749040"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Trips MTD</a:t>
            </a:r>
            <a:endParaRPr lang="en-US" sz="1050" dirty="0"/>
          </a:p>
        </p:txBody>
      </p:sp>
      <p:sp>
        <p:nvSpPr>
          <p:cNvPr id="32" name="Text 30"/>
          <p:cNvSpPr/>
          <p:nvPr/>
        </p:nvSpPr>
        <p:spPr>
          <a:xfrm>
            <a:off x="4434840" y="3026664"/>
            <a:ext cx="4206240" cy="274320"/>
          </a:xfrm>
          <a:prstGeom prst="rect">
            <a:avLst/>
          </a:prstGeom>
          <a:noFill/>
          <a:ln/>
        </p:spPr>
        <p:txBody>
          <a:bodyPr wrap="square" rtlCol="0" anchor="ctr"/>
          <a:lstStyle/>
          <a:p>
            <a:pPr indent="0" marL="0">
              <a:buNone/>
            </a:pPr>
            <a:r>
              <a:rPr lang="en-US" sz="950" dirty="0">
                <a:solidFill>
                  <a:srgbClr val="00A8E8"/>
                </a:solidFill>
                <a:latin typeface="Consolas" pitchFamily="34" charset="0"/>
                <a:ea typeface="Consolas" pitchFamily="34" charset="-122"/>
                <a:cs typeface="Consolas" pitchFamily="34" charset="-120"/>
              </a:rPr>
              <a:t>TOTALMTD([Total_Trips], DIM_Date[Date])</a:t>
            </a:r>
            <a:endParaRPr lang="en-US" sz="950" dirty="0"/>
          </a:p>
        </p:txBody>
      </p:sp>
      <p:sp>
        <p:nvSpPr>
          <p:cNvPr id="33" name="Shape 31"/>
          <p:cNvSpPr/>
          <p:nvPr/>
        </p:nvSpPr>
        <p:spPr>
          <a:xfrm>
            <a:off x="365760" y="3310128"/>
            <a:ext cx="3840480" cy="301752"/>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34" name="Shape 32"/>
          <p:cNvSpPr/>
          <p:nvPr/>
        </p:nvSpPr>
        <p:spPr>
          <a:xfrm>
            <a:off x="4343400" y="3310128"/>
            <a:ext cx="4434840" cy="301752"/>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35" name="Text 33"/>
          <p:cNvSpPr/>
          <p:nvPr/>
        </p:nvSpPr>
        <p:spPr>
          <a:xfrm>
            <a:off x="457200" y="3328416"/>
            <a:ext cx="3749040"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Credit Card %</a:t>
            </a:r>
            <a:endParaRPr lang="en-US" sz="1050" dirty="0"/>
          </a:p>
        </p:txBody>
      </p:sp>
      <p:sp>
        <p:nvSpPr>
          <p:cNvPr id="36" name="Text 34"/>
          <p:cNvSpPr/>
          <p:nvPr/>
        </p:nvSpPr>
        <p:spPr>
          <a:xfrm>
            <a:off x="4434840" y="3328416"/>
            <a:ext cx="4206240" cy="274320"/>
          </a:xfrm>
          <a:prstGeom prst="rect">
            <a:avLst/>
          </a:prstGeom>
          <a:noFill/>
          <a:ln/>
        </p:spPr>
        <p:txBody>
          <a:bodyPr wrap="square" rtlCol="0" anchor="ctr"/>
          <a:lstStyle/>
          <a:p>
            <a:pPr indent="0" marL="0">
              <a:buNone/>
            </a:pPr>
            <a:r>
              <a:rPr lang="en-US" sz="950" dirty="0">
                <a:solidFill>
                  <a:srgbClr val="00A8E8"/>
                </a:solidFill>
                <a:latin typeface="Consolas" pitchFamily="34" charset="0"/>
                <a:ea typeface="Consolas" pitchFamily="34" charset="-122"/>
                <a:cs typeface="Consolas" pitchFamily="34" charset="-120"/>
              </a:rPr>
              <a:t>DIVIDE(CALCULATE([Total_Trips], payment_type=1), [Total_Trips], 0)</a:t>
            </a:r>
            <a:endParaRPr lang="en-US" sz="950" dirty="0"/>
          </a:p>
        </p:txBody>
      </p:sp>
      <p:sp>
        <p:nvSpPr>
          <p:cNvPr id="37" name="Shape 35"/>
          <p:cNvSpPr/>
          <p:nvPr/>
        </p:nvSpPr>
        <p:spPr>
          <a:xfrm>
            <a:off x="365760" y="3611880"/>
            <a:ext cx="3840480" cy="301752"/>
          </a:xfrm>
          <a:prstGeom prst="rect">
            <a:avLst/>
          </a:prstGeom>
          <a:solidFill>
            <a:srgbClr val="252525"/>
          </a:solidFill>
          <a:ln w="12700">
            <a:solidFill>
              <a:srgbClr val="252525"/>
            </a:solidFill>
            <a:prstDash val="solid"/>
          </a:ln>
          <a:effectLst>
            <a:outerShdw sx="100000" sy="100000" kx="0" ky="0" algn="bl" rotWithShape="0" blurRad="101600" dist="38100" dir="8100000">
              <a:srgbClr val="000000">
                <a:alpha val="30000"/>
              </a:srgbClr>
            </a:outerShdw>
          </a:effectLst>
        </p:spPr>
      </p:sp>
      <p:sp>
        <p:nvSpPr>
          <p:cNvPr id="38" name="Shape 36"/>
          <p:cNvSpPr/>
          <p:nvPr/>
        </p:nvSpPr>
        <p:spPr>
          <a:xfrm>
            <a:off x="4343400" y="3611880"/>
            <a:ext cx="4434840" cy="301752"/>
          </a:xfrm>
          <a:prstGeom prst="rect">
            <a:avLst/>
          </a:prstGeom>
          <a:solidFill>
            <a:srgbClr val="252525"/>
          </a:solidFill>
          <a:ln w="12700">
            <a:solidFill>
              <a:srgbClr val="252525"/>
            </a:solidFill>
            <a:prstDash val="solid"/>
          </a:ln>
          <a:effectLst>
            <a:outerShdw sx="100000" sy="100000" kx="0" ky="0" algn="bl" rotWithShape="0" blurRad="101600" dist="38100" dir="8100000">
              <a:srgbClr val="000000">
                <a:alpha val="30000"/>
              </a:srgbClr>
            </a:outerShdw>
          </a:effectLst>
        </p:spPr>
      </p:sp>
      <p:sp>
        <p:nvSpPr>
          <p:cNvPr id="39" name="Text 37"/>
          <p:cNvSpPr/>
          <p:nvPr/>
        </p:nvSpPr>
        <p:spPr>
          <a:xfrm>
            <a:off x="457200" y="3630168"/>
            <a:ext cx="3749040"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Cash %</a:t>
            </a:r>
            <a:endParaRPr lang="en-US" sz="1050" dirty="0"/>
          </a:p>
        </p:txBody>
      </p:sp>
      <p:sp>
        <p:nvSpPr>
          <p:cNvPr id="40" name="Text 38"/>
          <p:cNvSpPr/>
          <p:nvPr/>
        </p:nvSpPr>
        <p:spPr>
          <a:xfrm>
            <a:off x="4434840" y="3630168"/>
            <a:ext cx="4206240" cy="274320"/>
          </a:xfrm>
          <a:prstGeom prst="rect">
            <a:avLst/>
          </a:prstGeom>
          <a:noFill/>
          <a:ln/>
        </p:spPr>
        <p:txBody>
          <a:bodyPr wrap="square" rtlCol="0" anchor="ctr"/>
          <a:lstStyle/>
          <a:p>
            <a:pPr indent="0" marL="0">
              <a:buNone/>
            </a:pPr>
            <a:r>
              <a:rPr lang="en-US" sz="950" dirty="0">
                <a:solidFill>
                  <a:srgbClr val="00A8E8"/>
                </a:solidFill>
                <a:latin typeface="Consolas" pitchFamily="34" charset="0"/>
                <a:ea typeface="Consolas" pitchFamily="34" charset="-122"/>
                <a:cs typeface="Consolas" pitchFamily="34" charset="-120"/>
              </a:rPr>
              <a:t>DIVIDE(CALCULATE([Total_Trips], payment_type=2), [Total_Trips], 0)</a:t>
            </a:r>
            <a:endParaRPr lang="en-US" sz="950" dirty="0"/>
          </a:p>
        </p:txBody>
      </p:sp>
      <p:sp>
        <p:nvSpPr>
          <p:cNvPr id="41" name="Shape 39"/>
          <p:cNvSpPr/>
          <p:nvPr/>
        </p:nvSpPr>
        <p:spPr>
          <a:xfrm>
            <a:off x="365760" y="3913632"/>
            <a:ext cx="3840480" cy="301752"/>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42" name="Shape 40"/>
          <p:cNvSpPr/>
          <p:nvPr/>
        </p:nvSpPr>
        <p:spPr>
          <a:xfrm>
            <a:off x="4343400" y="3913632"/>
            <a:ext cx="4434840" cy="301752"/>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43" name="Text 41"/>
          <p:cNvSpPr/>
          <p:nvPr/>
        </p:nvSpPr>
        <p:spPr>
          <a:xfrm>
            <a:off x="457200" y="3931920"/>
            <a:ext cx="3749040"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Peak Hour Trips</a:t>
            </a:r>
            <a:endParaRPr lang="en-US" sz="1050" dirty="0"/>
          </a:p>
        </p:txBody>
      </p:sp>
      <p:sp>
        <p:nvSpPr>
          <p:cNvPr id="44" name="Text 42"/>
          <p:cNvSpPr/>
          <p:nvPr/>
        </p:nvSpPr>
        <p:spPr>
          <a:xfrm>
            <a:off x="4434840" y="3931920"/>
            <a:ext cx="4206240" cy="274320"/>
          </a:xfrm>
          <a:prstGeom prst="rect">
            <a:avLst/>
          </a:prstGeom>
          <a:noFill/>
          <a:ln/>
        </p:spPr>
        <p:txBody>
          <a:bodyPr wrap="square" rtlCol="0" anchor="ctr"/>
          <a:lstStyle/>
          <a:p>
            <a:pPr indent="0" marL="0">
              <a:buNone/>
            </a:pPr>
            <a:r>
              <a:rPr lang="en-US" sz="950" dirty="0">
                <a:solidFill>
                  <a:srgbClr val="00A8E8"/>
                </a:solidFill>
                <a:latin typeface="Consolas" pitchFamily="34" charset="0"/>
                <a:ea typeface="Consolas" pitchFamily="34" charset="-122"/>
                <a:cs typeface="Consolas" pitchFamily="34" charset="-120"/>
              </a:rPr>
              <a:t>CALCULATE([Total_Trips], DIM_Time[TimeCategory]="Peak")</a:t>
            </a:r>
            <a:endParaRPr lang="en-US" sz="950" dirty="0"/>
          </a:p>
        </p:txBody>
      </p:sp>
      <p:sp>
        <p:nvSpPr>
          <p:cNvPr id="45" name="Shape 43"/>
          <p:cNvSpPr/>
          <p:nvPr/>
        </p:nvSpPr>
        <p:spPr>
          <a:xfrm>
            <a:off x="365760" y="4215384"/>
            <a:ext cx="3840480" cy="301752"/>
          </a:xfrm>
          <a:prstGeom prst="rect">
            <a:avLst/>
          </a:prstGeom>
          <a:solidFill>
            <a:srgbClr val="252525"/>
          </a:solidFill>
          <a:ln w="12700">
            <a:solidFill>
              <a:srgbClr val="252525"/>
            </a:solidFill>
            <a:prstDash val="solid"/>
          </a:ln>
          <a:effectLst>
            <a:outerShdw sx="100000" sy="100000" kx="0" ky="0" algn="bl" rotWithShape="0" blurRad="101600" dist="38100" dir="8100000">
              <a:srgbClr val="000000">
                <a:alpha val="30000"/>
              </a:srgbClr>
            </a:outerShdw>
          </a:effectLst>
        </p:spPr>
      </p:sp>
      <p:sp>
        <p:nvSpPr>
          <p:cNvPr id="46" name="Shape 44"/>
          <p:cNvSpPr/>
          <p:nvPr/>
        </p:nvSpPr>
        <p:spPr>
          <a:xfrm>
            <a:off x="4343400" y="4215384"/>
            <a:ext cx="4434840" cy="301752"/>
          </a:xfrm>
          <a:prstGeom prst="rect">
            <a:avLst/>
          </a:prstGeom>
          <a:solidFill>
            <a:srgbClr val="252525"/>
          </a:solidFill>
          <a:ln w="12700">
            <a:solidFill>
              <a:srgbClr val="252525"/>
            </a:solidFill>
            <a:prstDash val="solid"/>
          </a:ln>
          <a:effectLst>
            <a:outerShdw sx="100000" sy="100000" kx="0" ky="0" algn="bl" rotWithShape="0" blurRad="101600" dist="38100" dir="8100000">
              <a:srgbClr val="000000">
                <a:alpha val="30000"/>
              </a:srgbClr>
            </a:outerShdw>
          </a:effectLst>
        </p:spPr>
      </p:sp>
      <p:sp>
        <p:nvSpPr>
          <p:cNvPr id="47" name="Text 45"/>
          <p:cNvSpPr/>
          <p:nvPr/>
        </p:nvSpPr>
        <p:spPr>
          <a:xfrm>
            <a:off x="457200" y="4233672"/>
            <a:ext cx="3749040"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Trips YoY Growth</a:t>
            </a:r>
            <a:endParaRPr lang="en-US" sz="1050" dirty="0"/>
          </a:p>
        </p:txBody>
      </p:sp>
      <p:sp>
        <p:nvSpPr>
          <p:cNvPr id="48" name="Text 46"/>
          <p:cNvSpPr/>
          <p:nvPr/>
        </p:nvSpPr>
        <p:spPr>
          <a:xfrm>
            <a:off x="4434840" y="4233672"/>
            <a:ext cx="4206240" cy="274320"/>
          </a:xfrm>
          <a:prstGeom prst="rect">
            <a:avLst/>
          </a:prstGeom>
          <a:noFill/>
          <a:ln/>
        </p:spPr>
        <p:txBody>
          <a:bodyPr wrap="square" rtlCol="0" anchor="ctr"/>
          <a:lstStyle/>
          <a:p>
            <a:pPr indent="0" marL="0">
              <a:buNone/>
            </a:pPr>
            <a:r>
              <a:rPr lang="en-US" sz="950" dirty="0">
                <a:solidFill>
                  <a:srgbClr val="00A8E8"/>
                </a:solidFill>
                <a:latin typeface="Consolas" pitchFamily="34" charset="0"/>
                <a:ea typeface="Consolas" pitchFamily="34" charset="-122"/>
                <a:cs typeface="Consolas" pitchFamily="34" charset="-120"/>
              </a:rPr>
              <a:t>Current year trips vs. SAMEPERIODLASTYEAR — divided by prev year</a:t>
            </a:r>
            <a:endParaRPr lang="en-US" sz="950" dirty="0"/>
          </a:p>
        </p:txBody>
      </p:sp>
      <p:sp>
        <p:nvSpPr>
          <p:cNvPr id="49" name="Shape 47"/>
          <p:cNvSpPr/>
          <p:nvPr/>
        </p:nvSpPr>
        <p:spPr>
          <a:xfrm>
            <a:off x="365760" y="4517136"/>
            <a:ext cx="3840480" cy="301752"/>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50" name="Shape 48"/>
          <p:cNvSpPr/>
          <p:nvPr/>
        </p:nvSpPr>
        <p:spPr>
          <a:xfrm>
            <a:off x="4343400" y="4517136"/>
            <a:ext cx="4434840" cy="301752"/>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51" name="Text 49"/>
          <p:cNvSpPr/>
          <p:nvPr/>
        </p:nvSpPr>
        <p:spPr>
          <a:xfrm>
            <a:off x="457200" y="4535424"/>
            <a:ext cx="3749040"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Trips QoQ Change</a:t>
            </a:r>
            <a:endParaRPr lang="en-US" sz="1050" dirty="0"/>
          </a:p>
        </p:txBody>
      </p:sp>
      <p:sp>
        <p:nvSpPr>
          <p:cNvPr id="52" name="Text 50"/>
          <p:cNvSpPr/>
          <p:nvPr/>
        </p:nvSpPr>
        <p:spPr>
          <a:xfrm>
            <a:off x="4434840" y="4535424"/>
            <a:ext cx="4206240" cy="274320"/>
          </a:xfrm>
          <a:prstGeom prst="rect">
            <a:avLst/>
          </a:prstGeom>
          <a:noFill/>
          <a:ln/>
        </p:spPr>
        <p:txBody>
          <a:bodyPr wrap="square" rtlCol="0" anchor="ctr"/>
          <a:lstStyle/>
          <a:p>
            <a:pPr indent="0" marL="0">
              <a:buNone/>
            </a:pPr>
            <a:r>
              <a:rPr lang="en-US" sz="950" dirty="0">
                <a:solidFill>
                  <a:srgbClr val="00A8E8"/>
                </a:solidFill>
                <a:latin typeface="Consolas" pitchFamily="34" charset="0"/>
                <a:ea typeface="Consolas" pitchFamily="34" charset="-122"/>
                <a:cs typeface="Consolas" pitchFamily="34" charset="-120"/>
              </a:rPr>
              <a:t>Current quarter vs. PREVIOUSQUARTER trips comparison</a:t>
            </a:r>
            <a:endParaRPr lang="en-US" sz="950" dirty="0"/>
          </a:p>
        </p:txBody>
      </p:sp>
      <p:sp>
        <p:nvSpPr>
          <p:cNvPr id="53" name="Shape 51"/>
          <p:cNvSpPr/>
          <p:nvPr/>
        </p:nvSpPr>
        <p:spPr>
          <a:xfrm>
            <a:off x="365760" y="4818888"/>
            <a:ext cx="3840480" cy="301752"/>
          </a:xfrm>
          <a:prstGeom prst="rect">
            <a:avLst/>
          </a:prstGeom>
          <a:solidFill>
            <a:srgbClr val="252525"/>
          </a:solidFill>
          <a:ln w="12700">
            <a:solidFill>
              <a:srgbClr val="252525"/>
            </a:solidFill>
            <a:prstDash val="solid"/>
          </a:ln>
          <a:effectLst>
            <a:outerShdw sx="100000" sy="100000" kx="0" ky="0" algn="bl" rotWithShape="0" blurRad="101600" dist="38100" dir="8100000">
              <a:srgbClr val="000000">
                <a:alpha val="30000"/>
              </a:srgbClr>
            </a:outerShdw>
          </a:effectLst>
        </p:spPr>
      </p:sp>
      <p:sp>
        <p:nvSpPr>
          <p:cNvPr id="54" name="Shape 52"/>
          <p:cNvSpPr/>
          <p:nvPr/>
        </p:nvSpPr>
        <p:spPr>
          <a:xfrm>
            <a:off x="4343400" y="4818888"/>
            <a:ext cx="4434840" cy="301752"/>
          </a:xfrm>
          <a:prstGeom prst="rect">
            <a:avLst/>
          </a:prstGeom>
          <a:solidFill>
            <a:srgbClr val="252525"/>
          </a:solidFill>
          <a:ln w="12700">
            <a:solidFill>
              <a:srgbClr val="252525"/>
            </a:solidFill>
            <a:prstDash val="solid"/>
          </a:ln>
          <a:effectLst>
            <a:outerShdw sx="100000" sy="100000" kx="0" ky="0" algn="bl" rotWithShape="0" blurRad="101600" dist="38100" dir="8100000">
              <a:srgbClr val="000000">
                <a:alpha val="30000"/>
              </a:srgbClr>
            </a:outerShdw>
          </a:effectLst>
        </p:spPr>
      </p:sp>
      <p:sp>
        <p:nvSpPr>
          <p:cNvPr id="55" name="Text 53"/>
          <p:cNvSpPr/>
          <p:nvPr/>
        </p:nvSpPr>
        <p:spPr>
          <a:xfrm>
            <a:off x="457200" y="4837176"/>
            <a:ext cx="3749040"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Speed Category</a:t>
            </a:r>
            <a:endParaRPr lang="en-US" sz="1050" dirty="0"/>
          </a:p>
        </p:txBody>
      </p:sp>
      <p:sp>
        <p:nvSpPr>
          <p:cNvPr id="56" name="Text 54"/>
          <p:cNvSpPr/>
          <p:nvPr/>
        </p:nvSpPr>
        <p:spPr>
          <a:xfrm>
            <a:off x="4434840" y="4837176"/>
            <a:ext cx="4206240" cy="274320"/>
          </a:xfrm>
          <a:prstGeom prst="rect">
            <a:avLst/>
          </a:prstGeom>
          <a:noFill/>
          <a:ln/>
        </p:spPr>
        <p:txBody>
          <a:bodyPr wrap="square" rtlCol="0" anchor="ctr"/>
          <a:lstStyle/>
          <a:p>
            <a:pPr indent="0" marL="0">
              <a:buNone/>
            </a:pPr>
            <a:r>
              <a:rPr lang="en-US" sz="950" dirty="0">
                <a:solidFill>
                  <a:srgbClr val="00A8E8"/>
                </a:solidFill>
                <a:latin typeface="Consolas" pitchFamily="34" charset="0"/>
                <a:ea typeface="Consolas" pitchFamily="34" charset="-122"/>
                <a:cs typeface="Consolas" pitchFamily="34" charset="-120"/>
              </a:rPr>
              <a:t>SWITCH: &gt;30='Fast', &gt;15='Normal', else='Slow'</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D2D2D"/>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7C600"/>
          </a:solidFill>
          <a:ln w="12700">
            <a:solidFill>
              <a:srgbClr val="F7C600"/>
            </a:solidFill>
            <a:prstDash val="solid"/>
          </a:ln>
        </p:spPr>
      </p:sp>
      <p:sp>
        <p:nvSpPr>
          <p:cNvPr id="3" name="Shape 1"/>
          <p:cNvSpPr/>
          <p:nvPr/>
        </p:nvSpPr>
        <p:spPr>
          <a:xfrm>
            <a:off x="0" y="5070348"/>
            <a:ext cx="9144000" cy="73152"/>
          </a:xfrm>
          <a:prstGeom prst="rect">
            <a:avLst/>
          </a:prstGeom>
          <a:solidFill>
            <a:srgbClr val="F7C600"/>
          </a:solidFill>
          <a:ln w="12700">
            <a:solidFill>
              <a:srgbClr val="F7C600"/>
            </a:solidFill>
            <a:prstDash val="solid"/>
          </a:ln>
        </p:spPr>
      </p:sp>
      <p:sp>
        <p:nvSpPr>
          <p:cNvPr id="4" name="Text 2"/>
          <p:cNvSpPr/>
          <p:nvPr/>
        </p:nvSpPr>
        <p:spPr>
          <a:xfrm>
            <a:off x="457200" y="182880"/>
            <a:ext cx="8229600" cy="640080"/>
          </a:xfrm>
          <a:prstGeom prst="rect">
            <a:avLst/>
          </a:prstGeom>
          <a:noFill/>
          <a:ln/>
        </p:spPr>
        <p:txBody>
          <a:bodyPr wrap="square" rtlCol="0" anchor="ctr"/>
          <a:lstStyle/>
          <a:p>
            <a:pPr indent="0" marL="0">
              <a:buNone/>
            </a:pPr>
            <a:r>
              <a:rPr lang="en-US" sz="2800" b="1" dirty="0">
                <a:solidFill>
                  <a:srgbClr val="F7C600"/>
                </a:solidFill>
                <a:latin typeface="Arial Black" pitchFamily="34" charset="0"/>
                <a:ea typeface="Arial Black" pitchFamily="34" charset="-122"/>
                <a:cs typeface="Arial Black" pitchFamily="34" charset="-120"/>
              </a:rPr>
              <a:t>Power BI Dashboard</a:t>
            </a:r>
            <a:endParaRPr lang="en-US" sz="2800" dirty="0"/>
          </a:p>
        </p:txBody>
      </p:sp>
      <p:sp>
        <p:nvSpPr>
          <p:cNvPr id="5" name="Shape 3"/>
          <p:cNvSpPr/>
          <p:nvPr/>
        </p:nvSpPr>
        <p:spPr>
          <a:xfrm>
            <a:off x="457200" y="777240"/>
            <a:ext cx="7772400" cy="27432"/>
          </a:xfrm>
          <a:prstGeom prst="rect">
            <a:avLst/>
          </a:prstGeom>
          <a:solidFill>
            <a:srgbClr val="3D3D3D"/>
          </a:solidFill>
          <a:ln w="12700">
            <a:solidFill>
              <a:srgbClr val="3D3D3D"/>
            </a:solidFill>
            <a:prstDash val="solid"/>
          </a:ln>
        </p:spPr>
      </p:sp>
      <p:sp>
        <p:nvSpPr>
          <p:cNvPr id="6" name="Text 4"/>
          <p:cNvSpPr/>
          <p:nvPr/>
        </p:nvSpPr>
        <p:spPr>
          <a:xfrm>
            <a:off x="457200" y="822960"/>
            <a:ext cx="8229600" cy="320040"/>
          </a:xfrm>
          <a:prstGeom prst="rect">
            <a:avLst/>
          </a:prstGeom>
          <a:noFill/>
          <a:ln/>
        </p:spPr>
        <p:txBody>
          <a:bodyPr wrap="square" rtlCol="0" anchor="ctr"/>
          <a:lstStyle/>
          <a:p>
            <a:pPr indent="0" marL="0">
              <a:buNone/>
            </a:pPr>
            <a:r>
              <a:rPr lang="en-US" sz="1300" i="1" dirty="0">
                <a:solidFill>
                  <a:srgbClr val="B0B0B0"/>
                </a:solidFill>
                <a:latin typeface="Calibri" pitchFamily="34" charset="0"/>
                <a:ea typeface="Calibri" pitchFamily="34" charset="-122"/>
                <a:cs typeface="Calibri" pitchFamily="34" charset="-120"/>
              </a:rPr>
              <a:t>Interactive analytics dashboard — real-time data-driven decisions</a:t>
            </a:r>
            <a:endParaRPr lang="en-US" sz="1300" dirty="0"/>
          </a:p>
        </p:txBody>
      </p:sp>
      <p:sp>
        <p:nvSpPr>
          <p:cNvPr id="7" name="Shape 5"/>
          <p:cNvSpPr/>
          <p:nvPr/>
        </p:nvSpPr>
        <p:spPr>
          <a:xfrm>
            <a:off x="365760" y="1188720"/>
            <a:ext cx="8412480" cy="3520440"/>
          </a:xfrm>
          <a:prstGeom prst="rect">
            <a:avLst/>
          </a:prstGeom>
          <a:solidFill>
            <a:srgbClr val="1E1E1E"/>
          </a:solidFill>
          <a:ln w="12700">
            <a:solidFill>
              <a:srgbClr val="1E1E1E"/>
            </a:solidFill>
            <a:prstDash val="solid"/>
          </a:ln>
          <a:effectLst>
            <a:outerShdw sx="100000" sy="100000" kx="0" ky="0" algn="bl" rotWithShape="0" blurRad="101600" dist="38100" dir="8100000">
              <a:srgbClr val="000000">
                <a:alpha val="30000"/>
              </a:srgbClr>
            </a:outerShdw>
          </a:effectLst>
        </p:spPr>
      </p:sp>
      <p:sp>
        <p:nvSpPr>
          <p:cNvPr id="8" name="Shape 6"/>
          <p:cNvSpPr/>
          <p:nvPr/>
        </p:nvSpPr>
        <p:spPr>
          <a:xfrm>
            <a:off x="365760" y="1188720"/>
            <a:ext cx="8412480" cy="64008"/>
          </a:xfrm>
          <a:prstGeom prst="rect">
            <a:avLst/>
          </a:prstGeom>
          <a:solidFill>
            <a:srgbClr val="F7C600"/>
          </a:solidFill>
          <a:ln w="12700">
            <a:solidFill>
              <a:srgbClr val="F7C600"/>
            </a:solidFill>
            <a:prstDash val="solid"/>
          </a:ln>
        </p:spPr>
      </p:sp>
      <p:sp>
        <p:nvSpPr>
          <p:cNvPr id="9" name="Shape 7"/>
          <p:cNvSpPr/>
          <p:nvPr/>
        </p:nvSpPr>
        <p:spPr>
          <a:xfrm>
            <a:off x="548640" y="1463040"/>
            <a:ext cx="1645920" cy="731520"/>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10" name="Text 8"/>
          <p:cNvSpPr/>
          <p:nvPr/>
        </p:nvSpPr>
        <p:spPr>
          <a:xfrm>
            <a:off x="548640" y="1508760"/>
            <a:ext cx="1645920" cy="365760"/>
          </a:xfrm>
          <a:prstGeom prst="rect">
            <a:avLst/>
          </a:prstGeom>
          <a:noFill/>
          <a:ln/>
        </p:spPr>
        <p:txBody>
          <a:bodyPr wrap="square" rtlCol="0" anchor="ctr"/>
          <a:lstStyle/>
          <a:p>
            <a:pPr algn="ctr" indent="0" marL="0">
              <a:buNone/>
            </a:pPr>
            <a:r>
              <a:rPr lang="en-US" sz="1800" b="1" dirty="0">
                <a:solidFill>
                  <a:srgbClr val="F7C600"/>
                </a:solidFill>
                <a:latin typeface="Arial Black" pitchFamily="34" charset="0"/>
                <a:ea typeface="Arial Black" pitchFamily="34" charset="-122"/>
                <a:cs typeface="Arial Black" pitchFamily="34" charset="-120"/>
              </a:rPr>
              <a:t>50,247</a:t>
            </a:r>
            <a:endParaRPr lang="en-US" sz="1800" dirty="0"/>
          </a:p>
        </p:txBody>
      </p:sp>
      <p:sp>
        <p:nvSpPr>
          <p:cNvPr id="11" name="Text 9"/>
          <p:cNvSpPr/>
          <p:nvPr/>
        </p:nvSpPr>
        <p:spPr>
          <a:xfrm>
            <a:off x="548640" y="1874520"/>
            <a:ext cx="1645920" cy="274320"/>
          </a:xfrm>
          <a:prstGeom prst="rect">
            <a:avLst/>
          </a:prstGeom>
          <a:noFill/>
          <a:ln/>
        </p:spPr>
        <p:txBody>
          <a:bodyPr wrap="square" rtlCol="0" anchor="ctr"/>
          <a:lstStyle/>
          <a:p>
            <a:pPr algn="ctr" indent="0" marL="0">
              <a:buNone/>
            </a:pPr>
            <a:r>
              <a:rPr lang="en-US" sz="900" dirty="0">
                <a:solidFill>
                  <a:srgbClr val="B0B0B0"/>
                </a:solidFill>
                <a:latin typeface="Calibri" pitchFamily="34" charset="0"/>
                <a:ea typeface="Calibri" pitchFamily="34" charset="-122"/>
                <a:cs typeface="Calibri" pitchFamily="34" charset="-120"/>
              </a:rPr>
              <a:t>Total Trips</a:t>
            </a:r>
            <a:endParaRPr lang="en-US" sz="900" dirty="0"/>
          </a:p>
        </p:txBody>
      </p:sp>
      <p:sp>
        <p:nvSpPr>
          <p:cNvPr id="12" name="Shape 10"/>
          <p:cNvSpPr/>
          <p:nvPr/>
        </p:nvSpPr>
        <p:spPr>
          <a:xfrm>
            <a:off x="2331720" y="1463040"/>
            <a:ext cx="1645920" cy="731520"/>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13" name="Text 11"/>
          <p:cNvSpPr/>
          <p:nvPr/>
        </p:nvSpPr>
        <p:spPr>
          <a:xfrm>
            <a:off x="2331720" y="1508760"/>
            <a:ext cx="1645920" cy="365760"/>
          </a:xfrm>
          <a:prstGeom prst="rect">
            <a:avLst/>
          </a:prstGeom>
          <a:noFill/>
          <a:ln/>
        </p:spPr>
        <p:txBody>
          <a:bodyPr wrap="square" rtlCol="0" anchor="ctr"/>
          <a:lstStyle/>
          <a:p>
            <a:pPr algn="ctr" indent="0" marL="0">
              <a:buNone/>
            </a:pPr>
            <a:r>
              <a:rPr lang="en-US" sz="1800" b="1" dirty="0">
                <a:solidFill>
                  <a:srgbClr val="00A8E8"/>
                </a:solidFill>
                <a:latin typeface="Arial Black" pitchFamily="34" charset="0"/>
                <a:ea typeface="Arial Black" pitchFamily="34" charset="-122"/>
                <a:cs typeface="Arial Black" pitchFamily="34" charset="-120"/>
              </a:rPr>
              <a:t>12.4 min</a:t>
            </a:r>
            <a:endParaRPr lang="en-US" sz="1800" dirty="0"/>
          </a:p>
        </p:txBody>
      </p:sp>
      <p:sp>
        <p:nvSpPr>
          <p:cNvPr id="14" name="Text 12"/>
          <p:cNvSpPr/>
          <p:nvPr/>
        </p:nvSpPr>
        <p:spPr>
          <a:xfrm>
            <a:off x="2331720" y="1874520"/>
            <a:ext cx="1645920" cy="274320"/>
          </a:xfrm>
          <a:prstGeom prst="rect">
            <a:avLst/>
          </a:prstGeom>
          <a:noFill/>
          <a:ln/>
        </p:spPr>
        <p:txBody>
          <a:bodyPr wrap="square" rtlCol="0" anchor="ctr"/>
          <a:lstStyle/>
          <a:p>
            <a:pPr algn="ctr" indent="0" marL="0">
              <a:buNone/>
            </a:pPr>
            <a:r>
              <a:rPr lang="en-US" sz="900" dirty="0">
                <a:solidFill>
                  <a:srgbClr val="B0B0B0"/>
                </a:solidFill>
                <a:latin typeface="Calibri" pitchFamily="34" charset="0"/>
                <a:ea typeface="Calibri" pitchFamily="34" charset="-122"/>
                <a:cs typeface="Calibri" pitchFamily="34" charset="-120"/>
              </a:rPr>
              <a:t>Avg Duration</a:t>
            </a:r>
            <a:endParaRPr lang="en-US" sz="900" dirty="0"/>
          </a:p>
        </p:txBody>
      </p:sp>
      <p:sp>
        <p:nvSpPr>
          <p:cNvPr id="15" name="Shape 13"/>
          <p:cNvSpPr/>
          <p:nvPr/>
        </p:nvSpPr>
        <p:spPr>
          <a:xfrm>
            <a:off x="4114800" y="1463040"/>
            <a:ext cx="1645920" cy="731520"/>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16" name="Text 14"/>
          <p:cNvSpPr/>
          <p:nvPr/>
        </p:nvSpPr>
        <p:spPr>
          <a:xfrm>
            <a:off x="4114800" y="1508760"/>
            <a:ext cx="1645920" cy="365760"/>
          </a:xfrm>
          <a:prstGeom prst="rect">
            <a:avLst/>
          </a:prstGeom>
          <a:noFill/>
          <a:ln/>
        </p:spPr>
        <p:txBody>
          <a:bodyPr wrap="square" rtlCol="0" anchor="ctr"/>
          <a:lstStyle/>
          <a:p>
            <a:pPr algn="ctr" indent="0" marL="0">
              <a:buNone/>
            </a:pPr>
            <a:r>
              <a:rPr lang="en-US" sz="1800" b="1" dirty="0">
                <a:solidFill>
                  <a:srgbClr val="FF8C00"/>
                </a:solidFill>
                <a:latin typeface="Arial Black" pitchFamily="34" charset="0"/>
                <a:ea typeface="Arial Black" pitchFamily="34" charset="-122"/>
                <a:cs typeface="Arial Black" pitchFamily="34" charset="-120"/>
              </a:rPr>
              <a:t>1.7 pass</a:t>
            </a:r>
            <a:endParaRPr lang="en-US" sz="1800" dirty="0"/>
          </a:p>
        </p:txBody>
      </p:sp>
      <p:sp>
        <p:nvSpPr>
          <p:cNvPr id="17" name="Text 15"/>
          <p:cNvSpPr/>
          <p:nvPr/>
        </p:nvSpPr>
        <p:spPr>
          <a:xfrm>
            <a:off x="4114800" y="1874520"/>
            <a:ext cx="1645920" cy="274320"/>
          </a:xfrm>
          <a:prstGeom prst="rect">
            <a:avLst/>
          </a:prstGeom>
          <a:noFill/>
          <a:ln/>
        </p:spPr>
        <p:txBody>
          <a:bodyPr wrap="square" rtlCol="0" anchor="ctr"/>
          <a:lstStyle/>
          <a:p>
            <a:pPr algn="ctr" indent="0" marL="0">
              <a:buNone/>
            </a:pPr>
            <a:r>
              <a:rPr lang="en-US" sz="900" dirty="0">
                <a:solidFill>
                  <a:srgbClr val="B0B0B0"/>
                </a:solidFill>
                <a:latin typeface="Calibri" pitchFamily="34" charset="0"/>
                <a:ea typeface="Calibri" pitchFamily="34" charset="-122"/>
                <a:cs typeface="Calibri" pitchFamily="34" charset="-120"/>
              </a:rPr>
              <a:t>Avg Passengers</a:t>
            </a:r>
            <a:endParaRPr lang="en-US" sz="900" dirty="0"/>
          </a:p>
        </p:txBody>
      </p:sp>
      <p:sp>
        <p:nvSpPr>
          <p:cNvPr id="18" name="Shape 16"/>
          <p:cNvSpPr/>
          <p:nvPr/>
        </p:nvSpPr>
        <p:spPr>
          <a:xfrm>
            <a:off x="5897880" y="1463040"/>
            <a:ext cx="1645920" cy="731520"/>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19" name="Text 17"/>
          <p:cNvSpPr/>
          <p:nvPr/>
        </p:nvSpPr>
        <p:spPr>
          <a:xfrm>
            <a:off x="5897880" y="1508760"/>
            <a:ext cx="1645920" cy="365760"/>
          </a:xfrm>
          <a:prstGeom prst="rect">
            <a:avLst/>
          </a:prstGeom>
          <a:noFill/>
          <a:ln/>
        </p:spPr>
        <p:txBody>
          <a:bodyPr wrap="square" rtlCol="0" anchor="ctr"/>
          <a:lstStyle/>
          <a:p>
            <a:pPr algn="ctr" indent="0" marL="0">
              <a:buNone/>
            </a:pPr>
            <a:r>
              <a:rPr lang="en-US" sz="1800" b="1" dirty="0">
                <a:solidFill>
                  <a:srgbClr val="02C39A"/>
                </a:solidFill>
                <a:latin typeface="Arial Black" pitchFamily="34" charset="0"/>
                <a:ea typeface="Arial Black" pitchFamily="34" charset="-122"/>
                <a:cs typeface="Arial Black" pitchFamily="34" charset="-120"/>
              </a:rPr>
              <a:t>3.2 miles</a:t>
            </a:r>
            <a:endParaRPr lang="en-US" sz="1800" dirty="0"/>
          </a:p>
        </p:txBody>
      </p:sp>
      <p:sp>
        <p:nvSpPr>
          <p:cNvPr id="20" name="Text 18"/>
          <p:cNvSpPr/>
          <p:nvPr/>
        </p:nvSpPr>
        <p:spPr>
          <a:xfrm>
            <a:off x="5897880" y="1874520"/>
            <a:ext cx="1645920" cy="274320"/>
          </a:xfrm>
          <a:prstGeom prst="rect">
            <a:avLst/>
          </a:prstGeom>
          <a:noFill/>
          <a:ln/>
        </p:spPr>
        <p:txBody>
          <a:bodyPr wrap="square" rtlCol="0" anchor="ctr"/>
          <a:lstStyle/>
          <a:p>
            <a:pPr algn="ctr" indent="0" marL="0">
              <a:buNone/>
            </a:pPr>
            <a:r>
              <a:rPr lang="en-US" sz="900" dirty="0">
                <a:solidFill>
                  <a:srgbClr val="B0B0B0"/>
                </a:solidFill>
                <a:latin typeface="Calibri" pitchFamily="34" charset="0"/>
                <a:ea typeface="Calibri" pitchFamily="34" charset="-122"/>
                <a:cs typeface="Calibri" pitchFamily="34" charset="-120"/>
              </a:rPr>
              <a:t>Avg Distance</a:t>
            </a:r>
            <a:endParaRPr lang="en-US" sz="900" dirty="0"/>
          </a:p>
        </p:txBody>
      </p:sp>
      <p:sp>
        <p:nvSpPr>
          <p:cNvPr id="21" name="Shape 19"/>
          <p:cNvSpPr/>
          <p:nvPr/>
        </p:nvSpPr>
        <p:spPr>
          <a:xfrm>
            <a:off x="548640" y="2331720"/>
            <a:ext cx="3657600" cy="2194560"/>
          </a:xfrm>
          <a:prstGeom prst="rect">
            <a:avLst/>
          </a:prstGeom>
          <a:solidFill>
            <a:srgbClr val="252525"/>
          </a:solidFill>
          <a:ln w="12700">
            <a:solidFill>
              <a:srgbClr val="252525"/>
            </a:solidFill>
            <a:prstDash val="solid"/>
          </a:ln>
          <a:effectLst>
            <a:outerShdw sx="100000" sy="100000" kx="0" ky="0" algn="bl" rotWithShape="0" blurRad="101600" dist="38100" dir="8100000">
              <a:srgbClr val="000000">
                <a:alpha val="30000"/>
              </a:srgbClr>
            </a:outerShdw>
          </a:effectLst>
        </p:spPr>
      </p:sp>
      <p:sp>
        <p:nvSpPr>
          <p:cNvPr id="22" name="Text 20"/>
          <p:cNvSpPr/>
          <p:nvPr/>
        </p:nvSpPr>
        <p:spPr>
          <a:xfrm>
            <a:off x="640080" y="2377440"/>
            <a:ext cx="3474720" cy="320040"/>
          </a:xfrm>
          <a:prstGeom prst="rect">
            <a:avLst/>
          </a:prstGeom>
          <a:noFill/>
          <a:ln/>
        </p:spPr>
        <p:txBody>
          <a:bodyPr wrap="square" rtlCol="0" anchor="ctr"/>
          <a:lstStyle/>
          <a:p>
            <a:pPr indent="0" marL="0">
              <a:buNone/>
            </a:pPr>
            <a:r>
              <a:rPr lang="en-US" sz="1100" b="1" dirty="0">
                <a:solidFill>
                  <a:srgbClr val="B0B0B0"/>
                </a:solidFill>
                <a:latin typeface="Calibri" pitchFamily="34" charset="0"/>
                <a:ea typeface="Calibri" pitchFamily="34" charset="-122"/>
                <a:cs typeface="Calibri" pitchFamily="34" charset="-120"/>
              </a:rPr>
              <a:t>Trips by Hour of Day</a:t>
            </a:r>
            <a:endParaRPr lang="en-US" sz="1100" dirty="0"/>
          </a:p>
        </p:txBody>
      </p:sp>
      <p:sp>
        <p:nvSpPr>
          <p:cNvPr id="23" name="Shape 21"/>
          <p:cNvSpPr/>
          <p:nvPr/>
        </p:nvSpPr>
        <p:spPr>
          <a:xfrm>
            <a:off x="658368" y="4149090"/>
            <a:ext cx="201168" cy="240030"/>
          </a:xfrm>
          <a:prstGeom prst="rect">
            <a:avLst/>
          </a:prstGeom>
          <a:solidFill>
            <a:srgbClr val="F7C600"/>
          </a:solidFill>
          <a:ln w="12700">
            <a:solidFill>
              <a:srgbClr val="F7C600"/>
            </a:solidFill>
            <a:prstDash val="solid"/>
          </a:ln>
        </p:spPr>
      </p:sp>
      <p:sp>
        <p:nvSpPr>
          <p:cNvPr id="24" name="Shape 22"/>
          <p:cNvSpPr/>
          <p:nvPr/>
        </p:nvSpPr>
        <p:spPr>
          <a:xfrm>
            <a:off x="932688" y="4069080"/>
            <a:ext cx="201168" cy="320040"/>
          </a:xfrm>
          <a:prstGeom prst="rect">
            <a:avLst/>
          </a:prstGeom>
          <a:solidFill>
            <a:srgbClr val="F7C600"/>
          </a:solidFill>
          <a:ln w="12700">
            <a:solidFill>
              <a:srgbClr val="F7C600"/>
            </a:solidFill>
            <a:prstDash val="solid"/>
          </a:ln>
        </p:spPr>
      </p:sp>
      <p:sp>
        <p:nvSpPr>
          <p:cNvPr id="25" name="Shape 23"/>
          <p:cNvSpPr/>
          <p:nvPr/>
        </p:nvSpPr>
        <p:spPr>
          <a:xfrm>
            <a:off x="1207008" y="4149090"/>
            <a:ext cx="201168" cy="240030"/>
          </a:xfrm>
          <a:prstGeom prst="rect">
            <a:avLst/>
          </a:prstGeom>
          <a:solidFill>
            <a:srgbClr val="F7C600"/>
          </a:solidFill>
          <a:ln w="12700">
            <a:solidFill>
              <a:srgbClr val="F7C600"/>
            </a:solidFill>
            <a:prstDash val="solid"/>
          </a:ln>
        </p:spPr>
      </p:sp>
      <p:sp>
        <p:nvSpPr>
          <p:cNvPr id="26" name="Shape 24"/>
          <p:cNvSpPr/>
          <p:nvPr/>
        </p:nvSpPr>
        <p:spPr>
          <a:xfrm>
            <a:off x="1481328" y="4229100"/>
            <a:ext cx="201168" cy="160020"/>
          </a:xfrm>
          <a:prstGeom prst="rect">
            <a:avLst/>
          </a:prstGeom>
          <a:solidFill>
            <a:srgbClr val="F7C600"/>
          </a:solidFill>
          <a:ln w="12700">
            <a:solidFill>
              <a:srgbClr val="F7C600"/>
            </a:solidFill>
            <a:prstDash val="solid"/>
          </a:ln>
        </p:spPr>
      </p:sp>
      <p:sp>
        <p:nvSpPr>
          <p:cNvPr id="27" name="Shape 25"/>
          <p:cNvSpPr/>
          <p:nvPr/>
        </p:nvSpPr>
        <p:spPr>
          <a:xfrm>
            <a:off x="1755648" y="4149090"/>
            <a:ext cx="201168" cy="240030"/>
          </a:xfrm>
          <a:prstGeom prst="rect">
            <a:avLst/>
          </a:prstGeom>
          <a:solidFill>
            <a:srgbClr val="F7C600"/>
          </a:solidFill>
          <a:ln w="12700">
            <a:solidFill>
              <a:srgbClr val="F7C600"/>
            </a:solidFill>
            <a:prstDash val="solid"/>
          </a:ln>
        </p:spPr>
      </p:sp>
      <p:sp>
        <p:nvSpPr>
          <p:cNvPr id="28" name="Shape 26"/>
          <p:cNvSpPr/>
          <p:nvPr/>
        </p:nvSpPr>
        <p:spPr>
          <a:xfrm>
            <a:off x="2029968" y="3909060"/>
            <a:ext cx="201168" cy="480060"/>
          </a:xfrm>
          <a:prstGeom prst="rect">
            <a:avLst/>
          </a:prstGeom>
          <a:solidFill>
            <a:srgbClr val="F7C600"/>
          </a:solidFill>
          <a:ln w="12700">
            <a:solidFill>
              <a:srgbClr val="F7C600"/>
            </a:solidFill>
            <a:prstDash val="solid"/>
          </a:ln>
        </p:spPr>
      </p:sp>
      <p:sp>
        <p:nvSpPr>
          <p:cNvPr id="29" name="Shape 27"/>
          <p:cNvSpPr/>
          <p:nvPr/>
        </p:nvSpPr>
        <p:spPr>
          <a:xfrm>
            <a:off x="2304288" y="3669030"/>
            <a:ext cx="201168" cy="720090"/>
          </a:xfrm>
          <a:prstGeom prst="rect">
            <a:avLst/>
          </a:prstGeom>
          <a:solidFill>
            <a:srgbClr val="F7C600"/>
          </a:solidFill>
          <a:ln w="12700">
            <a:solidFill>
              <a:srgbClr val="F7C600"/>
            </a:solidFill>
            <a:prstDash val="solid"/>
          </a:ln>
        </p:spPr>
      </p:sp>
      <p:sp>
        <p:nvSpPr>
          <p:cNvPr id="30" name="Shape 28"/>
          <p:cNvSpPr/>
          <p:nvPr/>
        </p:nvSpPr>
        <p:spPr>
          <a:xfrm>
            <a:off x="2578608" y="3509010"/>
            <a:ext cx="201168" cy="880110"/>
          </a:xfrm>
          <a:prstGeom prst="rect">
            <a:avLst/>
          </a:prstGeom>
          <a:solidFill>
            <a:srgbClr val="F7C600"/>
          </a:solidFill>
          <a:ln w="12700">
            <a:solidFill>
              <a:srgbClr val="F7C600"/>
            </a:solidFill>
            <a:prstDash val="solid"/>
          </a:ln>
        </p:spPr>
      </p:sp>
      <p:sp>
        <p:nvSpPr>
          <p:cNvPr id="31" name="Shape 29"/>
          <p:cNvSpPr/>
          <p:nvPr/>
        </p:nvSpPr>
        <p:spPr>
          <a:xfrm>
            <a:off x="2852928" y="3348990"/>
            <a:ext cx="201168" cy="1040130"/>
          </a:xfrm>
          <a:prstGeom prst="rect">
            <a:avLst/>
          </a:prstGeom>
          <a:solidFill>
            <a:srgbClr val="F7C600"/>
          </a:solidFill>
          <a:ln w="12700">
            <a:solidFill>
              <a:srgbClr val="F7C600"/>
            </a:solidFill>
            <a:prstDash val="solid"/>
          </a:ln>
        </p:spPr>
      </p:sp>
      <p:sp>
        <p:nvSpPr>
          <p:cNvPr id="32" name="Shape 30"/>
          <p:cNvSpPr/>
          <p:nvPr/>
        </p:nvSpPr>
        <p:spPr>
          <a:xfrm>
            <a:off x="3127248" y="3429000"/>
            <a:ext cx="201168" cy="960120"/>
          </a:xfrm>
          <a:prstGeom prst="rect">
            <a:avLst/>
          </a:prstGeom>
          <a:solidFill>
            <a:srgbClr val="F7C600"/>
          </a:solidFill>
          <a:ln w="12700">
            <a:solidFill>
              <a:srgbClr val="F7C600"/>
            </a:solidFill>
            <a:prstDash val="solid"/>
          </a:ln>
        </p:spPr>
      </p:sp>
      <p:sp>
        <p:nvSpPr>
          <p:cNvPr id="33" name="Shape 31"/>
          <p:cNvSpPr/>
          <p:nvPr/>
        </p:nvSpPr>
        <p:spPr>
          <a:xfrm>
            <a:off x="3401568" y="3589020"/>
            <a:ext cx="201168" cy="800100"/>
          </a:xfrm>
          <a:prstGeom prst="rect">
            <a:avLst/>
          </a:prstGeom>
          <a:solidFill>
            <a:srgbClr val="F7C600"/>
          </a:solidFill>
          <a:ln w="12700">
            <a:solidFill>
              <a:srgbClr val="F7C600"/>
            </a:solidFill>
            <a:prstDash val="solid"/>
          </a:ln>
        </p:spPr>
      </p:sp>
      <p:sp>
        <p:nvSpPr>
          <p:cNvPr id="34" name="Shape 32"/>
          <p:cNvSpPr/>
          <p:nvPr/>
        </p:nvSpPr>
        <p:spPr>
          <a:xfrm>
            <a:off x="3675888" y="3509010"/>
            <a:ext cx="201168" cy="880110"/>
          </a:xfrm>
          <a:prstGeom prst="rect">
            <a:avLst/>
          </a:prstGeom>
          <a:solidFill>
            <a:srgbClr val="F7C600"/>
          </a:solidFill>
          <a:ln w="12700">
            <a:solidFill>
              <a:srgbClr val="F7C600"/>
            </a:solidFill>
            <a:prstDash val="solid"/>
          </a:ln>
        </p:spPr>
      </p:sp>
      <p:sp>
        <p:nvSpPr>
          <p:cNvPr id="35" name="Shape 33"/>
          <p:cNvSpPr/>
          <p:nvPr/>
        </p:nvSpPr>
        <p:spPr>
          <a:xfrm>
            <a:off x="4343400" y="2331720"/>
            <a:ext cx="4434840" cy="2194560"/>
          </a:xfrm>
          <a:prstGeom prst="rect">
            <a:avLst/>
          </a:prstGeom>
          <a:solidFill>
            <a:srgbClr val="252525"/>
          </a:solidFill>
          <a:ln w="12700">
            <a:solidFill>
              <a:srgbClr val="252525"/>
            </a:solidFill>
            <a:prstDash val="solid"/>
          </a:ln>
          <a:effectLst>
            <a:outerShdw sx="100000" sy="100000" kx="0" ky="0" algn="bl" rotWithShape="0" blurRad="101600" dist="38100" dir="8100000">
              <a:srgbClr val="000000">
                <a:alpha val="30000"/>
              </a:srgbClr>
            </a:outerShdw>
          </a:effectLst>
        </p:spPr>
      </p:sp>
      <p:sp>
        <p:nvSpPr>
          <p:cNvPr id="36" name="Text 34"/>
          <p:cNvSpPr/>
          <p:nvPr/>
        </p:nvSpPr>
        <p:spPr>
          <a:xfrm>
            <a:off x="4434840" y="2377440"/>
            <a:ext cx="4206240" cy="320040"/>
          </a:xfrm>
          <a:prstGeom prst="rect">
            <a:avLst/>
          </a:prstGeom>
          <a:noFill/>
          <a:ln/>
        </p:spPr>
        <p:txBody>
          <a:bodyPr wrap="square" rtlCol="0" anchor="ctr"/>
          <a:lstStyle/>
          <a:p>
            <a:pPr indent="0" marL="0">
              <a:buNone/>
            </a:pPr>
            <a:r>
              <a:rPr lang="en-US" sz="1100" b="1" dirty="0">
                <a:solidFill>
                  <a:srgbClr val="B0B0B0"/>
                </a:solidFill>
                <a:latin typeface="Calibri" pitchFamily="34" charset="0"/>
                <a:ea typeface="Calibri" pitchFamily="34" charset="-122"/>
                <a:cs typeface="Calibri" pitchFamily="34" charset="-120"/>
              </a:rPr>
              <a:t>Payment Type Distribution</a:t>
            </a:r>
            <a:endParaRPr lang="en-US" sz="1100" dirty="0"/>
          </a:p>
        </p:txBody>
      </p:sp>
      <p:sp>
        <p:nvSpPr>
          <p:cNvPr id="37" name="Shape 35"/>
          <p:cNvSpPr/>
          <p:nvPr/>
        </p:nvSpPr>
        <p:spPr>
          <a:xfrm>
            <a:off x="5577840" y="2697480"/>
            <a:ext cx="1463040" cy="1463040"/>
          </a:xfrm>
          <a:prstGeom prst="ellipse">
            <a:avLst/>
          </a:prstGeom>
          <a:solidFill>
            <a:srgbClr val="00A8E8"/>
          </a:solidFill>
          <a:ln w="12700">
            <a:solidFill>
              <a:srgbClr val="00A8E8"/>
            </a:solidFill>
            <a:prstDash val="solid"/>
          </a:ln>
        </p:spPr>
      </p:sp>
      <p:sp>
        <p:nvSpPr>
          <p:cNvPr id="38" name="Shape 36"/>
          <p:cNvSpPr/>
          <p:nvPr/>
        </p:nvSpPr>
        <p:spPr>
          <a:xfrm>
            <a:off x="5806440" y="2926080"/>
            <a:ext cx="1005840" cy="1005840"/>
          </a:xfrm>
          <a:prstGeom prst="ellipse">
            <a:avLst/>
          </a:prstGeom>
          <a:solidFill>
            <a:srgbClr val="252525"/>
          </a:solidFill>
          <a:ln w="12700">
            <a:solidFill>
              <a:srgbClr val="252525"/>
            </a:solidFill>
            <a:prstDash val="solid"/>
          </a:ln>
        </p:spPr>
      </p:sp>
      <p:sp>
        <p:nvSpPr>
          <p:cNvPr id="39" name="Shape 37"/>
          <p:cNvSpPr/>
          <p:nvPr/>
        </p:nvSpPr>
        <p:spPr>
          <a:xfrm>
            <a:off x="7132320" y="2788920"/>
            <a:ext cx="164592" cy="164592"/>
          </a:xfrm>
          <a:prstGeom prst="rect">
            <a:avLst/>
          </a:prstGeom>
          <a:solidFill>
            <a:srgbClr val="F7C600"/>
          </a:solidFill>
          <a:ln w="12700">
            <a:solidFill>
              <a:srgbClr val="F7C600"/>
            </a:solidFill>
            <a:prstDash val="solid"/>
          </a:ln>
        </p:spPr>
      </p:sp>
      <p:sp>
        <p:nvSpPr>
          <p:cNvPr id="40" name="Text 38"/>
          <p:cNvSpPr/>
          <p:nvPr/>
        </p:nvSpPr>
        <p:spPr>
          <a:xfrm>
            <a:off x="7360920" y="2761488"/>
            <a:ext cx="1280160" cy="228600"/>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Credit Card  67%</a:t>
            </a:r>
            <a:endParaRPr lang="en-US" sz="950" dirty="0"/>
          </a:p>
        </p:txBody>
      </p:sp>
      <p:sp>
        <p:nvSpPr>
          <p:cNvPr id="41" name="Shape 39"/>
          <p:cNvSpPr/>
          <p:nvPr/>
        </p:nvSpPr>
        <p:spPr>
          <a:xfrm>
            <a:off x="7132320" y="3200400"/>
            <a:ext cx="164592" cy="164592"/>
          </a:xfrm>
          <a:prstGeom prst="rect">
            <a:avLst/>
          </a:prstGeom>
          <a:solidFill>
            <a:srgbClr val="00A8E8"/>
          </a:solidFill>
          <a:ln w="12700">
            <a:solidFill>
              <a:srgbClr val="00A8E8"/>
            </a:solidFill>
            <a:prstDash val="solid"/>
          </a:ln>
        </p:spPr>
      </p:sp>
      <p:sp>
        <p:nvSpPr>
          <p:cNvPr id="42" name="Text 40"/>
          <p:cNvSpPr/>
          <p:nvPr/>
        </p:nvSpPr>
        <p:spPr>
          <a:xfrm>
            <a:off x="7360920" y="3172968"/>
            <a:ext cx="1280160" cy="228600"/>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Cash  29%</a:t>
            </a:r>
            <a:endParaRPr lang="en-US" sz="950" dirty="0"/>
          </a:p>
        </p:txBody>
      </p:sp>
      <p:sp>
        <p:nvSpPr>
          <p:cNvPr id="43" name="Shape 41"/>
          <p:cNvSpPr/>
          <p:nvPr/>
        </p:nvSpPr>
        <p:spPr>
          <a:xfrm>
            <a:off x="7132320" y="3611880"/>
            <a:ext cx="164592" cy="164592"/>
          </a:xfrm>
          <a:prstGeom prst="rect">
            <a:avLst/>
          </a:prstGeom>
          <a:solidFill>
            <a:srgbClr val="B0B0B0"/>
          </a:solidFill>
          <a:ln w="12700">
            <a:solidFill>
              <a:srgbClr val="B0B0B0"/>
            </a:solidFill>
            <a:prstDash val="solid"/>
          </a:ln>
        </p:spPr>
      </p:sp>
      <p:sp>
        <p:nvSpPr>
          <p:cNvPr id="44" name="Text 42"/>
          <p:cNvSpPr/>
          <p:nvPr/>
        </p:nvSpPr>
        <p:spPr>
          <a:xfrm>
            <a:off x="7360920" y="3584448"/>
            <a:ext cx="1280160" cy="228600"/>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Other  4%</a:t>
            </a:r>
            <a:endParaRPr lang="en-US" sz="950" dirty="0"/>
          </a:p>
        </p:txBody>
      </p:sp>
      <p:sp>
        <p:nvSpPr>
          <p:cNvPr id="45" name="Text 43"/>
          <p:cNvSpPr/>
          <p:nvPr/>
        </p:nvSpPr>
        <p:spPr>
          <a:xfrm>
            <a:off x="457200" y="4754880"/>
            <a:ext cx="8229600" cy="274320"/>
          </a:xfrm>
          <a:prstGeom prst="rect">
            <a:avLst/>
          </a:prstGeom>
          <a:noFill/>
          <a:ln/>
        </p:spPr>
        <p:txBody>
          <a:bodyPr wrap="square" rtlCol="0" anchor="ctr"/>
          <a:lstStyle/>
          <a:p>
            <a:pPr algn="ctr" indent="0" marL="0">
              <a:buNone/>
            </a:pPr>
            <a:r>
              <a:rPr lang="en-US" sz="1000" i="1" dirty="0">
                <a:solidFill>
                  <a:srgbClr val="B0B0B0"/>
                </a:solidFill>
                <a:latin typeface="Calibri" pitchFamily="34" charset="0"/>
                <a:ea typeface="Calibri" pitchFamily="34" charset="-122"/>
                <a:cs typeface="Calibri" pitchFamily="34" charset="-120"/>
              </a:rPr>
              <a:t>📊  Dashboard available at Power BI — see References slide for link</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D2D2D"/>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7C600"/>
          </a:solidFill>
          <a:ln w="12700">
            <a:solidFill>
              <a:srgbClr val="F7C600"/>
            </a:solidFill>
            <a:prstDash val="solid"/>
          </a:ln>
        </p:spPr>
      </p:sp>
      <p:sp>
        <p:nvSpPr>
          <p:cNvPr id="3" name="Shape 1"/>
          <p:cNvSpPr/>
          <p:nvPr/>
        </p:nvSpPr>
        <p:spPr>
          <a:xfrm>
            <a:off x="0" y="5070348"/>
            <a:ext cx="9144000" cy="73152"/>
          </a:xfrm>
          <a:prstGeom prst="rect">
            <a:avLst/>
          </a:prstGeom>
          <a:solidFill>
            <a:srgbClr val="F7C600"/>
          </a:solidFill>
          <a:ln w="12700">
            <a:solidFill>
              <a:srgbClr val="F7C600"/>
            </a:solidFill>
            <a:prstDash val="solid"/>
          </a:ln>
        </p:spPr>
      </p:sp>
      <p:sp>
        <p:nvSpPr>
          <p:cNvPr id="4" name="Text 2"/>
          <p:cNvSpPr/>
          <p:nvPr/>
        </p:nvSpPr>
        <p:spPr>
          <a:xfrm>
            <a:off x="457200" y="182880"/>
            <a:ext cx="8229600" cy="640080"/>
          </a:xfrm>
          <a:prstGeom prst="rect">
            <a:avLst/>
          </a:prstGeom>
          <a:noFill/>
          <a:ln/>
        </p:spPr>
        <p:txBody>
          <a:bodyPr wrap="square" rtlCol="0" anchor="ctr"/>
          <a:lstStyle/>
          <a:p>
            <a:pPr indent="0" marL="0">
              <a:buNone/>
            </a:pPr>
            <a:r>
              <a:rPr lang="en-US" sz="2800" b="1" dirty="0">
                <a:solidFill>
                  <a:srgbClr val="F7C600"/>
                </a:solidFill>
                <a:latin typeface="Arial Black" pitchFamily="34" charset="0"/>
                <a:ea typeface="Arial Black" pitchFamily="34" charset="-122"/>
                <a:cs typeface="Arial Black" pitchFamily="34" charset="-120"/>
              </a:rPr>
              <a:t>Strategic Business Questions</a:t>
            </a:r>
            <a:endParaRPr lang="en-US" sz="2800" dirty="0"/>
          </a:p>
        </p:txBody>
      </p:sp>
      <p:sp>
        <p:nvSpPr>
          <p:cNvPr id="5" name="Shape 3"/>
          <p:cNvSpPr/>
          <p:nvPr/>
        </p:nvSpPr>
        <p:spPr>
          <a:xfrm>
            <a:off x="365760" y="1143000"/>
            <a:ext cx="4160520" cy="1143000"/>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6" name="Shape 4"/>
          <p:cNvSpPr/>
          <p:nvPr/>
        </p:nvSpPr>
        <p:spPr>
          <a:xfrm>
            <a:off x="365760" y="1143000"/>
            <a:ext cx="109728" cy="1143000"/>
          </a:xfrm>
          <a:prstGeom prst="rect">
            <a:avLst/>
          </a:prstGeom>
          <a:solidFill>
            <a:srgbClr val="F7C600"/>
          </a:solidFill>
          <a:ln w="12700">
            <a:solidFill>
              <a:srgbClr val="F7C600"/>
            </a:solidFill>
            <a:prstDash val="solid"/>
          </a:ln>
        </p:spPr>
      </p:sp>
      <p:sp>
        <p:nvSpPr>
          <p:cNvPr id="7" name="Text 5"/>
          <p:cNvSpPr/>
          <p:nvPr/>
        </p:nvSpPr>
        <p:spPr>
          <a:xfrm>
            <a:off x="548640" y="1344168"/>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8" name="Text 6"/>
          <p:cNvSpPr/>
          <p:nvPr/>
        </p:nvSpPr>
        <p:spPr>
          <a:xfrm>
            <a:off x="1170432" y="1234440"/>
            <a:ext cx="3246120" cy="347472"/>
          </a:xfrm>
          <a:prstGeom prst="rect">
            <a:avLst/>
          </a:prstGeom>
          <a:noFill/>
          <a:ln/>
        </p:spPr>
        <p:txBody>
          <a:bodyPr wrap="square" rtlCol="0" anchor="ctr"/>
          <a:lstStyle/>
          <a:p>
            <a:pPr indent="0" marL="0">
              <a:buNone/>
            </a:pPr>
            <a:r>
              <a:rPr lang="en-US" sz="1200" b="1" dirty="0">
                <a:solidFill>
                  <a:srgbClr val="F7C600"/>
                </a:solidFill>
                <a:latin typeface="Arial Black" pitchFamily="34" charset="0"/>
                <a:ea typeface="Arial Black" pitchFamily="34" charset="-122"/>
                <a:cs typeface="Arial Black" pitchFamily="34" charset="-120"/>
              </a:rPr>
              <a:t>Wait Times in High-Value Zones</a:t>
            </a:r>
            <a:endParaRPr lang="en-US" sz="1200" dirty="0"/>
          </a:p>
        </p:txBody>
      </p:sp>
      <p:sp>
        <p:nvSpPr>
          <p:cNvPr id="9" name="Text 7"/>
          <p:cNvSpPr/>
          <p:nvPr/>
        </p:nvSpPr>
        <p:spPr>
          <a:xfrm>
            <a:off x="1170432" y="1581912"/>
            <a:ext cx="324612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Which high-value pickup zones see the longest wait times, and what is the estimated revenue loss from passenger abandonment?</a:t>
            </a:r>
            <a:endParaRPr lang="en-US" sz="1050" dirty="0"/>
          </a:p>
        </p:txBody>
      </p:sp>
      <p:sp>
        <p:nvSpPr>
          <p:cNvPr id="10" name="Shape 8"/>
          <p:cNvSpPr/>
          <p:nvPr/>
        </p:nvSpPr>
        <p:spPr>
          <a:xfrm>
            <a:off x="4754880" y="1143000"/>
            <a:ext cx="4160520" cy="1143000"/>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11" name="Shape 9"/>
          <p:cNvSpPr/>
          <p:nvPr/>
        </p:nvSpPr>
        <p:spPr>
          <a:xfrm>
            <a:off x="4754880" y="1143000"/>
            <a:ext cx="109728" cy="1143000"/>
          </a:xfrm>
          <a:prstGeom prst="rect">
            <a:avLst/>
          </a:prstGeom>
          <a:solidFill>
            <a:srgbClr val="F7C600"/>
          </a:solidFill>
          <a:ln w="12700">
            <a:solidFill>
              <a:srgbClr val="F7C600"/>
            </a:solidFill>
            <a:prstDash val="solid"/>
          </a:ln>
        </p:spPr>
      </p:sp>
      <p:sp>
        <p:nvSpPr>
          <p:cNvPr id="12" name="Text 10"/>
          <p:cNvSpPr/>
          <p:nvPr/>
        </p:nvSpPr>
        <p:spPr>
          <a:xfrm>
            <a:off x="4937760" y="1344168"/>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3" name="Text 11"/>
          <p:cNvSpPr/>
          <p:nvPr/>
        </p:nvSpPr>
        <p:spPr>
          <a:xfrm>
            <a:off x="5559552" y="1234440"/>
            <a:ext cx="3246120" cy="347472"/>
          </a:xfrm>
          <a:prstGeom prst="rect">
            <a:avLst/>
          </a:prstGeom>
          <a:noFill/>
          <a:ln/>
        </p:spPr>
        <p:txBody>
          <a:bodyPr wrap="square" rtlCol="0" anchor="ctr"/>
          <a:lstStyle/>
          <a:p>
            <a:pPr indent="0" marL="0">
              <a:buNone/>
            </a:pPr>
            <a:r>
              <a:rPr lang="en-US" sz="1200" b="1" dirty="0">
                <a:solidFill>
                  <a:srgbClr val="F7C600"/>
                </a:solidFill>
                <a:latin typeface="Arial Black" pitchFamily="34" charset="0"/>
                <a:ea typeface="Arial Black" pitchFamily="34" charset="-122"/>
                <a:cs typeface="Arial Black" pitchFamily="34" charset="-120"/>
              </a:rPr>
              <a:t>"Deadhead" Mileage Impact</a:t>
            </a:r>
            <a:endParaRPr lang="en-US" sz="1200" dirty="0"/>
          </a:p>
        </p:txBody>
      </p:sp>
      <p:sp>
        <p:nvSpPr>
          <p:cNvPr id="14" name="Text 12"/>
          <p:cNvSpPr/>
          <p:nvPr/>
        </p:nvSpPr>
        <p:spPr>
          <a:xfrm>
            <a:off x="5559552" y="1581912"/>
            <a:ext cx="324612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What is the current ratio of empty miles for drop-offs in outer neighborhoods, and how does this erode the fleet's net margin?</a:t>
            </a:r>
            <a:endParaRPr lang="en-US" sz="1050" dirty="0"/>
          </a:p>
        </p:txBody>
      </p:sp>
      <p:sp>
        <p:nvSpPr>
          <p:cNvPr id="15" name="Shape 13"/>
          <p:cNvSpPr/>
          <p:nvPr/>
        </p:nvSpPr>
        <p:spPr>
          <a:xfrm>
            <a:off x="365760" y="2423160"/>
            <a:ext cx="4160520" cy="1143000"/>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16" name="Shape 14"/>
          <p:cNvSpPr/>
          <p:nvPr/>
        </p:nvSpPr>
        <p:spPr>
          <a:xfrm>
            <a:off x="365760" y="2423160"/>
            <a:ext cx="109728" cy="1143000"/>
          </a:xfrm>
          <a:prstGeom prst="rect">
            <a:avLst/>
          </a:prstGeom>
          <a:solidFill>
            <a:srgbClr val="F7C600"/>
          </a:solidFill>
          <a:ln w="12700">
            <a:solidFill>
              <a:srgbClr val="F7C600"/>
            </a:solidFill>
            <a:prstDash val="solid"/>
          </a:ln>
        </p:spPr>
      </p:sp>
      <p:sp>
        <p:nvSpPr>
          <p:cNvPr id="17" name="Text 15"/>
          <p:cNvSpPr/>
          <p:nvPr/>
        </p:nvSpPr>
        <p:spPr>
          <a:xfrm>
            <a:off x="548640" y="2624328"/>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8" name="Text 16"/>
          <p:cNvSpPr/>
          <p:nvPr/>
        </p:nvSpPr>
        <p:spPr>
          <a:xfrm>
            <a:off x="1170432" y="2514600"/>
            <a:ext cx="3246120" cy="347472"/>
          </a:xfrm>
          <a:prstGeom prst="rect">
            <a:avLst/>
          </a:prstGeom>
          <a:noFill/>
          <a:ln/>
        </p:spPr>
        <p:txBody>
          <a:bodyPr wrap="square" rtlCol="0" anchor="ctr"/>
          <a:lstStyle/>
          <a:p>
            <a:pPr indent="0" marL="0">
              <a:buNone/>
            </a:pPr>
            <a:r>
              <a:rPr lang="en-US" sz="1200" b="1" dirty="0">
                <a:solidFill>
                  <a:srgbClr val="F7C600"/>
                </a:solidFill>
                <a:latin typeface="Arial Black" pitchFamily="34" charset="0"/>
                <a:ea typeface="Arial Black" pitchFamily="34" charset="-122"/>
                <a:cs typeface="Arial Black" pitchFamily="34" charset="-120"/>
              </a:rPr>
              <a:t>Route Efficiency Bottlenecks</a:t>
            </a:r>
            <a:endParaRPr lang="en-US" sz="1200" dirty="0"/>
          </a:p>
        </p:txBody>
      </p:sp>
      <p:sp>
        <p:nvSpPr>
          <p:cNvPr id="19" name="Text 17"/>
          <p:cNvSpPr/>
          <p:nvPr/>
        </p:nvSpPr>
        <p:spPr>
          <a:xfrm>
            <a:off x="1170432" y="2862072"/>
            <a:ext cx="324612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On which corridors does trip duration disproportionately exceed distance, and are these trips currently operating at a loss?</a:t>
            </a:r>
            <a:endParaRPr lang="en-US" sz="1050" dirty="0"/>
          </a:p>
        </p:txBody>
      </p:sp>
      <p:sp>
        <p:nvSpPr>
          <p:cNvPr id="20" name="Shape 18"/>
          <p:cNvSpPr/>
          <p:nvPr/>
        </p:nvSpPr>
        <p:spPr>
          <a:xfrm>
            <a:off x="4754880" y="2423160"/>
            <a:ext cx="4160520" cy="1143000"/>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21" name="Shape 19"/>
          <p:cNvSpPr/>
          <p:nvPr/>
        </p:nvSpPr>
        <p:spPr>
          <a:xfrm>
            <a:off x="4754880" y="2423160"/>
            <a:ext cx="109728" cy="1143000"/>
          </a:xfrm>
          <a:prstGeom prst="rect">
            <a:avLst/>
          </a:prstGeom>
          <a:solidFill>
            <a:srgbClr val="F7C600"/>
          </a:solidFill>
          <a:ln w="12700">
            <a:solidFill>
              <a:srgbClr val="F7C600"/>
            </a:solidFill>
            <a:prstDash val="solid"/>
          </a:ln>
        </p:spPr>
      </p:sp>
      <p:sp>
        <p:nvSpPr>
          <p:cNvPr id="22" name="Text 20"/>
          <p:cNvSpPr/>
          <p:nvPr/>
        </p:nvSpPr>
        <p:spPr>
          <a:xfrm>
            <a:off x="4937760" y="2624328"/>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3" name="Text 21"/>
          <p:cNvSpPr/>
          <p:nvPr/>
        </p:nvSpPr>
        <p:spPr>
          <a:xfrm>
            <a:off x="5559552" y="2514600"/>
            <a:ext cx="3246120" cy="347472"/>
          </a:xfrm>
          <a:prstGeom prst="rect">
            <a:avLst/>
          </a:prstGeom>
          <a:noFill/>
          <a:ln/>
        </p:spPr>
        <p:txBody>
          <a:bodyPr wrap="square" rtlCol="0" anchor="ctr"/>
          <a:lstStyle/>
          <a:p>
            <a:pPr indent="0" marL="0">
              <a:buNone/>
            </a:pPr>
            <a:r>
              <a:rPr lang="en-US" sz="1200" b="1" dirty="0">
                <a:solidFill>
                  <a:srgbClr val="F7C600"/>
                </a:solidFill>
                <a:latin typeface="Arial Black" pitchFamily="34" charset="0"/>
                <a:ea typeface="Arial Black" pitchFamily="34" charset="-122"/>
                <a:cs typeface="Arial Black" pitchFamily="34" charset="-120"/>
              </a:rPr>
              <a:t>Vehicle Capacity Utilization</a:t>
            </a:r>
            <a:endParaRPr lang="en-US" sz="1200" dirty="0"/>
          </a:p>
        </p:txBody>
      </p:sp>
      <p:sp>
        <p:nvSpPr>
          <p:cNvPr id="24" name="Text 22"/>
          <p:cNvSpPr/>
          <p:nvPr/>
        </p:nvSpPr>
        <p:spPr>
          <a:xfrm>
            <a:off x="5559552" y="2862072"/>
            <a:ext cx="324612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Given the frequency of single-passenger rides, what is the untapped revenue potential of maximizing per-seat value?</a:t>
            </a:r>
            <a:endParaRPr lang="en-US" sz="1050" dirty="0"/>
          </a:p>
        </p:txBody>
      </p:sp>
      <p:sp>
        <p:nvSpPr>
          <p:cNvPr id="25" name="Shape 23"/>
          <p:cNvSpPr/>
          <p:nvPr/>
        </p:nvSpPr>
        <p:spPr>
          <a:xfrm>
            <a:off x="365760" y="3703320"/>
            <a:ext cx="4160520" cy="1143000"/>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26" name="Shape 24"/>
          <p:cNvSpPr/>
          <p:nvPr/>
        </p:nvSpPr>
        <p:spPr>
          <a:xfrm>
            <a:off x="365760" y="3703320"/>
            <a:ext cx="109728" cy="1143000"/>
          </a:xfrm>
          <a:prstGeom prst="rect">
            <a:avLst/>
          </a:prstGeom>
          <a:solidFill>
            <a:srgbClr val="F7C600"/>
          </a:solidFill>
          <a:ln w="12700">
            <a:solidFill>
              <a:srgbClr val="F7C600"/>
            </a:solidFill>
            <a:prstDash val="solid"/>
          </a:ln>
        </p:spPr>
      </p:sp>
      <p:sp>
        <p:nvSpPr>
          <p:cNvPr id="27" name="Text 25"/>
          <p:cNvSpPr/>
          <p:nvPr/>
        </p:nvSpPr>
        <p:spPr>
          <a:xfrm>
            <a:off x="548640" y="3904488"/>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8" name="Text 26"/>
          <p:cNvSpPr/>
          <p:nvPr/>
        </p:nvSpPr>
        <p:spPr>
          <a:xfrm>
            <a:off x="1170432" y="3794760"/>
            <a:ext cx="3246120" cy="347472"/>
          </a:xfrm>
          <a:prstGeom prst="rect">
            <a:avLst/>
          </a:prstGeom>
          <a:noFill/>
          <a:ln/>
        </p:spPr>
        <p:txBody>
          <a:bodyPr wrap="square" rtlCol="0" anchor="ctr"/>
          <a:lstStyle/>
          <a:p>
            <a:pPr indent="0" marL="0">
              <a:buNone/>
            </a:pPr>
            <a:r>
              <a:rPr lang="en-US" sz="1200" b="1" dirty="0">
                <a:solidFill>
                  <a:srgbClr val="F7C600"/>
                </a:solidFill>
                <a:latin typeface="Arial Black" pitchFamily="34" charset="0"/>
                <a:ea typeface="Arial Black" pitchFamily="34" charset="-122"/>
                <a:cs typeface="Arial Black" pitchFamily="34" charset="-120"/>
              </a:rPr>
              <a:t>Transaction Friction</a:t>
            </a:r>
            <a:endParaRPr lang="en-US" sz="1200" dirty="0"/>
          </a:p>
        </p:txBody>
      </p:sp>
      <p:sp>
        <p:nvSpPr>
          <p:cNvPr id="29" name="Text 27"/>
          <p:cNvSpPr/>
          <p:nvPr/>
        </p:nvSpPr>
        <p:spPr>
          <a:xfrm>
            <a:off x="1170432" y="4142232"/>
            <a:ext cx="324612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To what extent does payment type (cash vs. credit card) correlate with idling time between trips?</a:t>
            </a:r>
            <a:endParaRPr lang="en-US" sz="1050" dirty="0"/>
          </a:p>
        </p:txBody>
      </p:sp>
      <p:sp>
        <p:nvSpPr>
          <p:cNvPr id="30" name="Shape 28"/>
          <p:cNvSpPr/>
          <p:nvPr/>
        </p:nvSpPr>
        <p:spPr>
          <a:xfrm>
            <a:off x="4754880" y="3703320"/>
            <a:ext cx="4160520" cy="1143000"/>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31" name="Shape 29"/>
          <p:cNvSpPr/>
          <p:nvPr/>
        </p:nvSpPr>
        <p:spPr>
          <a:xfrm>
            <a:off x="4754880" y="3703320"/>
            <a:ext cx="109728" cy="1143000"/>
          </a:xfrm>
          <a:prstGeom prst="rect">
            <a:avLst/>
          </a:prstGeom>
          <a:solidFill>
            <a:srgbClr val="F7C600"/>
          </a:solidFill>
          <a:ln w="12700">
            <a:solidFill>
              <a:srgbClr val="F7C600"/>
            </a:solidFill>
            <a:prstDash val="solid"/>
          </a:ln>
        </p:spPr>
      </p:sp>
      <p:sp>
        <p:nvSpPr>
          <p:cNvPr id="32" name="Text 30"/>
          <p:cNvSpPr/>
          <p:nvPr/>
        </p:nvSpPr>
        <p:spPr>
          <a:xfrm>
            <a:off x="4937760" y="3904488"/>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33" name="Text 31"/>
          <p:cNvSpPr/>
          <p:nvPr/>
        </p:nvSpPr>
        <p:spPr>
          <a:xfrm>
            <a:off x="5559552" y="3794760"/>
            <a:ext cx="3246120" cy="347472"/>
          </a:xfrm>
          <a:prstGeom prst="rect">
            <a:avLst/>
          </a:prstGeom>
          <a:noFill/>
          <a:ln/>
        </p:spPr>
        <p:txBody>
          <a:bodyPr wrap="square" rtlCol="0" anchor="ctr"/>
          <a:lstStyle/>
          <a:p>
            <a:pPr indent="0" marL="0">
              <a:buNone/>
            </a:pPr>
            <a:r>
              <a:rPr lang="en-US" sz="1200" b="1" dirty="0">
                <a:solidFill>
                  <a:srgbClr val="F7C600"/>
                </a:solidFill>
                <a:latin typeface="Arial Black" pitchFamily="34" charset="0"/>
                <a:ea typeface="Arial Black" pitchFamily="34" charset="-122"/>
                <a:cs typeface="Arial Black" pitchFamily="34" charset="-120"/>
              </a:rPr>
              <a:t>Vendor Performance Benchmarking</a:t>
            </a:r>
            <a:endParaRPr lang="en-US" sz="1200" dirty="0"/>
          </a:p>
        </p:txBody>
      </p:sp>
      <p:sp>
        <p:nvSpPr>
          <p:cNvPr id="34" name="Text 32"/>
          <p:cNvSpPr/>
          <p:nvPr/>
        </p:nvSpPr>
        <p:spPr>
          <a:xfrm>
            <a:off x="5559552" y="4142232"/>
            <a:ext cx="324612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What specific operational protocols allow one vendor to consistently outperform others in efficiency for identical distances?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D2D2D"/>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7C600"/>
          </a:solidFill>
          <a:ln w="12700">
            <a:solidFill>
              <a:srgbClr val="F7C600"/>
            </a:solidFill>
            <a:prstDash val="solid"/>
          </a:ln>
        </p:spPr>
      </p:sp>
      <p:sp>
        <p:nvSpPr>
          <p:cNvPr id="3" name="Shape 1"/>
          <p:cNvSpPr/>
          <p:nvPr/>
        </p:nvSpPr>
        <p:spPr>
          <a:xfrm>
            <a:off x="0" y="5070348"/>
            <a:ext cx="9144000" cy="73152"/>
          </a:xfrm>
          <a:prstGeom prst="rect">
            <a:avLst/>
          </a:prstGeom>
          <a:solidFill>
            <a:srgbClr val="F7C600"/>
          </a:solidFill>
          <a:ln w="12700">
            <a:solidFill>
              <a:srgbClr val="F7C600"/>
            </a:solidFill>
            <a:prstDash val="solid"/>
          </a:ln>
        </p:spPr>
      </p:sp>
      <p:sp>
        <p:nvSpPr>
          <p:cNvPr id="4" name="Text 2"/>
          <p:cNvSpPr/>
          <p:nvPr/>
        </p:nvSpPr>
        <p:spPr>
          <a:xfrm>
            <a:off x="457200" y="182880"/>
            <a:ext cx="8229600" cy="640080"/>
          </a:xfrm>
          <a:prstGeom prst="rect">
            <a:avLst/>
          </a:prstGeom>
          <a:noFill/>
          <a:ln/>
        </p:spPr>
        <p:txBody>
          <a:bodyPr wrap="square" rtlCol="0" anchor="ctr"/>
          <a:lstStyle/>
          <a:p>
            <a:pPr indent="0" marL="0">
              <a:buNone/>
            </a:pPr>
            <a:r>
              <a:rPr lang="en-US" sz="2800" b="1" dirty="0">
                <a:solidFill>
                  <a:srgbClr val="F7C600"/>
                </a:solidFill>
                <a:latin typeface="Arial Black" pitchFamily="34" charset="0"/>
                <a:ea typeface="Arial Black" pitchFamily="34" charset="-122"/>
                <a:cs typeface="Arial Black" pitchFamily="34" charset="-120"/>
              </a:rPr>
              <a:t>Strategic Business Questions (cont.)</a:t>
            </a:r>
            <a:endParaRPr lang="en-US" sz="2800" dirty="0"/>
          </a:p>
        </p:txBody>
      </p:sp>
      <p:sp>
        <p:nvSpPr>
          <p:cNvPr id="5" name="Shape 3"/>
          <p:cNvSpPr/>
          <p:nvPr/>
        </p:nvSpPr>
        <p:spPr>
          <a:xfrm>
            <a:off x="365760" y="1143000"/>
            <a:ext cx="8412480" cy="1463040"/>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6" name="Shape 4"/>
          <p:cNvSpPr/>
          <p:nvPr/>
        </p:nvSpPr>
        <p:spPr>
          <a:xfrm>
            <a:off x="365760" y="1143000"/>
            <a:ext cx="109728" cy="1463040"/>
          </a:xfrm>
          <a:prstGeom prst="rect">
            <a:avLst/>
          </a:prstGeom>
          <a:solidFill>
            <a:srgbClr val="F7C600"/>
          </a:solidFill>
          <a:ln w="12700">
            <a:solidFill>
              <a:srgbClr val="F7C600"/>
            </a:solidFill>
            <a:prstDash val="solid"/>
          </a:ln>
        </p:spPr>
      </p:sp>
      <p:sp>
        <p:nvSpPr>
          <p:cNvPr id="7" name="Text 5"/>
          <p:cNvSpPr/>
          <p:nvPr/>
        </p:nvSpPr>
        <p:spPr>
          <a:xfrm>
            <a:off x="594360" y="137160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8" name="Text 6"/>
          <p:cNvSpPr/>
          <p:nvPr/>
        </p:nvSpPr>
        <p:spPr>
          <a:xfrm>
            <a:off x="1371600" y="1280160"/>
            <a:ext cx="7132320" cy="411480"/>
          </a:xfrm>
          <a:prstGeom prst="rect">
            <a:avLst/>
          </a:prstGeom>
          <a:noFill/>
          <a:ln/>
        </p:spPr>
        <p:txBody>
          <a:bodyPr wrap="square" rtlCol="0" anchor="ctr"/>
          <a:lstStyle/>
          <a:p>
            <a:pPr indent="0" marL="0">
              <a:buNone/>
            </a:pPr>
            <a:r>
              <a:rPr lang="en-US" sz="1600" b="1" dirty="0">
                <a:solidFill>
                  <a:srgbClr val="F7C600"/>
                </a:solidFill>
                <a:latin typeface="Arial Black" pitchFamily="34" charset="0"/>
                <a:ea typeface="Arial Black" pitchFamily="34" charset="-122"/>
                <a:cs typeface="Arial Black" pitchFamily="34" charset="-120"/>
              </a:rPr>
              <a:t>Supply-Demand Alignment</a:t>
            </a:r>
            <a:endParaRPr lang="en-US" sz="1600" dirty="0"/>
          </a:p>
        </p:txBody>
      </p:sp>
      <p:sp>
        <p:nvSpPr>
          <p:cNvPr id="9" name="Text 7"/>
          <p:cNvSpPr/>
          <p:nvPr/>
        </p:nvSpPr>
        <p:spPr>
          <a:xfrm>
            <a:off x="1371600" y="1691640"/>
            <a:ext cx="7132320" cy="6858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How is over-supply during identified low-demand windows impacting individual driver earnings and long-term retention? Analysis of driver distribution vs. historical demand curves.</a:t>
            </a:r>
            <a:endParaRPr lang="en-US" sz="1300" dirty="0"/>
          </a:p>
        </p:txBody>
      </p:sp>
      <p:sp>
        <p:nvSpPr>
          <p:cNvPr id="10" name="Shape 8"/>
          <p:cNvSpPr/>
          <p:nvPr/>
        </p:nvSpPr>
        <p:spPr>
          <a:xfrm>
            <a:off x="365760" y="2834640"/>
            <a:ext cx="8412480" cy="1920240"/>
          </a:xfrm>
          <a:prstGeom prst="rect">
            <a:avLst/>
          </a:prstGeom>
          <a:solidFill>
            <a:srgbClr val="1A1A1A"/>
          </a:solidFill>
          <a:ln w="12700">
            <a:solidFill>
              <a:srgbClr val="1A1A1A"/>
            </a:solidFill>
            <a:prstDash val="solid"/>
          </a:ln>
          <a:effectLst>
            <a:outerShdw sx="100000" sy="100000" kx="0" ky="0" algn="bl" rotWithShape="0" blurRad="101600" dist="38100" dir="8100000">
              <a:srgbClr val="000000">
                <a:alpha val="30000"/>
              </a:srgbClr>
            </a:outerShdw>
          </a:effectLst>
        </p:spPr>
      </p:sp>
      <p:sp>
        <p:nvSpPr>
          <p:cNvPr id="11" name="Shape 9"/>
          <p:cNvSpPr/>
          <p:nvPr/>
        </p:nvSpPr>
        <p:spPr>
          <a:xfrm>
            <a:off x="365760" y="2834640"/>
            <a:ext cx="8412480" cy="64008"/>
          </a:xfrm>
          <a:prstGeom prst="rect">
            <a:avLst/>
          </a:prstGeom>
          <a:solidFill>
            <a:srgbClr val="F7C600"/>
          </a:solidFill>
          <a:ln w="12700">
            <a:solidFill>
              <a:srgbClr val="F7C600"/>
            </a:solidFill>
            <a:prstDash val="solid"/>
          </a:ln>
        </p:spPr>
      </p:sp>
      <p:sp>
        <p:nvSpPr>
          <p:cNvPr id="12" name="Text 10"/>
          <p:cNvSpPr/>
          <p:nvPr/>
        </p:nvSpPr>
        <p:spPr>
          <a:xfrm>
            <a:off x="548640" y="2971800"/>
            <a:ext cx="8046720" cy="594360"/>
          </a:xfrm>
          <a:prstGeom prst="rect">
            <a:avLst/>
          </a:prstGeom>
          <a:noFill/>
          <a:ln/>
        </p:spPr>
        <p:txBody>
          <a:bodyPr wrap="square"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These 7 strategic questions guide our BI analysis and dashboard design, ensuring every metric serves a clear business objective.</a:t>
            </a:r>
            <a:endParaRPr lang="en-US" sz="1400" dirty="0"/>
          </a:p>
        </p:txBody>
      </p:sp>
      <p:sp>
        <p:nvSpPr>
          <p:cNvPr id="13" name="Text 11"/>
          <p:cNvSpPr/>
          <p:nvPr/>
        </p:nvSpPr>
        <p:spPr>
          <a:xfrm>
            <a:off x="914400" y="3703320"/>
            <a:ext cx="1554480" cy="594360"/>
          </a:xfrm>
          <a:prstGeom prst="rect">
            <a:avLst/>
          </a:prstGeom>
          <a:noFill/>
          <a:ln/>
        </p:spPr>
        <p:txBody>
          <a:bodyPr wrap="square" rtlCol="0" anchor="ctr"/>
          <a:lstStyle/>
          <a:p>
            <a:pPr algn="ctr" indent="0" marL="0">
              <a:buNone/>
            </a:pPr>
            <a:r>
              <a:rPr lang="en-US" sz="3600" b="1" dirty="0">
                <a:solidFill>
                  <a:srgbClr val="F7C600"/>
                </a:solidFill>
                <a:latin typeface="Arial Black" pitchFamily="34" charset="0"/>
                <a:ea typeface="Arial Black" pitchFamily="34" charset="-122"/>
                <a:cs typeface="Arial Black" pitchFamily="34" charset="-120"/>
              </a:rPr>
              <a:t>7</a:t>
            </a:r>
            <a:endParaRPr lang="en-US" sz="3600" dirty="0"/>
          </a:p>
        </p:txBody>
      </p:sp>
      <p:sp>
        <p:nvSpPr>
          <p:cNvPr id="14" name="Text 12"/>
          <p:cNvSpPr/>
          <p:nvPr/>
        </p:nvSpPr>
        <p:spPr>
          <a:xfrm>
            <a:off x="777240" y="4251960"/>
            <a:ext cx="1828800" cy="365760"/>
          </a:xfrm>
          <a:prstGeom prst="rect">
            <a:avLst/>
          </a:prstGeom>
          <a:noFill/>
          <a:ln/>
        </p:spPr>
        <p:txBody>
          <a:bodyPr wrap="square" rtlCol="0" anchor="ctr"/>
          <a:lstStyle/>
          <a:p>
            <a:pPr algn="ctr" indent="0" marL="0">
              <a:buNone/>
            </a:pPr>
            <a:r>
              <a:rPr lang="en-US" sz="1100" dirty="0">
                <a:solidFill>
                  <a:srgbClr val="B0B0B0"/>
                </a:solidFill>
                <a:latin typeface="Calibri" pitchFamily="34" charset="0"/>
                <a:ea typeface="Calibri" pitchFamily="34" charset="-122"/>
                <a:cs typeface="Calibri" pitchFamily="34" charset="-120"/>
              </a:rPr>
              <a:t>Key Business Questions</a:t>
            </a:r>
            <a:endParaRPr lang="en-US" sz="1100" dirty="0"/>
          </a:p>
        </p:txBody>
      </p:sp>
      <p:sp>
        <p:nvSpPr>
          <p:cNvPr id="15" name="Text 13"/>
          <p:cNvSpPr/>
          <p:nvPr/>
        </p:nvSpPr>
        <p:spPr>
          <a:xfrm>
            <a:off x="2926080" y="3703320"/>
            <a:ext cx="1554480" cy="594360"/>
          </a:xfrm>
          <a:prstGeom prst="rect">
            <a:avLst/>
          </a:prstGeom>
          <a:noFill/>
          <a:ln/>
        </p:spPr>
        <p:txBody>
          <a:bodyPr wrap="square" rtlCol="0" anchor="ctr"/>
          <a:lstStyle/>
          <a:p>
            <a:pPr algn="ctr" indent="0" marL="0">
              <a:buNone/>
            </a:pPr>
            <a:r>
              <a:rPr lang="en-US" sz="3600" b="1" dirty="0">
                <a:solidFill>
                  <a:srgbClr val="F7C600"/>
                </a:solidFill>
                <a:latin typeface="Arial Black" pitchFamily="34" charset="0"/>
                <a:ea typeface="Arial Black" pitchFamily="34" charset="-122"/>
                <a:cs typeface="Arial Black" pitchFamily="34" charset="-120"/>
              </a:rPr>
              <a:t>5</a:t>
            </a:r>
            <a:endParaRPr lang="en-US" sz="3600" dirty="0"/>
          </a:p>
        </p:txBody>
      </p:sp>
      <p:sp>
        <p:nvSpPr>
          <p:cNvPr id="16" name="Text 14"/>
          <p:cNvSpPr/>
          <p:nvPr/>
        </p:nvSpPr>
        <p:spPr>
          <a:xfrm>
            <a:off x="2788920" y="4251960"/>
            <a:ext cx="1828800" cy="365760"/>
          </a:xfrm>
          <a:prstGeom prst="rect">
            <a:avLst/>
          </a:prstGeom>
          <a:noFill/>
          <a:ln/>
        </p:spPr>
        <p:txBody>
          <a:bodyPr wrap="square" rtlCol="0" anchor="ctr"/>
          <a:lstStyle/>
          <a:p>
            <a:pPr algn="ctr" indent="0" marL="0">
              <a:buNone/>
            </a:pPr>
            <a:r>
              <a:rPr lang="en-US" sz="1100" dirty="0">
                <a:solidFill>
                  <a:srgbClr val="B0B0B0"/>
                </a:solidFill>
                <a:latin typeface="Calibri" pitchFamily="34" charset="0"/>
                <a:ea typeface="Calibri" pitchFamily="34" charset="-122"/>
                <a:cs typeface="Calibri" pitchFamily="34" charset="-120"/>
              </a:rPr>
              <a:t>Operational Dimensions</a:t>
            </a:r>
            <a:endParaRPr lang="en-US" sz="1100" dirty="0"/>
          </a:p>
        </p:txBody>
      </p:sp>
      <p:sp>
        <p:nvSpPr>
          <p:cNvPr id="17" name="Text 15"/>
          <p:cNvSpPr/>
          <p:nvPr/>
        </p:nvSpPr>
        <p:spPr>
          <a:xfrm>
            <a:off x="4937760" y="3703320"/>
            <a:ext cx="1554480" cy="594360"/>
          </a:xfrm>
          <a:prstGeom prst="rect">
            <a:avLst/>
          </a:prstGeom>
          <a:noFill/>
          <a:ln/>
        </p:spPr>
        <p:txBody>
          <a:bodyPr wrap="square" rtlCol="0" anchor="ctr"/>
          <a:lstStyle/>
          <a:p>
            <a:pPr algn="ctr" indent="0" marL="0">
              <a:buNone/>
            </a:pPr>
            <a:r>
              <a:rPr lang="en-US" sz="3600" b="1" dirty="0">
                <a:solidFill>
                  <a:srgbClr val="F7C600"/>
                </a:solidFill>
                <a:latin typeface="Arial Black" pitchFamily="34" charset="0"/>
                <a:ea typeface="Arial Black" pitchFamily="34" charset="-122"/>
                <a:cs typeface="Arial Black" pitchFamily="34" charset="-120"/>
              </a:rPr>
              <a:t>3</a:t>
            </a:r>
            <a:endParaRPr lang="en-US" sz="3600" dirty="0"/>
          </a:p>
        </p:txBody>
      </p:sp>
      <p:sp>
        <p:nvSpPr>
          <p:cNvPr id="18" name="Text 16"/>
          <p:cNvSpPr/>
          <p:nvPr/>
        </p:nvSpPr>
        <p:spPr>
          <a:xfrm>
            <a:off x="4800600" y="4251960"/>
            <a:ext cx="1828800" cy="365760"/>
          </a:xfrm>
          <a:prstGeom prst="rect">
            <a:avLst/>
          </a:prstGeom>
          <a:noFill/>
          <a:ln/>
        </p:spPr>
        <p:txBody>
          <a:bodyPr wrap="square" rtlCol="0" anchor="ctr"/>
          <a:lstStyle/>
          <a:p>
            <a:pPr algn="ctr" indent="0" marL="0">
              <a:buNone/>
            </a:pPr>
            <a:r>
              <a:rPr lang="en-US" sz="1100" dirty="0">
                <a:solidFill>
                  <a:srgbClr val="B0B0B0"/>
                </a:solidFill>
                <a:latin typeface="Calibri" pitchFamily="34" charset="0"/>
                <a:ea typeface="Calibri" pitchFamily="34" charset="-122"/>
                <a:cs typeface="Calibri" pitchFamily="34" charset="-120"/>
              </a:rPr>
              <a:t>Vendor Benchmarks</a:t>
            </a:r>
            <a:endParaRPr lang="en-US" sz="1100" dirty="0"/>
          </a:p>
        </p:txBody>
      </p:sp>
      <p:sp>
        <p:nvSpPr>
          <p:cNvPr id="19" name="Text 17"/>
          <p:cNvSpPr/>
          <p:nvPr/>
        </p:nvSpPr>
        <p:spPr>
          <a:xfrm>
            <a:off x="6949440" y="3703320"/>
            <a:ext cx="1554480" cy="594360"/>
          </a:xfrm>
          <a:prstGeom prst="rect">
            <a:avLst/>
          </a:prstGeom>
          <a:noFill/>
          <a:ln/>
        </p:spPr>
        <p:txBody>
          <a:bodyPr wrap="square" rtlCol="0" anchor="ctr"/>
          <a:lstStyle/>
          <a:p>
            <a:pPr algn="ctr" indent="0" marL="0">
              <a:buNone/>
            </a:pPr>
            <a:r>
              <a:rPr lang="en-US" sz="3600" b="1" dirty="0">
                <a:solidFill>
                  <a:srgbClr val="F7C600"/>
                </a:solidFill>
                <a:latin typeface="Arial Black" pitchFamily="34" charset="0"/>
                <a:ea typeface="Arial Black" pitchFamily="34" charset="-122"/>
                <a:cs typeface="Arial Black" pitchFamily="34" charset="-120"/>
              </a:rPr>
              <a:t>1</a:t>
            </a:r>
            <a:endParaRPr lang="en-US" sz="3600" dirty="0"/>
          </a:p>
        </p:txBody>
      </p:sp>
      <p:sp>
        <p:nvSpPr>
          <p:cNvPr id="20" name="Text 18"/>
          <p:cNvSpPr/>
          <p:nvPr/>
        </p:nvSpPr>
        <p:spPr>
          <a:xfrm>
            <a:off x="6812280" y="4251960"/>
            <a:ext cx="1828800" cy="365760"/>
          </a:xfrm>
          <a:prstGeom prst="rect">
            <a:avLst/>
          </a:prstGeom>
          <a:noFill/>
          <a:ln/>
        </p:spPr>
        <p:txBody>
          <a:bodyPr wrap="square" rtlCol="0" anchor="ctr"/>
          <a:lstStyle/>
          <a:p>
            <a:pPr algn="ctr" indent="0" marL="0">
              <a:buNone/>
            </a:pPr>
            <a:r>
              <a:rPr lang="en-US" sz="1100" dirty="0">
                <a:solidFill>
                  <a:srgbClr val="B0B0B0"/>
                </a:solidFill>
                <a:latin typeface="Calibri" pitchFamily="34" charset="0"/>
                <a:ea typeface="Calibri" pitchFamily="34" charset="-122"/>
                <a:cs typeface="Calibri" pitchFamily="34" charset="-120"/>
              </a:rPr>
              <a:t>Interactive Dashboard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D2D2D"/>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7C600"/>
          </a:solidFill>
          <a:ln w="12700">
            <a:solidFill>
              <a:srgbClr val="F7C600"/>
            </a:solidFill>
            <a:prstDash val="solid"/>
          </a:ln>
        </p:spPr>
      </p:sp>
      <p:sp>
        <p:nvSpPr>
          <p:cNvPr id="3" name="Shape 1"/>
          <p:cNvSpPr/>
          <p:nvPr/>
        </p:nvSpPr>
        <p:spPr>
          <a:xfrm>
            <a:off x="0" y="5070348"/>
            <a:ext cx="9144000" cy="73152"/>
          </a:xfrm>
          <a:prstGeom prst="rect">
            <a:avLst/>
          </a:prstGeom>
          <a:solidFill>
            <a:srgbClr val="F7C600"/>
          </a:solidFill>
          <a:ln w="12700">
            <a:solidFill>
              <a:srgbClr val="F7C600"/>
            </a:solidFill>
            <a:prstDash val="solid"/>
          </a:ln>
        </p:spPr>
      </p:sp>
      <p:sp>
        <p:nvSpPr>
          <p:cNvPr id="4" name="Text 2"/>
          <p:cNvSpPr/>
          <p:nvPr/>
        </p:nvSpPr>
        <p:spPr>
          <a:xfrm>
            <a:off x="457200" y="182880"/>
            <a:ext cx="8229600" cy="640080"/>
          </a:xfrm>
          <a:prstGeom prst="rect">
            <a:avLst/>
          </a:prstGeom>
          <a:noFill/>
          <a:ln/>
        </p:spPr>
        <p:txBody>
          <a:bodyPr wrap="square" rtlCol="0" anchor="ctr"/>
          <a:lstStyle/>
          <a:p>
            <a:pPr indent="0" marL="0">
              <a:buNone/>
            </a:pPr>
            <a:r>
              <a:rPr lang="en-US" sz="2800" b="1" dirty="0">
                <a:solidFill>
                  <a:srgbClr val="F7C600"/>
                </a:solidFill>
                <a:latin typeface="Arial Black" pitchFamily="34" charset="0"/>
                <a:ea typeface="Arial Black" pitchFamily="34" charset="-122"/>
                <a:cs typeface="Arial Black" pitchFamily="34" charset="-120"/>
              </a:rPr>
              <a:t>Strategic Insights &amp; Recommendations</a:t>
            </a:r>
            <a:endParaRPr lang="en-US" sz="2800" dirty="0"/>
          </a:p>
        </p:txBody>
      </p:sp>
      <p:sp>
        <p:nvSpPr>
          <p:cNvPr id="5" name="Shape 3"/>
          <p:cNvSpPr/>
          <p:nvPr/>
        </p:nvSpPr>
        <p:spPr>
          <a:xfrm>
            <a:off x="365760" y="1097280"/>
            <a:ext cx="8412480" cy="868680"/>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6" name="Shape 4"/>
          <p:cNvSpPr/>
          <p:nvPr/>
        </p:nvSpPr>
        <p:spPr>
          <a:xfrm>
            <a:off x="365760" y="1097280"/>
            <a:ext cx="109728" cy="868680"/>
          </a:xfrm>
          <a:prstGeom prst="rect">
            <a:avLst/>
          </a:prstGeom>
          <a:solidFill>
            <a:srgbClr val="F7C600"/>
          </a:solidFill>
          <a:ln w="12700">
            <a:solidFill>
              <a:srgbClr val="F7C600"/>
            </a:solidFill>
            <a:prstDash val="solid"/>
          </a:ln>
        </p:spPr>
      </p:sp>
      <p:sp>
        <p:nvSpPr>
          <p:cNvPr id="7" name="Text 5"/>
          <p:cNvSpPr/>
          <p:nvPr/>
        </p:nvSpPr>
        <p:spPr>
          <a:xfrm>
            <a:off x="548640" y="1170432"/>
            <a:ext cx="594360" cy="59436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8" name="Text 6"/>
          <p:cNvSpPr/>
          <p:nvPr/>
        </p:nvSpPr>
        <p:spPr>
          <a:xfrm>
            <a:off x="1261872" y="1170432"/>
            <a:ext cx="3657600" cy="347472"/>
          </a:xfrm>
          <a:prstGeom prst="rect">
            <a:avLst/>
          </a:prstGeom>
          <a:noFill/>
          <a:ln/>
        </p:spPr>
        <p:txBody>
          <a:bodyPr wrap="square" rtlCol="0" anchor="ctr"/>
          <a:lstStyle/>
          <a:p>
            <a:pPr indent="0" marL="0">
              <a:buNone/>
            </a:pPr>
            <a:r>
              <a:rPr lang="en-US" sz="1300" b="1" dirty="0">
                <a:solidFill>
                  <a:srgbClr val="F7C600"/>
                </a:solidFill>
                <a:latin typeface="Arial Black" pitchFamily="34" charset="0"/>
                <a:ea typeface="Arial Black" pitchFamily="34" charset="-122"/>
                <a:cs typeface="Arial Black" pitchFamily="34" charset="-120"/>
              </a:rPr>
              <a:t>Demand &amp; Supply Synchronization</a:t>
            </a:r>
            <a:endParaRPr lang="en-US" sz="1300" dirty="0"/>
          </a:p>
        </p:txBody>
      </p:sp>
      <p:sp>
        <p:nvSpPr>
          <p:cNvPr id="9" name="Text 7"/>
          <p:cNvSpPr/>
          <p:nvPr/>
        </p:nvSpPr>
        <p:spPr>
          <a:xfrm>
            <a:off x="1261872" y="1517904"/>
            <a:ext cx="722376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Utilize predictive rebalancing and shift synchronization to align driver availability with historical peaks, reducing passenger abandonment and driver churn.</a:t>
            </a:r>
            <a:endParaRPr lang="en-US" sz="1100" dirty="0"/>
          </a:p>
        </p:txBody>
      </p:sp>
      <p:sp>
        <p:nvSpPr>
          <p:cNvPr id="10" name="Shape 8"/>
          <p:cNvSpPr/>
          <p:nvPr/>
        </p:nvSpPr>
        <p:spPr>
          <a:xfrm>
            <a:off x="365760" y="2084832"/>
            <a:ext cx="8412480" cy="868680"/>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11" name="Shape 9"/>
          <p:cNvSpPr/>
          <p:nvPr/>
        </p:nvSpPr>
        <p:spPr>
          <a:xfrm>
            <a:off x="365760" y="2084832"/>
            <a:ext cx="109728" cy="868680"/>
          </a:xfrm>
          <a:prstGeom prst="rect">
            <a:avLst/>
          </a:prstGeom>
          <a:solidFill>
            <a:srgbClr val="FF8C00"/>
          </a:solidFill>
          <a:ln w="12700">
            <a:solidFill>
              <a:srgbClr val="FF8C00"/>
            </a:solidFill>
            <a:prstDash val="solid"/>
          </a:ln>
        </p:spPr>
      </p:sp>
      <p:sp>
        <p:nvSpPr>
          <p:cNvPr id="12" name="Text 10"/>
          <p:cNvSpPr/>
          <p:nvPr/>
        </p:nvSpPr>
        <p:spPr>
          <a:xfrm>
            <a:off x="548640" y="2157984"/>
            <a:ext cx="594360" cy="59436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3" name="Text 11"/>
          <p:cNvSpPr/>
          <p:nvPr/>
        </p:nvSpPr>
        <p:spPr>
          <a:xfrm>
            <a:off x="1261872" y="2157984"/>
            <a:ext cx="3657600" cy="347472"/>
          </a:xfrm>
          <a:prstGeom prst="rect">
            <a:avLst/>
          </a:prstGeom>
          <a:noFill/>
          <a:ln/>
        </p:spPr>
        <p:txBody>
          <a:bodyPr wrap="square" rtlCol="0" anchor="ctr"/>
          <a:lstStyle/>
          <a:p>
            <a:pPr indent="0" marL="0">
              <a:buNone/>
            </a:pPr>
            <a:r>
              <a:rPr lang="en-US" sz="1300" b="1" dirty="0">
                <a:solidFill>
                  <a:srgbClr val="FF8C00"/>
                </a:solidFill>
                <a:latin typeface="Arial Black" pitchFamily="34" charset="0"/>
                <a:ea typeface="Arial Black" pitchFamily="34" charset="-122"/>
                <a:cs typeface="Arial Black" pitchFamily="34" charset="-120"/>
              </a:rPr>
              <a:t>Asset &amp; Margin Optimization</a:t>
            </a:r>
            <a:endParaRPr lang="en-US" sz="1300" dirty="0"/>
          </a:p>
        </p:txBody>
      </p:sp>
      <p:sp>
        <p:nvSpPr>
          <p:cNvPr id="14" name="Text 12"/>
          <p:cNvSpPr/>
          <p:nvPr/>
        </p:nvSpPr>
        <p:spPr>
          <a:xfrm>
            <a:off x="1261872" y="2505456"/>
            <a:ext cx="722376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Minimize unprofitable "deadhead" mileage and underutilized vehicle capacity through dynamic return-trip incentives and the introduction of shared-ride tiers.</a:t>
            </a:r>
            <a:endParaRPr lang="en-US" sz="1100" dirty="0"/>
          </a:p>
        </p:txBody>
      </p:sp>
      <p:sp>
        <p:nvSpPr>
          <p:cNvPr id="15" name="Shape 13"/>
          <p:cNvSpPr/>
          <p:nvPr/>
        </p:nvSpPr>
        <p:spPr>
          <a:xfrm>
            <a:off x="365760" y="3072384"/>
            <a:ext cx="8412480" cy="868680"/>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16" name="Shape 14"/>
          <p:cNvSpPr/>
          <p:nvPr/>
        </p:nvSpPr>
        <p:spPr>
          <a:xfrm>
            <a:off x="365760" y="3072384"/>
            <a:ext cx="109728" cy="868680"/>
          </a:xfrm>
          <a:prstGeom prst="rect">
            <a:avLst/>
          </a:prstGeom>
          <a:solidFill>
            <a:srgbClr val="00A8E8"/>
          </a:solidFill>
          <a:ln w="12700">
            <a:solidFill>
              <a:srgbClr val="00A8E8"/>
            </a:solidFill>
            <a:prstDash val="solid"/>
          </a:ln>
        </p:spPr>
      </p:sp>
      <p:sp>
        <p:nvSpPr>
          <p:cNvPr id="17" name="Text 15"/>
          <p:cNvSpPr/>
          <p:nvPr/>
        </p:nvSpPr>
        <p:spPr>
          <a:xfrm>
            <a:off x="548640" y="3145536"/>
            <a:ext cx="594360" cy="59436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1261872" y="3145536"/>
            <a:ext cx="3657600" cy="347472"/>
          </a:xfrm>
          <a:prstGeom prst="rect">
            <a:avLst/>
          </a:prstGeom>
          <a:noFill/>
          <a:ln/>
        </p:spPr>
        <p:txBody>
          <a:bodyPr wrap="square" rtlCol="0" anchor="ctr"/>
          <a:lstStyle/>
          <a:p>
            <a:pPr indent="0" marL="0">
              <a:buNone/>
            </a:pPr>
            <a:r>
              <a:rPr lang="en-US" sz="1300" b="1" dirty="0">
                <a:solidFill>
                  <a:srgbClr val="00A8E8"/>
                </a:solidFill>
                <a:latin typeface="Arial Black" pitchFamily="34" charset="0"/>
                <a:ea typeface="Arial Black" pitchFamily="34" charset="-122"/>
                <a:cs typeface="Arial Black" pitchFamily="34" charset="-120"/>
              </a:rPr>
              <a:t>Operational Velocity</a:t>
            </a:r>
            <a:endParaRPr lang="en-US" sz="1300" dirty="0"/>
          </a:p>
        </p:txBody>
      </p:sp>
      <p:sp>
        <p:nvSpPr>
          <p:cNvPr id="19" name="Text 17"/>
          <p:cNvSpPr/>
          <p:nvPr/>
        </p:nvSpPr>
        <p:spPr>
          <a:xfrm>
            <a:off x="1261872" y="3493008"/>
            <a:ext cx="722376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Increase the "trips-per-hour" metric by incentivizing digital payments to reduce transaction friction and standardizing high-performing vendor dispatch algorithms fleet-wide.</a:t>
            </a:r>
            <a:endParaRPr lang="en-US" sz="1100" dirty="0"/>
          </a:p>
        </p:txBody>
      </p:sp>
      <p:sp>
        <p:nvSpPr>
          <p:cNvPr id="20" name="Shape 18"/>
          <p:cNvSpPr/>
          <p:nvPr/>
        </p:nvSpPr>
        <p:spPr>
          <a:xfrm>
            <a:off x="365760" y="4059936"/>
            <a:ext cx="8412480" cy="868680"/>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21" name="Shape 19"/>
          <p:cNvSpPr/>
          <p:nvPr/>
        </p:nvSpPr>
        <p:spPr>
          <a:xfrm>
            <a:off x="365760" y="4059936"/>
            <a:ext cx="109728" cy="868680"/>
          </a:xfrm>
          <a:prstGeom prst="rect">
            <a:avLst/>
          </a:prstGeom>
          <a:solidFill>
            <a:srgbClr val="02C39A"/>
          </a:solidFill>
          <a:ln w="12700">
            <a:solidFill>
              <a:srgbClr val="02C39A"/>
            </a:solidFill>
            <a:prstDash val="solid"/>
          </a:ln>
        </p:spPr>
      </p:sp>
      <p:sp>
        <p:nvSpPr>
          <p:cNvPr id="22" name="Text 20"/>
          <p:cNvSpPr/>
          <p:nvPr/>
        </p:nvSpPr>
        <p:spPr>
          <a:xfrm>
            <a:off x="548640" y="4133088"/>
            <a:ext cx="594360" cy="59436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3" name="Text 21"/>
          <p:cNvSpPr/>
          <p:nvPr/>
        </p:nvSpPr>
        <p:spPr>
          <a:xfrm>
            <a:off x="1261872" y="4133088"/>
            <a:ext cx="3657600" cy="347472"/>
          </a:xfrm>
          <a:prstGeom prst="rect">
            <a:avLst/>
          </a:prstGeom>
          <a:noFill/>
          <a:ln/>
        </p:spPr>
        <p:txBody>
          <a:bodyPr wrap="square" rtlCol="0" anchor="ctr"/>
          <a:lstStyle/>
          <a:p>
            <a:pPr indent="0" marL="0">
              <a:buNone/>
            </a:pPr>
            <a:r>
              <a:rPr lang="en-US" sz="1300" b="1" dirty="0">
                <a:solidFill>
                  <a:srgbClr val="02C39A"/>
                </a:solidFill>
                <a:latin typeface="Arial Black" pitchFamily="34" charset="0"/>
                <a:ea typeface="Arial Black" pitchFamily="34" charset="-122"/>
                <a:cs typeface="Arial Black" pitchFamily="34" charset="-120"/>
              </a:rPr>
              <a:t>Revenue Protection</a:t>
            </a:r>
            <a:endParaRPr lang="en-US" sz="1300" dirty="0"/>
          </a:p>
        </p:txBody>
      </p:sp>
      <p:sp>
        <p:nvSpPr>
          <p:cNvPr id="24" name="Text 22"/>
          <p:cNvSpPr/>
          <p:nvPr/>
        </p:nvSpPr>
        <p:spPr>
          <a:xfrm>
            <a:off x="1261872" y="4480560"/>
            <a:ext cx="722376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Mitigate the impact of traffic bottlenecks on daily turnover by implementing congestion surcharges or strategic drop-off points near major transit hubs.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457200" cy="320040"/>
          </a:xfrm>
          <a:prstGeom prst="rect">
            <a:avLst/>
          </a:prstGeom>
          <a:solidFill>
            <a:srgbClr val="F7C600"/>
          </a:solidFill>
          <a:ln w="12700">
            <a:solidFill>
              <a:srgbClr val="F7C600"/>
            </a:solidFill>
            <a:prstDash val="solid"/>
          </a:ln>
        </p:spPr>
      </p:sp>
      <p:sp>
        <p:nvSpPr>
          <p:cNvPr id="3" name="Shape 1"/>
          <p:cNvSpPr/>
          <p:nvPr/>
        </p:nvSpPr>
        <p:spPr>
          <a:xfrm>
            <a:off x="0" y="4823460"/>
            <a:ext cx="457200" cy="320040"/>
          </a:xfrm>
          <a:prstGeom prst="rect">
            <a:avLst/>
          </a:prstGeom>
          <a:solidFill>
            <a:srgbClr val="1A1A1A"/>
          </a:solidFill>
          <a:ln w="12700">
            <a:solidFill>
              <a:srgbClr val="1A1A1A"/>
            </a:solidFill>
            <a:prstDash val="solid"/>
          </a:ln>
        </p:spPr>
      </p:sp>
      <p:sp>
        <p:nvSpPr>
          <p:cNvPr id="4" name="Shape 2"/>
          <p:cNvSpPr/>
          <p:nvPr/>
        </p:nvSpPr>
        <p:spPr>
          <a:xfrm>
            <a:off x="457200" y="0"/>
            <a:ext cx="457200" cy="320040"/>
          </a:xfrm>
          <a:prstGeom prst="rect">
            <a:avLst/>
          </a:prstGeom>
          <a:solidFill>
            <a:srgbClr val="1A1A1A"/>
          </a:solidFill>
          <a:ln w="12700">
            <a:solidFill>
              <a:srgbClr val="1A1A1A"/>
            </a:solidFill>
            <a:prstDash val="solid"/>
          </a:ln>
        </p:spPr>
      </p:sp>
      <p:sp>
        <p:nvSpPr>
          <p:cNvPr id="5" name="Shape 3"/>
          <p:cNvSpPr/>
          <p:nvPr/>
        </p:nvSpPr>
        <p:spPr>
          <a:xfrm>
            <a:off x="457200" y="4823460"/>
            <a:ext cx="457200" cy="320040"/>
          </a:xfrm>
          <a:prstGeom prst="rect">
            <a:avLst/>
          </a:prstGeom>
          <a:solidFill>
            <a:srgbClr val="F7C600"/>
          </a:solidFill>
          <a:ln w="12700">
            <a:solidFill>
              <a:srgbClr val="F7C600"/>
            </a:solidFill>
            <a:prstDash val="solid"/>
          </a:ln>
        </p:spPr>
      </p:sp>
      <p:sp>
        <p:nvSpPr>
          <p:cNvPr id="6" name="Shape 4"/>
          <p:cNvSpPr/>
          <p:nvPr/>
        </p:nvSpPr>
        <p:spPr>
          <a:xfrm>
            <a:off x="914400" y="0"/>
            <a:ext cx="457200" cy="320040"/>
          </a:xfrm>
          <a:prstGeom prst="rect">
            <a:avLst/>
          </a:prstGeom>
          <a:solidFill>
            <a:srgbClr val="F7C600"/>
          </a:solidFill>
          <a:ln w="12700">
            <a:solidFill>
              <a:srgbClr val="F7C600"/>
            </a:solidFill>
            <a:prstDash val="solid"/>
          </a:ln>
        </p:spPr>
      </p:sp>
      <p:sp>
        <p:nvSpPr>
          <p:cNvPr id="7" name="Shape 5"/>
          <p:cNvSpPr/>
          <p:nvPr/>
        </p:nvSpPr>
        <p:spPr>
          <a:xfrm>
            <a:off x="914400" y="4823460"/>
            <a:ext cx="457200" cy="320040"/>
          </a:xfrm>
          <a:prstGeom prst="rect">
            <a:avLst/>
          </a:prstGeom>
          <a:solidFill>
            <a:srgbClr val="1A1A1A"/>
          </a:solidFill>
          <a:ln w="12700">
            <a:solidFill>
              <a:srgbClr val="1A1A1A"/>
            </a:solidFill>
            <a:prstDash val="solid"/>
          </a:ln>
        </p:spPr>
      </p:sp>
      <p:sp>
        <p:nvSpPr>
          <p:cNvPr id="8" name="Shape 6"/>
          <p:cNvSpPr/>
          <p:nvPr/>
        </p:nvSpPr>
        <p:spPr>
          <a:xfrm>
            <a:off x="1371600" y="0"/>
            <a:ext cx="457200" cy="320040"/>
          </a:xfrm>
          <a:prstGeom prst="rect">
            <a:avLst/>
          </a:prstGeom>
          <a:solidFill>
            <a:srgbClr val="1A1A1A"/>
          </a:solidFill>
          <a:ln w="12700">
            <a:solidFill>
              <a:srgbClr val="1A1A1A"/>
            </a:solidFill>
            <a:prstDash val="solid"/>
          </a:ln>
        </p:spPr>
      </p:sp>
      <p:sp>
        <p:nvSpPr>
          <p:cNvPr id="9" name="Shape 7"/>
          <p:cNvSpPr/>
          <p:nvPr/>
        </p:nvSpPr>
        <p:spPr>
          <a:xfrm>
            <a:off x="1371600" y="4823460"/>
            <a:ext cx="457200" cy="320040"/>
          </a:xfrm>
          <a:prstGeom prst="rect">
            <a:avLst/>
          </a:prstGeom>
          <a:solidFill>
            <a:srgbClr val="F7C600"/>
          </a:solidFill>
          <a:ln w="12700">
            <a:solidFill>
              <a:srgbClr val="F7C600"/>
            </a:solidFill>
            <a:prstDash val="solid"/>
          </a:ln>
        </p:spPr>
      </p:sp>
      <p:sp>
        <p:nvSpPr>
          <p:cNvPr id="10" name="Shape 8"/>
          <p:cNvSpPr/>
          <p:nvPr/>
        </p:nvSpPr>
        <p:spPr>
          <a:xfrm>
            <a:off x="1828800" y="0"/>
            <a:ext cx="457200" cy="320040"/>
          </a:xfrm>
          <a:prstGeom prst="rect">
            <a:avLst/>
          </a:prstGeom>
          <a:solidFill>
            <a:srgbClr val="F7C600"/>
          </a:solidFill>
          <a:ln w="12700">
            <a:solidFill>
              <a:srgbClr val="F7C600"/>
            </a:solidFill>
            <a:prstDash val="solid"/>
          </a:ln>
        </p:spPr>
      </p:sp>
      <p:sp>
        <p:nvSpPr>
          <p:cNvPr id="11" name="Shape 9"/>
          <p:cNvSpPr/>
          <p:nvPr/>
        </p:nvSpPr>
        <p:spPr>
          <a:xfrm>
            <a:off x="1828800" y="4823460"/>
            <a:ext cx="457200" cy="320040"/>
          </a:xfrm>
          <a:prstGeom prst="rect">
            <a:avLst/>
          </a:prstGeom>
          <a:solidFill>
            <a:srgbClr val="1A1A1A"/>
          </a:solidFill>
          <a:ln w="12700">
            <a:solidFill>
              <a:srgbClr val="1A1A1A"/>
            </a:solidFill>
            <a:prstDash val="solid"/>
          </a:ln>
        </p:spPr>
      </p:sp>
      <p:sp>
        <p:nvSpPr>
          <p:cNvPr id="12" name="Shape 10"/>
          <p:cNvSpPr/>
          <p:nvPr/>
        </p:nvSpPr>
        <p:spPr>
          <a:xfrm>
            <a:off x="2286000" y="0"/>
            <a:ext cx="457200" cy="320040"/>
          </a:xfrm>
          <a:prstGeom prst="rect">
            <a:avLst/>
          </a:prstGeom>
          <a:solidFill>
            <a:srgbClr val="1A1A1A"/>
          </a:solidFill>
          <a:ln w="12700">
            <a:solidFill>
              <a:srgbClr val="1A1A1A"/>
            </a:solidFill>
            <a:prstDash val="solid"/>
          </a:ln>
        </p:spPr>
      </p:sp>
      <p:sp>
        <p:nvSpPr>
          <p:cNvPr id="13" name="Shape 11"/>
          <p:cNvSpPr/>
          <p:nvPr/>
        </p:nvSpPr>
        <p:spPr>
          <a:xfrm>
            <a:off x="2286000" y="4823460"/>
            <a:ext cx="457200" cy="320040"/>
          </a:xfrm>
          <a:prstGeom prst="rect">
            <a:avLst/>
          </a:prstGeom>
          <a:solidFill>
            <a:srgbClr val="F7C600"/>
          </a:solidFill>
          <a:ln w="12700">
            <a:solidFill>
              <a:srgbClr val="F7C600"/>
            </a:solidFill>
            <a:prstDash val="solid"/>
          </a:ln>
        </p:spPr>
      </p:sp>
      <p:sp>
        <p:nvSpPr>
          <p:cNvPr id="14" name="Shape 12"/>
          <p:cNvSpPr/>
          <p:nvPr/>
        </p:nvSpPr>
        <p:spPr>
          <a:xfrm>
            <a:off x="2743200" y="0"/>
            <a:ext cx="457200" cy="320040"/>
          </a:xfrm>
          <a:prstGeom prst="rect">
            <a:avLst/>
          </a:prstGeom>
          <a:solidFill>
            <a:srgbClr val="F7C600"/>
          </a:solidFill>
          <a:ln w="12700">
            <a:solidFill>
              <a:srgbClr val="F7C600"/>
            </a:solidFill>
            <a:prstDash val="solid"/>
          </a:ln>
        </p:spPr>
      </p:sp>
      <p:sp>
        <p:nvSpPr>
          <p:cNvPr id="15" name="Shape 13"/>
          <p:cNvSpPr/>
          <p:nvPr/>
        </p:nvSpPr>
        <p:spPr>
          <a:xfrm>
            <a:off x="2743200" y="4823460"/>
            <a:ext cx="457200" cy="320040"/>
          </a:xfrm>
          <a:prstGeom prst="rect">
            <a:avLst/>
          </a:prstGeom>
          <a:solidFill>
            <a:srgbClr val="1A1A1A"/>
          </a:solidFill>
          <a:ln w="12700">
            <a:solidFill>
              <a:srgbClr val="1A1A1A"/>
            </a:solidFill>
            <a:prstDash val="solid"/>
          </a:ln>
        </p:spPr>
      </p:sp>
      <p:sp>
        <p:nvSpPr>
          <p:cNvPr id="16" name="Shape 14"/>
          <p:cNvSpPr/>
          <p:nvPr/>
        </p:nvSpPr>
        <p:spPr>
          <a:xfrm>
            <a:off x="3200400" y="0"/>
            <a:ext cx="457200" cy="320040"/>
          </a:xfrm>
          <a:prstGeom prst="rect">
            <a:avLst/>
          </a:prstGeom>
          <a:solidFill>
            <a:srgbClr val="1A1A1A"/>
          </a:solidFill>
          <a:ln w="12700">
            <a:solidFill>
              <a:srgbClr val="1A1A1A"/>
            </a:solidFill>
            <a:prstDash val="solid"/>
          </a:ln>
        </p:spPr>
      </p:sp>
      <p:sp>
        <p:nvSpPr>
          <p:cNvPr id="17" name="Shape 15"/>
          <p:cNvSpPr/>
          <p:nvPr/>
        </p:nvSpPr>
        <p:spPr>
          <a:xfrm>
            <a:off x="3200400" y="4823460"/>
            <a:ext cx="457200" cy="320040"/>
          </a:xfrm>
          <a:prstGeom prst="rect">
            <a:avLst/>
          </a:prstGeom>
          <a:solidFill>
            <a:srgbClr val="F7C600"/>
          </a:solidFill>
          <a:ln w="12700">
            <a:solidFill>
              <a:srgbClr val="F7C600"/>
            </a:solidFill>
            <a:prstDash val="solid"/>
          </a:ln>
        </p:spPr>
      </p:sp>
      <p:sp>
        <p:nvSpPr>
          <p:cNvPr id="18" name="Shape 16"/>
          <p:cNvSpPr/>
          <p:nvPr/>
        </p:nvSpPr>
        <p:spPr>
          <a:xfrm>
            <a:off x="3657600" y="0"/>
            <a:ext cx="457200" cy="320040"/>
          </a:xfrm>
          <a:prstGeom prst="rect">
            <a:avLst/>
          </a:prstGeom>
          <a:solidFill>
            <a:srgbClr val="F7C600"/>
          </a:solidFill>
          <a:ln w="12700">
            <a:solidFill>
              <a:srgbClr val="F7C600"/>
            </a:solidFill>
            <a:prstDash val="solid"/>
          </a:ln>
        </p:spPr>
      </p:sp>
      <p:sp>
        <p:nvSpPr>
          <p:cNvPr id="19" name="Shape 17"/>
          <p:cNvSpPr/>
          <p:nvPr/>
        </p:nvSpPr>
        <p:spPr>
          <a:xfrm>
            <a:off x="3657600" y="4823460"/>
            <a:ext cx="457200" cy="320040"/>
          </a:xfrm>
          <a:prstGeom prst="rect">
            <a:avLst/>
          </a:prstGeom>
          <a:solidFill>
            <a:srgbClr val="1A1A1A"/>
          </a:solidFill>
          <a:ln w="12700">
            <a:solidFill>
              <a:srgbClr val="1A1A1A"/>
            </a:solidFill>
            <a:prstDash val="solid"/>
          </a:ln>
        </p:spPr>
      </p:sp>
      <p:sp>
        <p:nvSpPr>
          <p:cNvPr id="20" name="Shape 18"/>
          <p:cNvSpPr/>
          <p:nvPr/>
        </p:nvSpPr>
        <p:spPr>
          <a:xfrm>
            <a:off x="4114800" y="0"/>
            <a:ext cx="457200" cy="320040"/>
          </a:xfrm>
          <a:prstGeom prst="rect">
            <a:avLst/>
          </a:prstGeom>
          <a:solidFill>
            <a:srgbClr val="1A1A1A"/>
          </a:solidFill>
          <a:ln w="12700">
            <a:solidFill>
              <a:srgbClr val="1A1A1A"/>
            </a:solidFill>
            <a:prstDash val="solid"/>
          </a:ln>
        </p:spPr>
      </p:sp>
      <p:sp>
        <p:nvSpPr>
          <p:cNvPr id="21" name="Shape 19"/>
          <p:cNvSpPr/>
          <p:nvPr/>
        </p:nvSpPr>
        <p:spPr>
          <a:xfrm>
            <a:off x="4114800" y="4823460"/>
            <a:ext cx="457200" cy="320040"/>
          </a:xfrm>
          <a:prstGeom prst="rect">
            <a:avLst/>
          </a:prstGeom>
          <a:solidFill>
            <a:srgbClr val="F7C600"/>
          </a:solidFill>
          <a:ln w="12700">
            <a:solidFill>
              <a:srgbClr val="F7C600"/>
            </a:solidFill>
            <a:prstDash val="solid"/>
          </a:ln>
        </p:spPr>
      </p:sp>
      <p:sp>
        <p:nvSpPr>
          <p:cNvPr id="22" name="Shape 20"/>
          <p:cNvSpPr/>
          <p:nvPr/>
        </p:nvSpPr>
        <p:spPr>
          <a:xfrm>
            <a:off x="4572000" y="0"/>
            <a:ext cx="457200" cy="320040"/>
          </a:xfrm>
          <a:prstGeom prst="rect">
            <a:avLst/>
          </a:prstGeom>
          <a:solidFill>
            <a:srgbClr val="F7C600"/>
          </a:solidFill>
          <a:ln w="12700">
            <a:solidFill>
              <a:srgbClr val="F7C600"/>
            </a:solidFill>
            <a:prstDash val="solid"/>
          </a:ln>
        </p:spPr>
      </p:sp>
      <p:sp>
        <p:nvSpPr>
          <p:cNvPr id="23" name="Shape 21"/>
          <p:cNvSpPr/>
          <p:nvPr/>
        </p:nvSpPr>
        <p:spPr>
          <a:xfrm>
            <a:off x="4572000" y="4823460"/>
            <a:ext cx="457200" cy="320040"/>
          </a:xfrm>
          <a:prstGeom prst="rect">
            <a:avLst/>
          </a:prstGeom>
          <a:solidFill>
            <a:srgbClr val="1A1A1A"/>
          </a:solidFill>
          <a:ln w="12700">
            <a:solidFill>
              <a:srgbClr val="1A1A1A"/>
            </a:solidFill>
            <a:prstDash val="solid"/>
          </a:ln>
        </p:spPr>
      </p:sp>
      <p:sp>
        <p:nvSpPr>
          <p:cNvPr id="24" name="Shape 22"/>
          <p:cNvSpPr/>
          <p:nvPr/>
        </p:nvSpPr>
        <p:spPr>
          <a:xfrm>
            <a:off x="5029200" y="0"/>
            <a:ext cx="457200" cy="320040"/>
          </a:xfrm>
          <a:prstGeom prst="rect">
            <a:avLst/>
          </a:prstGeom>
          <a:solidFill>
            <a:srgbClr val="1A1A1A"/>
          </a:solidFill>
          <a:ln w="12700">
            <a:solidFill>
              <a:srgbClr val="1A1A1A"/>
            </a:solidFill>
            <a:prstDash val="solid"/>
          </a:ln>
        </p:spPr>
      </p:sp>
      <p:sp>
        <p:nvSpPr>
          <p:cNvPr id="25" name="Shape 23"/>
          <p:cNvSpPr/>
          <p:nvPr/>
        </p:nvSpPr>
        <p:spPr>
          <a:xfrm>
            <a:off x="5029200" y="4823460"/>
            <a:ext cx="457200" cy="320040"/>
          </a:xfrm>
          <a:prstGeom prst="rect">
            <a:avLst/>
          </a:prstGeom>
          <a:solidFill>
            <a:srgbClr val="F7C600"/>
          </a:solidFill>
          <a:ln w="12700">
            <a:solidFill>
              <a:srgbClr val="F7C600"/>
            </a:solidFill>
            <a:prstDash val="solid"/>
          </a:ln>
        </p:spPr>
      </p:sp>
      <p:sp>
        <p:nvSpPr>
          <p:cNvPr id="26" name="Shape 24"/>
          <p:cNvSpPr/>
          <p:nvPr/>
        </p:nvSpPr>
        <p:spPr>
          <a:xfrm>
            <a:off x="5486400" y="0"/>
            <a:ext cx="457200" cy="320040"/>
          </a:xfrm>
          <a:prstGeom prst="rect">
            <a:avLst/>
          </a:prstGeom>
          <a:solidFill>
            <a:srgbClr val="F7C600"/>
          </a:solidFill>
          <a:ln w="12700">
            <a:solidFill>
              <a:srgbClr val="F7C600"/>
            </a:solidFill>
            <a:prstDash val="solid"/>
          </a:ln>
        </p:spPr>
      </p:sp>
      <p:sp>
        <p:nvSpPr>
          <p:cNvPr id="27" name="Shape 25"/>
          <p:cNvSpPr/>
          <p:nvPr/>
        </p:nvSpPr>
        <p:spPr>
          <a:xfrm>
            <a:off x="5486400" y="4823460"/>
            <a:ext cx="457200" cy="320040"/>
          </a:xfrm>
          <a:prstGeom prst="rect">
            <a:avLst/>
          </a:prstGeom>
          <a:solidFill>
            <a:srgbClr val="1A1A1A"/>
          </a:solidFill>
          <a:ln w="12700">
            <a:solidFill>
              <a:srgbClr val="1A1A1A"/>
            </a:solidFill>
            <a:prstDash val="solid"/>
          </a:ln>
        </p:spPr>
      </p:sp>
      <p:sp>
        <p:nvSpPr>
          <p:cNvPr id="28" name="Shape 26"/>
          <p:cNvSpPr/>
          <p:nvPr/>
        </p:nvSpPr>
        <p:spPr>
          <a:xfrm>
            <a:off x="5943600" y="0"/>
            <a:ext cx="457200" cy="320040"/>
          </a:xfrm>
          <a:prstGeom prst="rect">
            <a:avLst/>
          </a:prstGeom>
          <a:solidFill>
            <a:srgbClr val="1A1A1A"/>
          </a:solidFill>
          <a:ln w="12700">
            <a:solidFill>
              <a:srgbClr val="1A1A1A"/>
            </a:solidFill>
            <a:prstDash val="solid"/>
          </a:ln>
        </p:spPr>
      </p:sp>
      <p:sp>
        <p:nvSpPr>
          <p:cNvPr id="29" name="Shape 27"/>
          <p:cNvSpPr/>
          <p:nvPr/>
        </p:nvSpPr>
        <p:spPr>
          <a:xfrm>
            <a:off x="5943600" y="4823460"/>
            <a:ext cx="457200" cy="320040"/>
          </a:xfrm>
          <a:prstGeom prst="rect">
            <a:avLst/>
          </a:prstGeom>
          <a:solidFill>
            <a:srgbClr val="F7C600"/>
          </a:solidFill>
          <a:ln w="12700">
            <a:solidFill>
              <a:srgbClr val="F7C600"/>
            </a:solidFill>
            <a:prstDash val="solid"/>
          </a:ln>
        </p:spPr>
      </p:sp>
      <p:sp>
        <p:nvSpPr>
          <p:cNvPr id="30" name="Shape 28"/>
          <p:cNvSpPr/>
          <p:nvPr/>
        </p:nvSpPr>
        <p:spPr>
          <a:xfrm>
            <a:off x="6400800" y="0"/>
            <a:ext cx="457200" cy="320040"/>
          </a:xfrm>
          <a:prstGeom prst="rect">
            <a:avLst/>
          </a:prstGeom>
          <a:solidFill>
            <a:srgbClr val="F7C600"/>
          </a:solidFill>
          <a:ln w="12700">
            <a:solidFill>
              <a:srgbClr val="F7C600"/>
            </a:solidFill>
            <a:prstDash val="solid"/>
          </a:ln>
        </p:spPr>
      </p:sp>
      <p:sp>
        <p:nvSpPr>
          <p:cNvPr id="31" name="Shape 29"/>
          <p:cNvSpPr/>
          <p:nvPr/>
        </p:nvSpPr>
        <p:spPr>
          <a:xfrm>
            <a:off x="6400800" y="4823460"/>
            <a:ext cx="457200" cy="320040"/>
          </a:xfrm>
          <a:prstGeom prst="rect">
            <a:avLst/>
          </a:prstGeom>
          <a:solidFill>
            <a:srgbClr val="1A1A1A"/>
          </a:solidFill>
          <a:ln w="12700">
            <a:solidFill>
              <a:srgbClr val="1A1A1A"/>
            </a:solidFill>
            <a:prstDash val="solid"/>
          </a:ln>
        </p:spPr>
      </p:sp>
      <p:sp>
        <p:nvSpPr>
          <p:cNvPr id="32" name="Shape 30"/>
          <p:cNvSpPr/>
          <p:nvPr/>
        </p:nvSpPr>
        <p:spPr>
          <a:xfrm>
            <a:off x="6858000" y="0"/>
            <a:ext cx="457200" cy="320040"/>
          </a:xfrm>
          <a:prstGeom prst="rect">
            <a:avLst/>
          </a:prstGeom>
          <a:solidFill>
            <a:srgbClr val="1A1A1A"/>
          </a:solidFill>
          <a:ln w="12700">
            <a:solidFill>
              <a:srgbClr val="1A1A1A"/>
            </a:solidFill>
            <a:prstDash val="solid"/>
          </a:ln>
        </p:spPr>
      </p:sp>
      <p:sp>
        <p:nvSpPr>
          <p:cNvPr id="33" name="Shape 31"/>
          <p:cNvSpPr/>
          <p:nvPr/>
        </p:nvSpPr>
        <p:spPr>
          <a:xfrm>
            <a:off x="6858000" y="4823460"/>
            <a:ext cx="457200" cy="320040"/>
          </a:xfrm>
          <a:prstGeom prst="rect">
            <a:avLst/>
          </a:prstGeom>
          <a:solidFill>
            <a:srgbClr val="F7C600"/>
          </a:solidFill>
          <a:ln w="12700">
            <a:solidFill>
              <a:srgbClr val="F7C600"/>
            </a:solidFill>
            <a:prstDash val="solid"/>
          </a:ln>
        </p:spPr>
      </p:sp>
      <p:sp>
        <p:nvSpPr>
          <p:cNvPr id="34" name="Shape 32"/>
          <p:cNvSpPr/>
          <p:nvPr/>
        </p:nvSpPr>
        <p:spPr>
          <a:xfrm>
            <a:off x="7315200" y="0"/>
            <a:ext cx="457200" cy="320040"/>
          </a:xfrm>
          <a:prstGeom prst="rect">
            <a:avLst/>
          </a:prstGeom>
          <a:solidFill>
            <a:srgbClr val="F7C600"/>
          </a:solidFill>
          <a:ln w="12700">
            <a:solidFill>
              <a:srgbClr val="F7C600"/>
            </a:solidFill>
            <a:prstDash val="solid"/>
          </a:ln>
        </p:spPr>
      </p:sp>
      <p:sp>
        <p:nvSpPr>
          <p:cNvPr id="35" name="Shape 33"/>
          <p:cNvSpPr/>
          <p:nvPr/>
        </p:nvSpPr>
        <p:spPr>
          <a:xfrm>
            <a:off x="7315200" y="4823460"/>
            <a:ext cx="457200" cy="320040"/>
          </a:xfrm>
          <a:prstGeom prst="rect">
            <a:avLst/>
          </a:prstGeom>
          <a:solidFill>
            <a:srgbClr val="1A1A1A"/>
          </a:solidFill>
          <a:ln w="12700">
            <a:solidFill>
              <a:srgbClr val="1A1A1A"/>
            </a:solidFill>
            <a:prstDash val="solid"/>
          </a:ln>
        </p:spPr>
      </p:sp>
      <p:sp>
        <p:nvSpPr>
          <p:cNvPr id="36" name="Shape 34"/>
          <p:cNvSpPr/>
          <p:nvPr/>
        </p:nvSpPr>
        <p:spPr>
          <a:xfrm>
            <a:off x="7772400" y="0"/>
            <a:ext cx="457200" cy="320040"/>
          </a:xfrm>
          <a:prstGeom prst="rect">
            <a:avLst/>
          </a:prstGeom>
          <a:solidFill>
            <a:srgbClr val="1A1A1A"/>
          </a:solidFill>
          <a:ln w="12700">
            <a:solidFill>
              <a:srgbClr val="1A1A1A"/>
            </a:solidFill>
            <a:prstDash val="solid"/>
          </a:ln>
        </p:spPr>
      </p:sp>
      <p:sp>
        <p:nvSpPr>
          <p:cNvPr id="37" name="Shape 35"/>
          <p:cNvSpPr/>
          <p:nvPr/>
        </p:nvSpPr>
        <p:spPr>
          <a:xfrm>
            <a:off x="7772400" y="4823460"/>
            <a:ext cx="457200" cy="320040"/>
          </a:xfrm>
          <a:prstGeom prst="rect">
            <a:avLst/>
          </a:prstGeom>
          <a:solidFill>
            <a:srgbClr val="F7C600"/>
          </a:solidFill>
          <a:ln w="12700">
            <a:solidFill>
              <a:srgbClr val="F7C600"/>
            </a:solidFill>
            <a:prstDash val="solid"/>
          </a:ln>
        </p:spPr>
      </p:sp>
      <p:sp>
        <p:nvSpPr>
          <p:cNvPr id="38" name="Shape 36"/>
          <p:cNvSpPr/>
          <p:nvPr/>
        </p:nvSpPr>
        <p:spPr>
          <a:xfrm>
            <a:off x="8229600" y="0"/>
            <a:ext cx="457200" cy="320040"/>
          </a:xfrm>
          <a:prstGeom prst="rect">
            <a:avLst/>
          </a:prstGeom>
          <a:solidFill>
            <a:srgbClr val="F7C600"/>
          </a:solidFill>
          <a:ln w="12700">
            <a:solidFill>
              <a:srgbClr val="F7C600"/>
            </a:solidFill>
            <a:prstDash val="solid"/>
          </a:ln>
        </p:spPr>
      </p:sp>
      <p:sp>
        <p:nvSpPr>
          <p:cNvPr id="39" name="Shape 37"/>
          <p:cNvSpPr/>
          <p:nvPr/>
        </p:nvSpPr>
        <p:spPr>
          <a:xfrm>
            <a:off x="8229600" y="4823460"/>
            <a:ext cx="457200" cy="320040"/>
          </a:xfrm>
          <a:prstGeom prst="rect">
            <a:avLst/>
          </a:prstGeom>
          <a:solidFill>
            <a:srgbClr val="1A1A1A"/>
          </a:solidFill>
          <a:ln w="12700">
            <a:solidFill>
              <a:srgbClr val="1A1A1A"/>
            </a:solidFill>
            <a:prstDash val="solid"/>
          </a:ln>
        </p:spPr>
      </p:sp>
      <p:sp>
        <p:nvSpPr>
          <p:cNvPr id="40" name="Shape 38"/>
          <p:cNvSpPr/>
          <p:nvPr/>
        </p:nvSpPr>
        <p:spPr>
          <a:xfrm>
            <a:off x="8686800" y="0"/>
            <a:ext cx="457200" cy="320040"/>
          </a:xfrm>
          <a:prstGeom prst="rect">
            <a:avLst/>
          </a:prstGeom>
          <a:solidFill>
            <a:srgbClr val="1A1A1A"/>
          </a:solidFill>
          <a:ln w="12700">
            <a:solidFill>
              <a:srgbClr val="1A1A1A"/>
            </a:solidFill>
            <a:prstDash val="solid"/>
          </a:ln>
        </p:spPr>
      </p:sp>
      <p:sp>
        <p:nvSpPr>
          <p:cNvPr id="41" name="Shape 39"/>
          <p:cNvSpPr/>
          <p:nvPr/>
        </p:nvSpPr>
        <p:spPr>
          <a:xfrm>
            <a:off x="8686800" y="4823460"/>
            <a:ext cx="457200" cy="320040"/>
          </a:xfrm>
          <a:prstGeom prst="rect">
            <a:avLst/>
          </a:prstGeom>
          <a:solidFill>
            <a:srgbClr val="F7C600"/>
          </a:solidFill>
          <a:ln w="12700">
            <a:solidFill>
              <a:srgbClr val="F7C600"/>
            </a:solidFill>
            <a:prstDash val="solid"/>
          </a:ln>
        </p:spPr>
      </p:sp>
      <p:sp>
        <p:nvSpPr>
          <p:cNvPr id="42" name="Text 40"/>
          <p:cNvSpPr/>
          <p:nvPr/>
        </p:nvSpPr>
        <p:spPr>
          <a:xfrm>
            <a:off x="457200" y="411480"/>
            <a:ext cx="8229600" cy="640080"/>
          </a:xfrm>
          <a:prstGeom prst="rect">
            <a:avLst/>
          </a:prstGeom>
          <a:noFill/>
          <a:ln/>
        </p:spPr>
        <p:txBody>
          <a:bodyPr wrap="square" rtlCol="0" anchor="ctr"/>
          <a:lstStyle/>
          <a:p>
            <a:pPr algn="ctr" indent="0" marL="0">
              <a:buNone/>
            </a:pPr>
            <a:r>
              <a:rPr lang="en-US" sz="3600" b="1" dirty="0">
                <a:solidFill>
                  <a:srgbClr val="F7C600"/>
                </a:solidFill>
                <a:latin typeface="Arial Black" pitchFamily="34" charset="0"/>
                <a:ea typeface="Arial Black" pitchFamily="34" charset="-122"/>
                <a:cs typeface="Arial Black" pitchFamily="34" charset="-120"/>
              </a:rPr>
              <a:t>Conclusion</a:t>
            </a:r>
            <a:endParaRPr lang="en-US" sz="3600" dirty="0"/>
          </a:p>
        </p:txBody>
      </p:sp>
      <p:sp>
        <p:nvSpPr>
          <p:cNvPr id="43" name="Shape 41"/>
          <p:cNvSpPr/>
          <p:nvPr/>
        </p:nvSpPr>
        <p:spPr>
          <a:xfrm>
            <a:off x="457200" y="1097280"/>
            <a:ext cx="8229600" cy="2377440"/>
          </a:xfrm>
          <a:prstGeom prst="rect">
            <a:avLst/>
          </a:prstGeom>
          <a:solidFill>
            <a:srgbClr val="1E1E1E"/>
          </a:solidFill>
          <a:ln w="12700">
            <a:solidFill>
              <a:srgbClr val="1E1E1E"/>
            </a:solidFill>
            <a:prstDash val="solid"/>
          </a:ln>
          <a:effectLst>
            <a:outerShdw sx="100000" sy="100000" kx="0" ky="0" algn="bl" rotWithShape="0" blurRad="101600" dist="38100" dir="8100000">
              <a:srgbClr val="000000">
                <a:alpha val="30000"/>
              </a:srgbClr>
            </a:outerShdw>
          </a:effectLst>
        </p:spPr>
      </p:sp>
      <p:sp>
        <p:nvSpPr>
          <p:cNvPr id="44" name="Shape 42"/>
          <p:cNvSpPr/>
          <p:nvPr/>
        </p:nvSpPr>
        <p:spPr>
          <a:xfrm>
            <a:off x="457200" y="1097280"/>
            <a:ext cx="8229600" cy="64008"/>
          </a:xfrm>
          <a:prstGeom prst="rect">
            <a:avLst/>
          </a:prstGeom>
          <a:solidFill>
            <a:srgbClr val="F7C600"/>
          </a:solidFill>
          <a:ln w="12700">
            <a:solidFill>
              <a:srgbClr val="F7C600"/>
            </a:solidFill>
            <a:prstDash val="solid"/>
          </a:ln>
        </p:spPr>
      </p:sp>
      <p:sp>
        <p:nvSpPr>
          <p:cNvPr id="45" name="Text 43"/>
          <p:cNvSpPr/>
          <p:nvPr/>
        </p:nvSpPr>
        <p:spPr>
          <a:xfrm>
            <a:off x="640080" y="1234440"/>
            <a:ext cx="7863840" cy="2103120"/>
          </a:xfrm>
          <a:prstGeom prst="rect">
            <a:avLst/>
          </a:prstGeom>
          <a:noFill/>
          <a:ln/>
        </p:spPr>
        <p:txBody>
          <a:bodyPr wrap="square" rtlCol="0" anchor="ctr"/>
          <a:lstStyle/>
          <a:p>
            <a:pPr algn="ctr" indent="0" marL="0">
              <a:buNone/>
            </a:pPr>
            <a:r>
              <a:rPr lang="en-US" sz="1350" dirty="0">
                <a:solidFill>
                  <a:srgbClr val="FFFFFF"/>
                </a:solidFill>
                <a:latin typeface="Calibri Light" pitchFamily="34" charset="0"/>
                <a:ea typeface="Calibri Light" pitchFamily="34" charset="-122"/>
                <a:cs typeface="Calibri Light" pitchFamily="34" charset="-120"/>
              </a:rPr>
              <a:t>This project used business intelligence and data modeling to address inefficiencies in New York City's taxi system. By transforming over 50,000 trip records into actionable insights, we identified demand patterns, key revenue areas, and operational challenges.</a:t>
            </a:r>
            <a:endParaRPr lang="en-US" sz="1350" dirty="0"/>
          </a:p>
          <a:p>
            <a:pPr algn="ctr" indent="0" marL="0">
              <a:buNone/>
            </a:pPr>
            <a:endParaRPr lang="en-US" sz="1350" dirty="0"/>
          </a:p>
          <a:p>
            <a:pPr algn="ctr" indent="0" marL="0">
              <a:buNone/>
            </a:pPr>
            <a:r>
              <a:rPr lang="en-US" sz="1350" dirty="0">
                <a:solidFill>
                  <a:srgbClr val="FFFFFF"/>
                </a:solidFill>
                <a:latin typeface="Calibri Light" pitchFamily="34" charset="0"/>
                <a:ea typeface="Calibri Light" pitchFamily="34" charset="-122"/>
                <a:cs typeface="Calibri Light" pitchFamily="34" charset="-120"/>
              </a:rPr>
              <a:t>The findings informed strategies to optimize fleet allocation, reduce wait times, and increase driver revenue. An interactive Power BI dashboard supports real-time, data-driven decision-making — successfully achieving the goal of smarter urban mobility.</a:t>
            </a:r>
            <a:endParaRPr lang="en-US" sz="1350" dirty="0"/>
          </a:p>
        </p:txBody>
      </p:sp>
      <p:sp>
        <p:nvSpPr>
          <p:cNvPr id="46" name="Shape 44"/>
          <p:cNvSpPr/>
          <p:nvPr/>
        </p:nvSpPr>
        <p:spPr>
          <a:xfrm>
            <a:off x="457200" y="3657600"/>
            <a:ext cx="1920240" cy="548640"/>
          </a:xfrm>
          <a:prstGeom prst="rect">
            <a:avLst/>
          </a:prstGeom>
          <a:solidFill>
            <a:srgbClr val="F7C600"/>
          </a:solidFill>
          <a:ln w="12700">
            <a:solidFill>
              <a:srgbClr val="F7C600"/>
            </a:solidFill>
            <a:prstDash val="solid"/>
          </a:ln>
        </p:spPr>
      </p:sp>
      <p:sp>
        <p:nvSpPr>
          <p:cNvPr id="47" name="Text 45"/>
          <p:cNvSpPr/>
          <p:nvPr/>
        </p:nvSpPr>
        <p:spPr>
          <a:xfrm>
            <a:off x="457200" y="3657600"/>
            <a:ext cx="1920240" cy="548640"/>
          </a:xfrm>
          <a:prstGeom prst="rect">
            <a:avLst/>
          </a:prstGeom>
          <a:noFill/>
          <a:ln/>
        </p:spPr>
        <p:txBody>
          <a:bodyPr wrap="square" rtlCol="0" anchor="ctr"/>
          <a:lstStyle/>
          <a:p>
            <a:pPr algn="ctr" indent="0" marL="0">
              <a:buNone/>
            </a:pPr>
            <a:r>
              <a:rPr lang="en-US" sz="1000" b="1" dirty="0">
                <a:solidFill>
                  <a:srgbClr val="1A1A1A"/>
                </a:solidFill>
                <a:latin typeface="Arial Black" pitchFamily="34" charset="0"/>
                <a:ea typeface="Arial Black" pitchFamily="34" charset="-122"/>
                <a:cs typeface="Arial Black" pitchFamily="34" charset="-120"/>
              </a:rPr>
              <a:t>50,000+ Records Analyzed</a:t>
            </a:r>
            <a:endParaRPr lang="en-US" sz="1000" dirty="0"/>
          </a:p>
        </p:txBody>
      </p:sp>
      <p:sp>
        <p:nvSpPr>
          <p:cNvPr id="48" name="Shape 46"/>
          <p:cNvSpPr/>
          <p:nvPr/>
        </p:nvSpPr>
        <p:spPr>
          <a:xfrm>
            <a:off x="2542032" y="3657600"/>
            <a:ext cx="1920240" cy="548640"/>
          </a:xfrm>
          <a:prstGeom prst="rect">
            <a:avLst/>
          </a:prstGeom>
          <a:solidFill>
            <a:srgbClr val="F7C600"/>
          </a:solidFill>
          <a:ln w="12700">
            <a:solidFill>
              <a:srgbClr val="F7C600"/>
            </a:solidFill>
            <a:prstDash val="solid"/>
          </a:ln>
        </p:spPr>
      </p:sp>
      <p:sp>
        <p:nvSpPr>
          <p:cNvPr id="49" name="Text 47"/>
          <p:cNvSpPr/>
          <p:nvPr/>
        </p:nvSpPr>
        <p:spPr>
          <a:xfrm>
            <a:off x="2542032" y="3657600"/>
            <a:ext cx="1920240" cy="548640"/>
          </a:xfrm>
          <a:prstGeom prst="rect">
            <a:avLst/>
          </a:prstGeom>
          <a:noFill/>
          <a:ln/>
        </p:spPr>
        <p:txBody>
          <a:bodyPr wrap="square" rtlCol="0" anchor="ctr"/>
          <a:lstStyle/>
          <a:p>
            <a:pPr algn="ctr" indent="0" marL="0">
              <a:buNone/>
            </a:pPr>
            <a:r>
              <a:rPr lang="en-US" sz="1000" b="1" dirty="0">
                <a:solidFill>
                  <a:srgbClr val="1A1A1A"/>
                </a:solidFill>
                <a:latin typeface="Arial Black" pitchFamily="34" charset="0"/>
                <a:ea typeface="Arial Black" pitchFamily="34" charset="-122"/>
                <a:cs typeface="Arial Black" pitchFamily="34" charset="-120"/>
              </a:rPr>
              <a:t>Star Schema Deployed</a:t>
            </a:r>
            <a:endParaRPr lang="en-US" sz="1000" dirty="0"/>
          </a:p>
        </p:txBody>
      </p:sp>
      <p:sp>
        <p:nvSpPr>
          <p:cNvPr id="50" name="Shape 48"/>
          <p:cNvSpPr/>
          <p:nvPr/>
        </p:nvSpPr>
        <p:spPr>
          <a:xfrm>
            <a:off x="4626864" y="3657600"/>
            <a:ext cx="1920240" cy="548640"/>
          </a:xfrm>
          <a:prstGeom prst="rect">
            <a:avLst/>
          </a:prstGeom>
          <a:solidFill>
            <a:srgbClr val="F7C600"/>
          </a:solidFill>
          <a:ln w="12700">
            <a:solidFill>
              <a:srgbClr val="F7C600"/>
            </a:solidFill>
            <a:prstDash val="solid"/>
          </a:ln>
        </p:spPr>
      </p:sp>
      <p:sp>
        <p:nvSpPr>
          <p:cNvPr id="51" name="Text 49"/>
          <p:cNvSpPr/>
          <p:nvPr/>
        </p:nvSpPr>
        <p:spPr>
          <a:xfrm>
            <a:off x="4626864" y="3657600"/>
            <a:ext cx="1920240" cy="548640"/>
          </a:xfrm>
          <a:prstGeom prst="rect">
            <a:avLst/>
          </a:prstGeom>
          <a:noFill/>
          <a:ln/>
        </p:spPr>
        <p:txBody>
          <a:bodyPr wrap="square" rtlCol="0" anchor="ctr"/>
          <a:lstStyle/>
          <a:p>
            <a:pPr algn="ctr" indent="0" marL="0">
              <a:buNone/>
            </a:pPr>
            <a:r>
              <a:rPr lang="en-US" sz="1000" b="1" dirty="0">
                <a:solidFill>
                  <a:srgbClr val="1A1A1A"/>
                </a:solidFill>
                <a:latin typeface="Arial Black" pitchFamily="34" charset="0"/>
                <a:ea typeface="Arial Black" pitchFamily="34" charset="-122"/>
                <a:cs typeface="Arial Black" pitchFamily="34" charset="-120"/>
              </a:rPr>
              <a:t>Power BI Dashboard Live</a:t>
            </a:r>
            <a:endParaRPr lang="en-US" sz="1000" dirty="0"/>
          </a:p>
        </p:txBody>
      </p:sp>
      <p:sp>
        <p:nvSpPr>
          <p:cNvPr id="52" name="Shape 50"/>
          <p:cNvSpPr/>
          <p:nvPr/>
        </p:nvSpPr>
        <p:spPr>
          <a:xfrm>
            <a:off x="6711696" y="3657600"/>
            <a:ext cx="1920240" cy="548640"/>
          </a:xfrm>
          <a:prstGeom prst="rect">
            <a:avLst/>
          </a:prstGeom>
          <a:solidFill>
            <a:srgbClr val="F7C600"/>
          </a:solidFill>
          <a:ln w="12700">
            <a:solidFill>
              <a:srgbClr val="F7C600"/>
            </a:solidFill>
            <a:prstDash val="solid"/>
          </a:ln>
        </p:spPr>
      </p:sp>
      <p:sp>
        <p:nvSpPr>
          <p:cNvPr id="53" name="Text 51"/>
          <p:cNvSpPr/>
          <p:nvPr/>
        </p:nvSpPr>
        <p:spPr>
          <a:xfrm>
            <a:off x="6711696" y="3657600"/>
            <a:ext cx="1920240" cy="548640"/>
          </a:xfrm>
          <a:prstGeom prst="rect">
            <a:avLst/>
          </a:prstGeom>
          <a:noFill/>
          <a:ln/>
        </p:spPr>
        <p:txBody>
          <a:bodyPr wrap="square" rtlCol="0" anchor="ctr"/>
          <a:lstStyle/>
          <a:p>
            <a:pPr algn="ctr" indent="0" marL="0">
              <a:buNone/>
            </a:pPr>
            <a:r>
              <a:rPr lang="en-US" sz="1000" b="1" dirty="0">
                <a:solidFill>
                  <a:srgbClr val="1A1A1A"/>
                </a:solidFill>
                <a:latin typeface="Arial Black" pitchFamily="34" charset="0"/>
                <a:ea typeface="Arial Black" pitchFamily="34" charset="-122"/>
                <a:cs typeface="Arial Black" pitchFamily="34" charset="-120"/>
              </a:rPr>
              <a:t>Smarter Urban Mobility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D2D2D"/>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7C600"/>
          </a:solidFill>
          <a:ln w="12700">
            <a:solidFill>
              <a:srgbClr val="F7C600"/>
            </a:solidFill>
            <a:prstDash val="solid"/>
          </a:ln>
        </p:spPr>
      </p:sp>
      <p:sp>
        <p:nvSpPr>
          <p:cNvPr id="3" name="Shape 1"/>
          <p:cNvSpPr/>
          <p:nvPr/>
        </p:nvSpPr>
        <p:spPr>
          <a:xfrm>
            <a:off x="0" y="5070348"/>
            <a:ext cx="9144000" cy="73152"/>
          </a:xfrm>
          <a:prstGeom prst="rect">
            <a:avLst/>
          </a:prstGeom>
          <a:solidFill>
            <a:srgbClr val="F7C600"/>
          </a:solidFill>
          <a:ln w="12700">
            <a:solidFill>
              <a:srgbClr val="F7C600"/>
            </a:solidFill>
            <a:prstDash val="solid"/>
          </a:ln>
        </p:spPr>
      </p:sp>
      <p:sp>
        <p:nvSpPr>
          <p:cNvPr id="4" name="Text 2"/>
          <p:cNvSpPr/>
          <p:nvPr/>
        </p:nvSpPr>
        <p:spPr>
          <a:xfrm>
            <a:off x="457200" y="182880"/>
            <a:ext cx="8229600" cy="640080"/>
          </a:xfrm>
          <a:prstGeom prst="rect">
            <a:avLst/>
          </a:prstGeom>
          <a:noFill/>
          <a:ln/>
        </p:spPr>
        <p:txBody>
          <a:bodyPr wrap="square" rtlCol="0" anchor="ctr"/>
          <a:lstStyle/>
          <a:p>
            <a:pPr indent="0" marL="0">
              <a:buNone/>
            </a:pPr>
            <a:r>
              <a:rPr lang="en-US" sz="2800" b="1" dirty="0">
                <a:solidFill>
                  <a:srgbClr val="F7C600"/>
                </a:solidFill>
                <a:latin typeface="Arial Black" pitchFamily="34" charset="0"/>
                <a:ea typeface="Arial Black" pitchFamily="34" charset="-122"/>
                <a:cs typeface="Arial Black" pitchFamily="34" charset="-120"/>
              </a:rPr>
              <a:t>References</a:t>
            </a:r>
            <a:endParaRPr lang="en-US" sz="2800" dirty="0"/>
          </a:p>
        </p:txBody>
      </p:sp>
      <p:sp>
        <p:nvSpPr>
          <p:cNvPr id="5" name="Shape 3"/>
          <p:cNvSpPr/>
          <p:nvPr/>
        </p:nvSpPr>
        <p:spPr>
          <a:xfrm>
            <a:off x="457200" y="1097280"/>
            <a:ext cx="8138160" cy="1371600"/>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6" name="Shape 4"/>
          <p:cNvSpPr/>
          <p:nvPr/>
        </p:nvSpPr>
        <p:spPr>
          <a:xfrm>
            <a:off x="457200" y="1097280"/>
            <a:ext cx="8138160" cy="64008"/>
          </a:xfrm>
          <a:prstGeom prst="rect">
            <a:avLst/>
          </a:prstGeom>
          <a:solidFill>
            <a:srgbClr val="F7C600"/>
          </a:solidFill>
          <a:ln w="12700">
            <a:solidFill>
              <a:srgbClr val="F7C600"/>
            </a:solidFill>
            <a:prstDash val="solid"/>
          </a:ln>
        </p:spPr>
      </p:sp>
      <p:sp>
        <p:nvSpPr>
          <p:cNvPr id="7" name="Text 5"/>
          <p:cNvSpPr/>
          <p:nvPr/>
        </p:nvSpPr>
        <p:spPr>
          <a:xfrm>
            <a:off x="640080" y="1207008"/>
            <a:ext cx="7772400" cy="347472"/>
          </a:xfrm>
          <a:prstGeom prst="rect">
            <a:avLst/>
          </a:prstGeom>
          <a:noFill/>
          <a:ln/>
        </p:spPr>
        <p:txBody>
          <a:bodyPr wrap="square" rtlCol="0" anchor="ctr"/>
          <a:lstStyle/>
          <a:p>
            <a:pPr indent="0" marL="0">
              <a:buNone/>
            </a:pPr>
            <a:r>
              <a:rPr lang="en-US" sz="1400" b="1" dirty="0">
                <a:solidFill>
                  <a:srgbClr val="F7C600"/>
                </a:solidFill>
                <a:latin typeface="Arial Black" pitchFamily="34" charset="0"/>
                <a:ea typeface="Arial Black" pitchFamily="34" charset="-122"/>
                <a:cs typeface="Arial Black" pitchFamily="34" charset="-120"/>
              </a:rPr>
              <a:t>Dataset</a:t>
            </a:r>
            <a:endParaRPr lang="en-US" sz="1400" dirty="0"/>
          </a:p>
        </p:txBody>
      </p:sp>
      <p:sp>
        <p:nvSpPr>
          <p:cNvPr id="8" name="Text 6"/>
          <p:cNvSpPr/>
          <p:nvPr/>
        </p:nvSpPr>
        <p:spPr>
          <a:xfrm>
            <a:off x="640080" y="1572768"/>
            <a:ext cx="7772400" cy="32004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NYC Taxi Trip Duration Dataset</a:t>
            </a:r>
            <a:endParaRPr lang="en-US" sz="1250" dirty="0"/>
          </a:p>
        </p:txBody>
      </p:sp>
      <p:sp>
        <p:nvSpPr>
          <p:cNvPr id="9" name="Text 7"/>
          <p:cNvSpPr/>
          <p:nvPr/>
        </p:nvSpPr>
        <p:spPr>
          <a:xfrm>
            <a:off x="640080" y="1892808"/>
            <a:ext cx="7772400" cy="274320"/>
          </a:xfrm>
          <a:prstGeom prst="rect">
            <a:avLst/>
          </a:prstGeom>
          <a:noFill/>
          <a:ln/>
        </p:spPr>
        <p:txBody>
          <a:bodyPr wrap="square" rtlCol="0" anchor="ctr"/>
          <a:lstStyle/>
          <a:p>
            <a:pPr indent="0" marL="0">
              <a:buNone/>
            </a:pPr>
            <a:r>
              <a:rPr lang="en-US" sz="1100" i="1" dirty="0">
                <a:solidFill>
                  <a:srgbClr val="00A8E8"/>
                </a:solidFill>
                <a:latin typeface="Calibri" pitchFamily="34" charset="0"/>
                <a:ea typeface="Calibri" pitchFamily="34" charset="-122"/>
                <a:cs typeface="Calibri" pitchFamily="34" charset="-120"/>
              </a:rPr>
              <a:t>https://www.kaggle.com/datasets/competitions/nyc-taxi-trip-duration/data</a:t>
            </a:r>
            <a:endParaRPr lang="en-US" sz="1100" dirty="0"/>
          </a:p>
        </p:txBody>
      </p:sp>
      <p:sp>
        <p:nvSpPr>
          <p:cNvPr id="10" name="Shape 8"/>
          <p:cNvSpPr/>
          <p:nvPr/>
        </p:nvSpPr>
        <p:spPr>
          <a:xfrm>
            <a:off x="457200" y="2651760"/>
            <a:ext cx="8138160" cy="1371600"/>
          </a:xfrm>
          <a:prstGeom prst="rect">
            <a:avLst/>
          </a:prstGeom>
          <a:solidFill>
            <a:srgbClr val="2A2A2A"/>
          </a:solidFill>
          <a:ln w="12700">
            <a:solidFill>
              <a:srgbClr val="2A2A2A"/>
            </a:solidFill>
            <a:prstDash val="solid"/>
          </a:ln>
          <a:effectLst>
            <a:outerShdw sx="100000" sy="100000" kx="0" ky="0" algn="bl" rotWithShape="0" blurRad="101600" dist="38100" dir="8100000">
              <a:srgbClr val="000000">
                <a:alpha val="30000"/>
              </a:srgbClr>
            </a:outerShdw>
          </a:effectLst>
        </p:spPr>
      </p:sp>
      <p:sp>
        <p:nvSpPr>
          <p:cNvPr id="11" name="Shape 9"/>
          <p:cNvSpPr/>
          <p:nvPr/>
        </p:nvSpPr>
        <p:spPr>
          <a:xfrm>
            <a:off x="457200" y="2651760"/>
            <a:ext cx="8138160" cy="64008"/>
          </a:xfrm>
          <a:prstGeom prst="rect">
            <a:avLst/>
          </a:prstGeom>
          <a:solidFill>
            <a:srgbClr val="00A8E8"/>
          </a:solidFill>
          <a:ln w="12700">
            <a:solidFill>
              <a:srgbClr val="00A8E8"/>
            </a:solidFill>
            <a:prstDash val="solid"/>
          </a:ln>
        </p:spPr>
      </p:sp>
      <p:sp>
        <p:nvSpPr>
          <p:cNvPr id="12" name="Text 10"/>
          <p:cNvSpPr/>
          <p:nvPr/>
        </p:nvSpPr>
        <p:spPr>
          <a:xfrm>
            <a:off x="640080" y="2761488"/>
            <a:ext cx="7772400" cy="347472"/>
          </a:xfrm>
          <a:prstGeom prst="rect">
            <a:avLst/>
          </a:prstGeom>
          <a:noFill/>
          <a:ln/>
        </p:spPr>
        <p:txBody>
          <a:bodyPr wrap="square" rtlCol="0" anchor="ctr"/>
          <a:lstStyle/>
          <a:p>
            <a:pPr indent="0" marL="0">
              <a:buNone/>
            </a:pPr>
            <a:r>
              <a:rPr lang="en-US" sz="1400" b="1" dirty="0">
                <a:solidFill>
                  <a:srgbClr val="00A8E8"/>
                </a:solidFill>
                <a:latin typeface="Arial Black" pitchFamily="34" charset="0"/>
                <a:ea typeface="Arial Black" pitchFamily="34" charset="-122"/>
                <a:cs typeface="Arial Black" pitchFamily="34" charset="-120"/>
              </a:rPr>
              <a:t>Power BI Dashboard</a:t>
            </a:r>
            <a:endParaRPr lang="en-US" sz="1400" dirty="0"/>
          </a:p>
        </p:txBody>
      </p:sp>
      <p:sp>
        <p:nvSpPr>
          <p:cNvPr id="13" name="Text 11"/>
          <p:cNvSpPr/>
          <p:nvPr/>
        </p:nvSpPr>
        <p:spPr>
          <a:xfrm>
            <a:off x="640080" y="3127248"/>
            <a:ext cx="7772400" cy="32004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Interactive Dashboard — NYC Taxi Trip Duration Analysis</a:t>
            </a:r>
            <a:endParaRPr lang="en-US" sz="1250" dirty="0"/>
          </a:p>
        </p:txBody>
      </p:sp>
      <p:sp>
        <p:nvSpPr>
          <p:cNvPr id="14" name="Text 12"/>
          <p:cNvSpPr/>
          <p:nvPr/>
        </p:nvSpPr>
        <p:spPr>
          <a:xfrm>
            <a:off x="640080" y="3447288"/>
            <a:ext cx="7772400" cy="274320"/>
          </a:xfrm>
          <a:prstGeom prst="rect">
            <a:avLst/>
          </a:prstGeom>
          <a:noFill/>
          <a:ln/>
        </p:spPr>
        <p:txBody>
          <a:bodyPr wrap="square" rtlCol="0" anchor="ctr"/>
          <a:lstStyle/>
          <a:p>
            <a:pPr indent="0" marL="0">
              <a:buNone/>
            </a:pPr>
            <a:r>
              <a:rPr lang="en-US" sz="1000" i="1" dirty="0">
                <a:solidFill>
                  <a:srgbClr val="00A8E8"/>
                </a:solidFill>
                <a:latin typeface="Calibri" pitchFamily="34" charset="0"/>
                <a:ea typeface="Calibri" pitchFamily="34" charset="-122"/>
                <a:cs typeface="Calibri" pitchFamily="34" charset="-120"/>
              </a:rPr>
              <a:t>https://app.powerbi.com/groups/me/reports/f9382bb8-35cc-4344-aace-fb1207f068c9/40a24eb88e3a7afbd37a?experience=power-bi</a:t>
            </a:r>
            <a:endParaRPr lang="en-US" sz="1000" dirty="0"/>
          </a:p>
        </p:txBody>
      </p:sp>
      <p:sp>
        <p:nvSpPr>
          <p:cNvPr id="15" name="Text 13"/>
          <p:cNvSpPr/>
          <p:nvPr/>
        </p:nvSpPr>
        <p:spPr>
          <a:xfrm>
            <a:off x="457200" y="4297680"/>
            <a:ext cx="8229600" cy="502920"/>
          </a:xfrm>
          <a:prstGeom prst="rect">
            <a:avLst/>
          </a:prstGeom>
          <a:noFill/>
          <a:ln/>
        </p:spPr>
        <p:txBody>
          <a:bodyPr wrap="square" rtlCol="0" anchor="ctr"/>
          <a:lstStyle/>
          <a:p>
            <a:pPr algn="ctr" indent="0" marL="0">
              <a:buNone/>
            </a:pPr>
            <a:r>
              <a:rPr lang="en-US" sz="1000" i="1" dirty="0">
                <a:solidFill>
                  <a:srgbClr val="B0B0B0"/>
                </a:solidFill>
                <a:latin typeface="Calibri" pitchFamily="34" charset="0"/>
                <a:ea typeface="Calibri" pitchFamily="34" charset="-122"/>
                <a:cs typeface="Calibri" pitchFamily="34" charset="-120"/>
              </a:rPr>
              <a:t>DSA3050A — Business Intelligence &amp; Data Visualization  |  Team: Tanveer Omar, Mohamed Mohamed, Mitchel Muthaura, Calvin Gacheru, Claire Mwarari, Lavender Nchagwa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NYC Taxi BI Analysis</dc:title>
  <dc:subject>PptxGenJS Presentation</dc:subject>
  <dc:creator>PptxGenJS</dc:creator>
  <cp:lastModifiedBy>PptxGenJS</cp:lastModifiedBy>
  <cp:revision>1</cp:revision>
  <dcterms:created xsi:type="dcterms:W3CDTF">2026-04-08T09:54:56Z</dcterms:created>
  <dcterms:modified xsi:type="dcterms:W3CDTF">2026-04-08T09:54:56Z</dcterms:modified>
</cp:coreProperties>
</file>